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345" y="5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尊敬的各位评委老师，大家好！今天我们带来的项目是“智愈寻真”，一个致力于重塑医学教育的AI教研协同平台。我们的愿景是，通过人工智能技术，为每一位医学生配备一位24小时在线的顶级临床导师，彻底解决传统医学教育中“练得少、不敢练”的核心痛点，推动医学教育从知识灌输向临床胜任力培养的范式转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本次路演将围绕六个核心部分展开。首先，我们将深入剖析当前医学教育面临的严峻挑战与AI技术带来的巨大机遇。接着，详细介绍我们的产品服务和三大核心创新点。之后，我们会分析广阔的市场前景和清晰的商业模式。最后，展示我们医工交叉的顶配团队以及项目的未来发展蓝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首先，让我们进入第一部分，深入探讨我们项目诞生的背景——当前医学教育面临的痛点，以及AI技术如何为我们提供了前所未有的时代机遇。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当前，医学教育正面临三大核心痛点。对于学生而言，真人标准化病人成本高昂、组织困难，导致他们临床实践机会严重不足。对于教师，繁重的病历批改工作占用了大量宝贵时间，且难以进行精准的个性化指导。而对于教学管理者，由于缺乏过程数据，教学改革往往缺乏科学依据。这些痛点共同导致了传统医学教育模式的瓶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幸运的是，技术的浪潮为我们带来了破局的钥匙。以大模型和多模态技术为代表的AI技术，使得构建一个高度仿真、可无限次重复的虚拟病房成为可能。更关键的是，RAG技术的应用，让我们能够打造一个“不说谎”的AI导师，它的每一个建议都能溯源至权威教材，彻底解决了AI在医疗领域应用的最大顾虑——“幻觉”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“智愈寻真”平台，并非简单的医学题库，而是一个赋能“教、学、管”全流程的AI解决方案。对学生，我们提供沉浸式的AI虚拟病房，让他们在安全的环境中反复练习问诊和决策。对教师，我们提供AI超级助教，将他们从繁重的批改工作中解放出来。对管理者，我们提供数据大脑，让教学管理变得更加科学、精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我们的核心创新在于实现了“严谨、启发、降本”的完美平衡。理念上，我们首次将“卫生经济学”和“人文关怀”融入AI训练，培养更全面的医生。技术上，我们独创的RAG教材级溯源技术，确保了AI的回答绝对严谨，有据可查。模式上，我们从传统的“静态分支”升级为“动态博弈”，让AI病人能像真人一样思考和反馈，实现真正的启发式教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一个好的项目，不仅要有技术创新，更要具备广阔的市场前景和清晰的商业模式。接下来，我们将分析项目的市场潜力和盈利路径。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我们正处在一个巨大的蓝海市场。全国有超过500所医学院校和上千个规培基地，构成了我们庞大的目标客群。据统计，2025年中国医学教育信息化市场规模已接近500亿元。同时，国家大力推进“虚拟仿真金课”建设，为我们提供了强有力的政策支持和充足的高校采购预算。这是一个政策红利下的刚需赛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与市场上的现有方案相比，我们实现了降维打击。相较于真人SP，我们的成本降低90%以上，并能提供无限次、全天候的训练。相较于传统虚仿软件，我们实现了真正的动态交互，而非僵化的脚本。相较于通用大模型，我们杜绝了致命的“幻觉”问题，确保了医学教学的严谨性和安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我们的商业模式清晰且可持续。我们以SaaS订阅服务作为核心现金流，通过私有化部署获取高价值订单，并通过联合申报课题实现资源变现。我们的核心壁垒在于强大的数据飞轮效应和不断增厚的内容生态。学生用得越多，我们的AI就越智能，平台价值就越高，从而构筑起坚实的护城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展望未来，我们规划了清晰的三步走战略。首先，通过打磨核心产品，在头部院校打造标杆案例。然后，横向拓展学科，纵向打通医学人才的全生命周期教育。最终，我们希望沉淀海量临床思维数据，向基层医疗机构赋能，成为中国医学AI的基础设施。我们的愿景，是响应“健康中国”战略，弥合城乡教育差距，为国家培养更多卓越的创新医学人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我的介绍到此结束。智愈寻真，我们致力于探寻医学教育的数智未来。感谢各位评委老师的聆听，敬请批评指正！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C5C5C">
                <a:alpha val="100000"/>
              </a:srgbClr>
            </a:gs>
            <a:gs pos="67000">
              <a:srgbClr val="020202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10800000" flipV="1">
            <a:off x="-12700" y="-1130300"/>
            <a:ext cx="14097000" cy="792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20202">
              <a:alpha val="6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-1638300" y="-469900"/>
            <a:ext cx="8013700" cy="801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1689100" y="-393700"/>
            <a:ext cx="7696200" cy="810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565400" y="0"/>
            <a:ext cx="6858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6637413" y="3701861"/>
            <a:ext cx="5292573" cy="4319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新医科“教</a:t>
            </a:r>
            <a:r>
              <a:rPr lang="en-US" sz="2000" b="1" i="0" u="none" strike="noStrike" dirty="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-学-</a:t>
            </a:r>
            <a:r>
              <a:rPr lang="en-US" sz="2000" b="1" i="0" u="none" strike="noStrike" dirty="0" err="1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管”三位一体AI教研协同平台</a:t>
            </a:r>
            <a:endParaRPr lang="en-US" sz="1050" dirty="0"/>
          </a:p>
        </p:txBody>
      </p:sp>
      <p:sp>
        <p:nvSpPr>
          <p:cNvPr id="8" name="AutoShape 8"/>
          <p:cNvSpPr/>
          <p:nvPr/>
        </p:nvSpPr>
        <p:spPr>
          <a:xfrm>
            <a:off x="9512463" y="6381845"/>
            <a:ext cx="2515416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微软雅黑"/>
              </a:rPr>
              <a:t>高教主赛道</a:t>
            </a:r>
            <a:r>
              <a:rPr lang="en-US" sz="1200" b="0" i="0" u="none" strike="noStrike" dirty="0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微软雅黑"/>
              </a:rPr>
              <a:t> / </a:t>
            </a:r>
            <a:r>
              <a:rPr lang="en-US" sz="1200" b="0" i="0" u="none" strike="noStrike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微软雅黑"/>
              </a:rPr>
              <a:t>新医科创新实践项目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114709" y="2222500"/>
            <a:ext cx="4534582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7200" b="1" i="0" u="none" strike="noStrike" spc="300" dirty="0" err="1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智愈寻真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388100" y="4699000"/>
            <a:ext cx="4318000" cy="419100"/>
          </a:xfrm>
          <a:prstGeom prst="roundRect">
            <a:avLst>
              <a:gd name="adj" fmla="val 51515"/>
            </a:avLst>
          </a:prstGeom>
          <a:solidFill>
            <a:srgbClr val="191919">
              <a:alpha val="100000"/>
            </a:srgbClr>
          </a:solidFill>
          <a:ln w="12700" cap="flat" cmpd="sng">
            <a:solidFill>
              <a:srgbClr val="FCFCFC">
                <a:alpha val="34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 rot="-2700000">
            <a:off x="10275903" y="4764103"/>
            <a:ext cx="249521" cy="328303"/>
          </a:xfrm>
          <a:custGeom>
            <a:avLst/>
            <a:gdLst/>
            <a:ahLst/>
            <a:cxnLst/>
            <a:rect l="l" t="t" r="r" b="b"/>
            <a:pathLst>
              <a:path w="249521" h="328303">
                <a:moveTo>
                  <a:pt x="188784" y="60735"/>
                </a:moveTo>
                <a:cubicBezTo>
                  <a:pt x="153425" y="25376"/>
                  <a:pt x="96096" y="25376"/>
                  <a:pt x="60735" y="60735"/>
                </a:cubicBezTo>
                <a:cubicBezTo>
                  <a:pt x="25376" y="96096"/>
                  <a:pt x="25376" y="153425"/>
                  <a:pt x="60735" y="188784"/>
                </a:cubicBezTo>
                <a:cubicBezTo>
                  <a:pt x="96096" y="224143"/>
                  <a:pt x="153425" y="224143"/>
                  <a:pt x="188784" y="188784"/>
                </a:cubicBezTo>
                <a:cubicBezTo>
                  <a:pt x="224143" y="153425"/>
                  <a:pt x="224143" y="96096"/>
                  <a:pt x="188784" y="60735"/>
                </a:cubicBezTo>
                <a:close/>
                <a:moveTo>
                  <a:pt x="205131" y="44388"/>
                </a:moveTo>
                <a:cubicBezTo>
                  <a:pt x="249520" y="88777"/>
                  <a:pt x="249520" y="160744"/>
                  <a:pt x="205131" y="205131"/>
                </a:cubicBezTo>
                <a:cubicBezTo>
                  <a:pt x="188487" y="221777"/>
                  <a:pt x="167962" y="232181"/>
                  <a:pt x="146469" y="236342"/>
                </a:cubicBezTo>
                <a:lnTo>
                  <a:pt x="137091" y="237241"/>
                </a:lnTo>
                <a:lnTo>
                  <a:pt x="137091" y="315971"/>
                </a:lnTo>
                <a:cubicBezTo>
                  <a:pt x="137091" y="322782"/>
                  <a:pt x="131570" y="328302"/>
                  <a:pt x="124759" y="328302"/>
                </a:cubicBezTo>
                <a:lnTo>
                  <a:pt x="124761" y="328301"/>
                </a:lnTo>
                <a:cubicBezTo>
                  <a:pt x="117950" y="328301"/>
                  <a:pt x="112429" y="322780"/>
                  <a:pt x="112429" y="315971"/>
                </a:cubicBezTo>
                <a:lnTo>
                  <a:pt x="112429" y="237241"/>
                </a:lnTo>
                <a:lnTo>
                  <a:pt x="103051" y="236342"/>
                </a:lnTo>
                <a:cubicBezTo>
                  <a:pt x="81558" y="232181"/>
                  <a:pt x="61033" y="221777"/>
                  <a:pt x="44388" y="205131"/>
                </a:cubicBezTo>
                <a:cubicBezTo>
                  <a:pt x="0" y="160744"/>
                  <a:pt x="0" y="88777"/>
                  <a:pt x="44388" y="44388"/>
                </a:cubicBezTo>
                <a:cubicBezTo>
                  <a:pt x="88777" y="0"/>
                  <a:pt x="160744" y="0"/>
                  <a:pt x="205131" y="44388"/>
                </a:cubicBezTo>
                <a:close/>
              </a:path>
            </a:pathLst>
          </a:custGeom>
          <a:solidFill>
            <a:srgbClr val="FDFD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2" name="Connector 12"/>
          <p:cNvCxnSpPr/>
          <p:nvPr/>
        </p:nvCxnSpPr>
        <p:spPr>
          <a:xfrm rot="5197881">
            <a:off x="9886859" y="4908643"/>
            <a:ext cx="43198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CFCFC">
                <a:alpha val="34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604000" y="4775200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让每位医学生拥有24小时在线的“顶级临床导师”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31200" y="2095500"/>
            <a:ext cx="3860800" cy="4838700"/>
          </a:xfrm>
          <a:prstGeom prst="roundRect">
            <a:avLst>
              <a:gd name="adj" fmla="val 0"/>
            </a:avLst>
          </a:prstGeom>
          <a:blipFill rotWithShape="1">
            <a:blip r:embed="rId3">
              <a:alphaModFix amt="27000"/>
            </a:blip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-6359999">
            <a:off x="1574800" y="3543300"/>
            <a:ext cx="4254500" cy="3314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013200" y="914400"/>
            <a:ext cx="7188200" cy="495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40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CONTENTS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4013200" y="5080000"/>
            <a:ext cx="565219" cy="513655"/>
          </a:xfrm>
          <a:custGeom>
            <a:avLst/>
            <a:gdLst/>
            <a:ahLst/>
            <a:cxnLst/>
            <a:rect l="l" t="t" r="r" b="b"/>
            <a:pathLst>
              <a:path w="565219" h="513655">
                <a:moveTo>
                  <a:pt x="565219" y="173359"/>
                </a:moveTo>
                <a:cubicBezTo>
                  <a:pt x="565219" y="77048"/>
                  <a:pt x="472087" y="0"/>
                  <a:pt x="359684" y="0"/>
                </a:cubicBezTo>
                <a:cubicBezTo>
                  <a:pt x="276187" y="0"/>
                  <a:pt x="202322" y="41735"/>
                  <a:pt x="170208" y="105941"/>
                </a:cubicBezTo>
                <a:cubicBezTo>
                  <a:pt x="179842" y="102732"/>
                  <a:pt x="192688" y="102732"/>
                  <a:pt x="202322" y="102732"/>
                </a:cubicBezTo>
                <a:cubicBezTo>
                  <a:pt x="231226" y="57786"/>
                  <a:pt x="292244" y="25683"/>
                  <a:pt x="359684" y="25683"/>
                </a:cubicBezTo>
                <a:cubicBezTo>
                  <a:pt x="459241" y="25683"/>
                  <a:pt x="539528" y="93100"/>
                  <a:pt x="539528" y="173359"/>
                </a:cubicBezTo>
                <a:cubicBezTo>
                  <a:pt x="539528" y="211883"/>
                  <a:pt x="520258" y="250407"/>
                  <a:pt x="484932" y="279300"/>
                </a:cubicBezTo>
                <a:cubicBezTo>
                  <a:pt x="478509" y="285721"/>
                  <a:pt x="475298" y="295351"/>
                  <a:pt x="478509" y="304983"/>
                </a:cubicBezTo>
                <a:cubicBezTo>
                  <a:pt x="488144" y="343507"/>
                  <a:pt x="488144" y="343507"/>
                  <a:pt x="488144" y="343507"/>
                </a:cubicBezTo>
                <a:cubicBezTo>
                  <a:pt x="433549" y="321034"/>
                  <a:pt x="433549" y="321034"/>
                  <a:pt x="433549" y="321034"/>
                </a:cubicBezTo>
                <a:cubicBezTo>
                  <a:pt x="433549" y="330665"/>
                  <a:pt x="430337" y="340296"/>
                  <a:pt x="430337" y="346718"/>
                </a:cubicBezTo>
                <a:cubicBezTo>
                  <a:pt x="526682" y="385242"/>
                  <a:pt x="526682" y="385242"/>
                  <a:pt x="526682" y="385242"/>
                </a:cubicBezTo>
                <a:cubicBezTo>
                  <a:pt x="500990" y="298562"/>
                  <a:pt x="500990" y="298562"/>
                  <a:pt x="500990" y="298562"/>
                </a:cubicBezTo>
                <a:cubicBezTo>
                  <a:pt x="539528" y="266459"/>
                  <a:pt x="565219" y="221513"/>
                  <a:pt x="565219" y="173359"/>
                </a:cubicBezTo>
                <a:moveTo>
                  <a:pt x="205534" y="128414"/>
                </a:moveTo>
                <a:cubicBezTo>
                  <a:pt x="93133" y="128414"/>
                  <a:pt x="0" y="205462"/>
                  <a:pt x="0" y="301772"/>
                </a:cubicBezTo>
                <a:cubicBezTo>
                  <a:pt x="0" y="349927"/>
                  <a:pt x="25692" y="394872"/>
                  <a:pt x="64229" y="426975"/>
                </a:cubicBezTo>
                <a:cubicBezTo>
                  <a:pt x="38538" y="513655"/>
                  <a:pt x="38538" y="513655"/>
                  <a:pt x="38538" y="513655"/>
                </a:cubicBezTo>
                <a:cubicBezTo>
                  <a:pt x="154150" y="468710"/>
                  <a:pt x="154150" y="468710"/>
                  <a:pt x="154150" y="468710"/>
                </a:cubicBezTo>
                <a:cubicBezTo>
                  <a:pt x="170208" y="471921"/>
                  <a:pt x="186266" y="475131"/>
                  <a:pt x="205534" y="475131"/>
                </a:cubicBezTo>
                <a:cubicBezTo>
                  <a:pt x="317936" y="475131"/>
                  <a:pt x="411069" y="398083"/>
                  <a:pt x="411069" y="301772"/>
                </a:cubicBezTo>
                <a:cubicBezTo>
                  <a:pt x="411069" y="205462"/>
                  <a:pt x="317936" y="128414"/>
                  <a:pt x="205534" y="128414"/>
                </a:cubicBezTo>
                <a:moveTo>
                  <a:pt x="205534" y="449448"/>
                </a:moveTo>
                <a:cubicBezTo>
                  <a:pt x="189476" y="449448"/>
                  <a:pt x="173420" y="446237"/>
                  <a:pt x="160574" y="443028"/>
                </a:cubicBezTo>
                <a:cubicBezTo>
                  <a:pt x="157362" y="443028"/>
                  <a:pt x="154150" y="443028"/>
                  <a:pt x="154150" y="443028"/>
                </a:cubicBezTo>
                <a:cubicBezTo>
                  <a:pt x="150940" y="443028"/>
                  <a:pt x="147728" y="443028"/>
                  <a:pt x="144516" y="446237"/>
                </a:cubicBezTo>
                <a:cubicBezTo>
                  <a:pt x="77075" y="471921"/>
                  <a:pt x="77075" y="471921"/>
                  <a:pt x="77075" y="471921"/>
                </a:cubicBezTo>
                <a:cubicBezTo>
                  <a:pt x="86709" y="433396"/>
                  <a:pt x="86709" y="433396"/>
                  <a:pt x="86709" y="433396"/>
                </a:cubicBezTo>
                <a:cubicBezTo>
                  <a:pt x="89921" y="423766"/>
                  <a:pt x="86709" y="414134"/>
                  <a:pt x="80287" y="407713"/>
                </a:cubicBezTo>
                <a:cubicBezTo>
                  <a:pt x="44961" y="378821"/>
                  <a:pt x="25692" y="340296"/>
                  <a:pt x="25692" y="301772"/>
                </a:cubicBezTo>
                <a:cubicBezTo>
                  <a:pt x="25692" y="221513"/>
                  <a:pt x="105979" y="154097"/>
                  <a:pt x="205534" y="154097"/>
                </a:cubicBezTo>
                <a:cubicBezTo>
                  <a:pt x="305090" y="154097"/>
                  <a:pt x="385376" y="221513"/>
                  <a:pt x="385376" y="301772"/>
                </a:cubicBezTo>
                <a:cubicBezTo>
                  <a:pt x="385376" y="382031"/>
                  <a:pt x="305090" y="449448"/>
                  <a:pt x="205534" y="449448"/>
                </a:cubicBezTo>
              </a:path>
            </a:pathLst>
          </a:custGeom>
          <a:solidFill>
            <a:srgbClr val="42BA9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4025900" y="3683000"/>
            <a:ext cx="519121" cy="513655"/>
          </a:xfrm>
          <a:custGeom>
            <a:avLst/>
            <a:gdLst/>
            <a:ahLst/>
            <a:cxnLst/>
            <a:rect l="l" t="t" r="r" b="b"/>
            <a:pathLst>
              <a:path w="519121" h="513655">
                <a:moveTo>
                  <a:pt x="188772" y="348341"/>
                </a:moveTo>
                <a:cubicBezTo>
                  <a:pt x="330350" y="348341"/>
                  <a:pt x="330350" y="348341"/>
                  <a:pt x="330350" y="348341"/>
                </a:cubicBezTo>
                <a:cubicBezTo>
                  <a:pt x="342148" y="348341"/>
                  <a:pt x="353946" y="336532"/>
                  <a:pt x="353946" y="324725"/>
                </a:cubicBezTo>
                <a:cubicBezTo>
                  <a:pt x="353946" y="301108"/>
                  <a:pt x="353946" y="301108"/>
                  <a:pt x="353946" y="301108"/>
                </a:cubicBezTo>
                <a:cubicBezTo>
                  <a:pt x="353946" y="289300"/>
                  <a:pt x="342148" y="277491"/>
                  <a:pt x="330350" y="277491"/>
                </a:cubicBezTo>
                <a:cubicBezTo>
                  <a:pt x="188772" y="277491"/>
                  <a:pt x="188772" y="277491"/>
                  <a:pt x="188772" y="277491"/>
                </a:cubicBezTo>
                <a:cubicBezTo>
                  <a:pt x="176973" y="277491"/>
                  <a:pt x="165175" y="289300"/>
                  <a:pt x="165175" y="301108"/>
                </a:cubicBezTo>
                <a:cubicBezTo>
                  <a:pt x="165175" y="324725"/>
                  <a:pt x="165175" y="324725"/>
                  <a:pt x="165175" y="324725"/>
                </a:cubicBezTo>
                <a:cubicBezTo>
                  <a:pt x="165175" y="336532"/>
                  <a:pt x="176973" y="348341"/>
                  <a:pt x="188772" y="348341"/>
                </a:cubicBezTo>
                <a:moveTo>
                  <a:pt x="188772" y="301108"/>
                </a:moveTo>
                <a:cubicBezTo>
                  <a:pt x="330350" y="301108"/>
                  <a:pt x="330350" y="301108"/>
                  <a:pt x="330350" y="301108"/>
                </a:cubicBezTo>
                <a:cubicBezTo>
                  <a:pt x="330350" y="324725"/>
                  <a:pt x="330350" y="324725"/>
                  <a:pt x="330350" y="324725"/>
                </a:cubicBezTo>
                <a:cubicBezTo>
                  <a:pt x="188772" y="324725"/>
                  <a:pt x="188772" y="324725"/>
                  <a:pt x="188772" y="324725"/>
                </a:cubicBezTo>
                <a:lnTo>
                  <a:pt x="188772" y="301108"/>
                </a:lnTo>
                <a:close/>
                <a:moveTo>
                  <a:pt x="495526" y="135793"/>
                </a:moveTo>
                <a:cubicBezTo>
                  <a:pt x="448333" y="135793"/>
                  <a:pt x="448333" y="135793"/>
                  <a:pt x="448333" y="135793"/>
                </a:cubicBezTo>
                <a:cubicBezTo>
                  <a:pt x="433584" y="82657"/>
                  <a:pt x="433584" y="82657"/>
                  <a:pt x="433584" y="82657"/>
                </a:cubicBezTo>
                <a:cubicBezTo>
                  <a:pt x="427685" y="56088"/>
                  <a:pt x="401140" y="41328"/>
                  <a:pt x="377543" y="50184"/>
                </a:cubicBezTo>
                <a:cubicBezTo>
                  <a:pt x="303804" y="67897"/>
                  <a:pt x="303804" y="67897"/>
                  <a:pt x="303804" y="67897"/>
                </a:cubicBezTo>
                <a:cubicBezTo>
                  <a:pt x="206469" y="11808"/>
                  <a:pt x="206469" y="11808"/>
                  <a:pt x="206469" y="11808"/>
                </a:cubicBezTo>
                <a:cubicBezTo>
                  <a:pt x="185823" y="0"/>
                  <a:pt x="156327" y="5904"/>
                  <a:pt x="144529" y="29520"/>
                </a:cubicBezTo>
                <a:cubicBezTo>
                  <a:pt x="82588" y="135793"/>
                  <a:pt x="82588" y="135793"/>
                  <a:pt x="82588" y="135793"/>
                </a:cubicBezTo>
                <a:cubicBezTo>
                  <a:pt x="23597" y="135793"/>
                  <a:pt x="23597" y="135793"/>
                  <a:pt x="23597" y="135793"/>
                </a:cubicBezTo>
                <a:cubicBezTo>
                  <a:pt x="11798" y="135793"/>
                  <a:pt x="0" y="147602"/>
                  <a:pt x="0" y="159410"/>
                </a:cubicBezTo>
                <a:cubicBezTo>
                  <a:pt x="0" y="206643"/>
                  <a:pt x="0" y="206643"/>
                  <a:pt x="0" y="206643"/>
                </a:cubicBezTo>
                <a:cubicBezTo>
                  <a:pt x="0" y="218451"/>
                  <a:pt x="11798" y="230259"/>
                  <a:pt x="23597" y="230259"/>
                </a:cubicBezTo>
                <a:cubicBezTo>
                  <a:pt x="47193" y="230259"/>
                  <a:pt x="47193" y="230259"/>
                  <a:pt x="47193" y="230259"/>
                </a:cubicBezTo>
                <a:cubicBezTo>
                  <a:pt x="47193" y="490038"/>
                  <a:pt x="47193" y="490038"/>
                  <a:pt x="47193" y="490038"/>
                </a:cubicBezTo>
                <a:cubicBezTo>
                  <a:pt x="47193" y="501847"/>
                  <a:pt x="58992" y="513655"/>
                  <a:pt x="70790" y="513655"/>
                </a:cubicBezTo>
                <a:cubicBezTo>
                  <a:pt x="448333" y="513655"/>
                  <a:pt x="448333" y="513655"/>
                  <a:pt x="448333" y="513655"/>
                </a:cubicBezTo>
                <a:cubicBezTo>
                  <a:pt x="460131" y="513655"/>
                  <a:pt x="471929" y="501847"/>
                  <a:pt x="471929" y="490038"/>
                </a:cubicBezTo>
                <a:cubicBezTo>
                  <a:pt x="471929" y="230259"/>
                  <a:pt x="471929" y="230259"/>
                  <a:pt x="471929" y="230259"/>
                </a:cubicBezTo>
                <a:cubicBezTo>
                  <a:pt x="495526" y="230259"/>
                  <a:pt x="495526" y="230259"/>
                  <a:pt x="495526" y="230259"/>
                </a:cubicBezTo>
                <a:cubicBezTo>
                  <a:pt x="507324" y="230259"/>
                  <a:pt x="519121" y="218451"/>
                  <a:pt x="519121" y="206643"/>
                </a:cubicBezTo>
                <a:cubicBezTo>
                  <a:pt x="519121" y="159410"/>
                  <a:pt x="519121" y="159410"/>
                  <a:pt x="519121" y="159410"/>
                </a:cubicBezTo>
                <a:cubicBezTo>
                  <a:pt x="519121" y="147602"/>
                  <a:pt x="507324" y="135793"/>
                  <a:pt x="495526" y="135793"/>
                </a:cubicBezTo>
                <a:moveTo>
                  <a:pt x="383442" y="70849"/>
                </a:moveTo>
                <a:cubicBezTo>
                  <a:pt x="395241" y="67897"/>
                  <a:pt x="407039" y="76752"/>
                  <a:pt x="412938" y="88561"/>
                </a:cubicBezTo>
                <a:cubicBezTo>
                  <a:pt x="424736" y="135793"/>
                  <a:pt x="424736" y="135793"/>
                  <a:pt x="424736" y="135793"/>
                </a:cubicBezTo>
                <a:cubicBezTo>
                  <a:pt x="421786" y="135793"/>
                  <a:pt x="421786" y="135793"/>
                  <a:pt x="421786" y="135793"/>
                </a:cubicBezTo>
                <a:cubicBezTo>
                  <a:pt x="392292" y="118082"/>
                  <a:pt x="392292" y="118082"/>
                  <a:pt x="392292" y="118082"/>
                </a:cubicBezTo>
                <a:cubicBezTo>
                  <a:pt x="395241" y="118082"/>
                  <a:pt x="395241" y="118082"/>
                  <a:pt x="395241" y="118082"/>
                </a:cubicBezTo>
                <a:cubicBezTo>
                  <a:pt x="389341" y="94465"/>
                  <a:pt x="389341" y="94465"/>
                  <a:pt x="389341" y="94465"/>
                </a:cubicBezTo>
                <a:cubicBezTo>
                  <a:pt x="365745" y="100369"/>
                  <a:pt x="365745" y="100369"/>
                  <a:pt x="365745" y="100369"/>
                </a:cubicBezTo>
                <a:cubicBezTo>
                  <a:pt x="365745" y="103321"/>
                  <a:pt x="365745" y="103321"/>
                  <a:pt x="365745" y="103321"/>
                </a:cubicBezTo>
                <a:cubicBezTo>
                  <a:pt x="339199" y="88561"/>
                  <a:pt x="339199" y="88561"/>
                  <a:pt x="339199" y="88561"/>
                </a:cubicBezTo>
                <a:cubicBezTo>
                  <a:pt x="336249" y="82657"/>
                  <a:pt x="336249" y="82657"/>
                  <a:pt x="336249" y="82657"/>
                </a:cubicBezTo>
                <a:lnTo>
                  <a:pt x="383442" y="70849"/>
                </a:lnTo>
                <a:close/>
                <a:moveTo>
                  <a:pt x="374594" y="135793"/>
                </a:moveTo>
                <a:cubicBezTo>
                  <a:pt x="218267" y="135793"/>
                  <a:pt x="218267" y="135793"/>
                  <a:pt x="218267" y="135793"/>
                </a:cubicBezTo>
                <a:cubicBezTo>
                  <a:pt x="256611" y="67897"/>
                  <a:pt x="256611" y="67897"/>
                  <a:pt x="256611" y="67897"/>
                </a:cubicBezTo>
                <a:lnTo>
                  <a:pt x="374594" y="135793"/>
                </a:lnTo>
                <a:close/>
                <a:moveTo>
                  <a:pt x="165175" y="41328"/>
                </a:moveTo>
                <a:cubicBezTo>
                  <a:pt x="171074" y="29520"/>
                  <a:pt x="185823" y="26568"/>
                  <a:pt x="194671" y="32473"/>
                </a:cubicBezTo>
                <a:cubicBezTo>
                  <a:pt x="235965" y="56088"/>
                  <a:pt x="235965" y="56088"/>
                  <a:pt x="235965" y="56088"/>
                </a:cubicBezTo>
                <a:cubicBezTo>
                  <a:pt x="191722" y="135793"/>
                  <a:pt x="191722" y="135793"/>
                  <a:pt x="191722" y="135793"/>
                </a:cubicBezTo>
                <a:cubicBezTo>
                  <a:pt x="138629" y="135793"/>
                  <a:pt x="138629" y="135793"/>
                  <a:pt x="138629" y="135793"/>
                </a:cubicBezTo>
                <a:cubicBezTo>
                  <a:pt x="135679" y="135793"/>
                  <a:pt x="135679" y="135793"/>
                  <a:pt x="135679" y="135793"/>
                </a:cubicBezTo>
                <a:cubicBezTo>
                  <a:pt x="135679" y="135793"/>
                  <a:pt x="135679" y="135793"/>
                  <a:pt x="135679" y="135793"/>
                </a:cubicBezTo>
                <a:cubicBezTo>
                  <a:pt x="109134" y="135793"/>
                  <a:pt x="109134" y="135793"/>
                  <a:pt x="109134" y="135793"/>
                </a:cubicBezTo>
                <a:lnTo>
                  <a:pt x="165175" y="41328"/>
                </a:lnTo>
                <a:close/>
                <a:moveTo>
                  <a:pt x="448333" y="490038"/>
                </a:moveTo>
                <a:cubicBezTo>
                  <a:pt x="70790" y="490038"/>
                  <a:pt x="70790" y="490038"/>
                  <a:pt x="70790" y="490038"/>
                </a:cubicBezTo>
                <a:cubicBezTo>
                  <a:pt x="70790" y="230259"/>
                  <a:pt x="70790" y="230259"/>
                  <a:pt x="70790" y="230259"/>
                </a:cubicBezTo>
                <a:cubicBezTo>
                  <a:pt x="448333" y="230259"/>
                  <a:pt x="448333" y="230259"/>
                  <a:pt x="448333" y="230259"/>
                </a:cubicBezTo>
                <a:lnTo>
                  <a:pt x="448333" y="490038"/>
                </a:lnTo>
                <a:close/>
                <a:moveTo>
                  <a:pt x="495526" y="206643"/>
                </a:moveTo>
                <a:cubicBezTo>
                  <a:pt x="23597" y="206643"/>
                  <a:pt x="23597" y="206643"/>
                  <a:pt x="23597" y="206643"/>
                </a:cubicBezTo>
                <a:cubicBezTo>
                  <a:pt x="23597" y="159410"/>
                  <a:pt x="23597" y="159410"/>
                  <a:pt x="23597" y="159410"/>
                </a:cubicBezTo>
                <a:cubicBezTo>
                  <a:pt x="495526" y="159410"/>
                  <a:pt x="495526" y="159410"/>
                  <a:pt x="495526" y="159410"/>
                </a:cubicBezTo>
                <a:lnTo>
                  <a:pt x="495526" y="206643"/>
                </a:lnTo>
                <a:close/>
                <a:moveTo>
                  <a:pt x="203520" y="64945"/>
                </a:moveTo>
                <a:cubicBezTo>
                  <a:pt x="182872" y="53137"/>
                  <a:pt x="182872" y="53137"/>
                  <a:pt x="182872" y="53137"/>
                </a:cubicBezTo>
                <a:cubicBezTo>
                  <a:pt x="171074" y="73801"/>
                  <a:pt x="171074" y="73801"/>
                  <a:pt x="171074" y="73801"/>
                </a:cubicBezTo>
                <a:cubicBezTo>
                  <a:pt x="191722" y="85609"/>
                  <a:pt x="191722" y="85609"/>
                  <a:pt x="191722" y="85609"/>
                </a:cubicBezTo>
                <a:lnTo>
                  <a:pt x="203520" y="64945"/>
                </a:lnTo>
                <a:close/>
                <a:moveTo>
                  <a:pt x="179923" y="106274"/>
                </a:moveTo>
                <a:cubicBezTo>
                  <a:pt x="159276" y="94465"/>
                  <a:pt x="159276" y="94465"/>
                  <a:pt x="159276" y="94465"/>
                </a:cubicBezTo>
                <a:cubicBezTo>
                  <a:pt x="147477" y="115129"/>
                  <a:pt x="147477" y="115129"/>
                  <a:pt x="147477" y="115129"/>
                </a:cubicBezTo>
                <a:cubicBezTo>
                  <a:pt x="168125" y="126938"/>
                  <a:pt x="168125" y="126938"/>
                  <a:pt x="168125" y="126938"/>
                </a:cubicBezTo>
                <a:lnTo>
                  <a:pt x="179923" y="106274"/>
                </a:lnTo>
                <a:close/>
              </a:path>
            </a:pathLst>
          </a:custGeom>
          <a:solidFill>
            <a:srgbClr val="FA1C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4152900" y="2298700"/>
            <a:ext cx="279328" cy="511108"/>
          </a:xfrm>
          <a:custGeom>
            <a:avLst/>
            <a:gdLst/>
            <a:ahLst/>
            <a:cxnLst/>
            <a:rect l="l" t="t" r="r" b="b"/>
            <a:pathLst>
              <a:path w="279328" h="511108">
                <a:moveTo>
                  <a:pt x="139664" y="476260"/>
                </a:moveTo>
                <a:cubicBezTo>
                  <a:pt x="145484" y="476260"/>
                  <a:pt x="151303" y="470451"/>
                  <a:pt x="151303" y="464643"/>
                </a:cubicBezTo>
                <a:cubicBezTo>
                  <a:pt x="151303" y="458836"/>
                  <a:pt x="145484" y="453028"/>
                  <a:pt x="139664" y="453028"/>
                </a:cubicBezTo>
                <a:cubicBezTo>
                  <a:pt x="133845" y="453028"/>
                  <a:pt x="128025" y="458836"/>
                  <a:pt x="128025" y="464643"/>
                </a:cubicBezTo>
                <a:cubicBezTo>
                  <a:pt x="128025" y="470451"/>
                  <a:pt x="133845" y="476260"/>
                  <a:pt x="139664" y="476260"/>
                </a:cubicBezTo>
                <a:moveTo>
                  <a:pt x="232773" y="0"/>
                </a:moveTo>
                <a:cubicBezTo>
                  <a:pt x="46554" y="0"/>
                  <a:pt x="46554" y="0"/>
                  <a:pt x="46554" y="0"/>
                </a:cubicBezTo>
                <a:cubicBezTo>
                  <a:pt x="20368" y="0"/>
                  <a:pt x="0" y="20328"/>
                  <a:pt x="0" y="46464"/>
                </a:cubicBezTo>
                <a:cubicBezTo>
                  <a:pt x="0" y="464643"/>
                  <a:pt x="0" y="464643"/>
                  <a:pt x="0" y="464643"/>
                </a:cubicBezTo>
                <a:cubicBezTo>
                  <a:pt x="0" y="490780"/>
                  <a:pt x="20368" y="511108"/>
                  <a:pt x="46554" y="511108"/>
                </a:cubicBezTo>
                <a:cubicBezTo>
                  <a:pt x="232773" y="511108"/>
                  <a:pt x="232773" y="511108"/>
                  <a:pt x="232773" y="511108"/>
                </a:cubicBezTo>
                <a:cubicBezTo>
                  <a:pt x="258961" y="511108"/>
                  <a:pt x="279328" y="490780"/>
                  <a:pt x="279328" y="464643"/>
                </a:cubicBezTo>
                <a:cubicBezTo>
                  <a:pt x="279328" y="46464"/>
                  <a:pt x="279328" y="46464"/>
                  <a:pt x="279328" y="46464"/>
                </a:cubicBezTo>
                <a:cubicBezTo>
                  <a:pt x="279328" y="20328"/>
                  <a:pt x="258961" y="0"/>
                  <a:pt x="232773" y="0"/>
                </a:cubicBezTo>
                <a:moveTo>
                  <a:pt x="256051" y="464643"/>
                </a:moveTo>
                <a:cubicBezTo>
                  <a:pt x="256051" y="476260"/>
                  <a:pt x="244412" y="487876"/>
                  <a:pt x="232773" y="487876"/>
                </a:cubicBezTo>
                <a:cubicBezTo>
                  <a:pt x="46554" y="487876"/>
                  <a:pt x="46554" y="487876"/>
                  <a:pt x="46554" y="487876"/>
                </a:cubicBezTo>
                <a:cubicBezTo>
                  <a:pt x="34916" y="487876"/>
                  <a:pt x="23278" y="476260"/>
                  <a:pt x="23278" y="464643"/>
                </a:cubicBezTo>
                <a:cubicBezTo>
                  <a:pt x="23278" y="441411"/>
                  <a:pt x="23278" y="441411"/>
                  <a:pt x="23278" y="441411"/>
                </a:cubicBezTo>
                <a:cubicBezTo>
                  <a:pt x="256051" y="441411"/>
                  <a:pt x="256051" y="441411"/>
                  <a:pt x="256051" y="441411"/>
                </a:cubicBezTo>
                <a:lnTo>
                  <a:pt x="256051" y="464643"/>
                </a:lnTo>
                <a:close/>
                <a:moveTo>
                  <a:pt x="256051" y="418179"/>
                </a:moveTo>
                <a:cubicBezTo>
                  <a:pt x="23278" y="418179"/>
                  <a:pt x="23278" y="418179"/>
                  <a:pt x="23278" y="418179"/>
                </a:cubicBezTo>
                <a:cubicBezTo>
                  <a:pt x="23278" y="92928"/>
                  <a:pt x="23278" y="92928"/>
                  <a:pt x="23278" y="92928"/>
                </a:cubicBezTo>
                <a:cubicBezTo>
                  <a:pt x="256051" y="92928"/>
                  <a:pt x="256051" y="92928"/>
                  <a:pt x="256051" y="92928"/>
                </a:cubicBezTo>
                <a:lnTo>
                  <a:pt x="256051" y="418179"/>
                </a:lnTo>
                <a:close/>
                <a:moveTo>
                  <a:pt x="256051" y="69696"/>
                </a:moveTo>
                <a:cubicBezTo>
                  <a:pt x="23278" y="69696"/>
                  <a:pt x="23278" y="69696"/>
                  <a:pt x="23278" y="69696"/>
                </a:cubicBezTo>
                <a:cubicBezTo>
                  <a:pt x="23278" y="46464"/>
                  <a:pt x="23278" y="46464"/>
                  <a:pt x="23278" y="46464"/>
                </a:cubicBezTo>
                <a:cubicBezTo>
                  <a:pt x="23278" y="34849"/>
                  <a:pt x="34916" y="23232"/>
                  <a:pt x="46554" y="23232"/>
                </a:cubicBezTo>
                <a:cubicBezTo>
                  <a:pt x="232773" y="23232"/>
                  <a:pt x="232773" y="23232"/>
                  <a:pt x="232773" y="23232"/>
                </a:cubicBezTo>
                <a:cubicBezTo>
                  <a:pt x="244412" y="23232"/>
                  <a:pt x="256051" y="34849"/>
                  <a:pt x="256051" y="46464"/>
                </a:cubicBezTo>
                <a:lnTo>
                  <a:pt x="256051" y="69696"/>
                </a:lnTo>
                <a:close/>
                <a:moveTo>
                  <a:pt x="151303" y="34849"/>
                </a:moveTo>
                <a:cubicBezTo>
                  <a:pt x="128025" y="34849"/>
                  <a:pt x="128025" y="34849"/>
                  <a:pt x="128025" y="34849"/>
                </a:cubicBezTo>
                <a:cubicBezTo>
                  <a:pt x="122206" y="34849"/>
                  <a:pt x="116387" y="40657"/>
                  <a:pt x="116387" y="46464"/>
                </a:cubicBezTo>
                <a:cubicBezTo>
                  <a:pt x="116387" y="52272"/>
                  <a:pt x="122206" y="58081"/>
                  <a:pt x="128025" y="58081"/>
                </a:cubicBezTo>
                <a:cubicBezTo>
                  <a:pt x="151303" y="58081"/>
                  <a:pt x="151303" y="58081"/>
                  <a:pt x="151303" y="58081"/>
                </a:cubicBezTo>
                <a:cubicBezTo>
                  <a:pt x="157122" y="58081"/>
                  <a:pt x="162941" y="52272"/>
                  <a:pt x="162941" y="46464"/>
                </a:cubicBezTo>
                <a:cubicBezTo>
                  <a:pt x="162941" y="40657"/>
                  <a:pt x="157122" y="34849"/>
                  <a:pt x="151303" y="34849"/>
                </a:cubicBezTo>
              </a:path>
            </a:pathLst>
          </a:custGeom>
          <a:solidFill>
            <a:srgbClr val="FEEA0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216900" y="3683000"/>
            <a:ext cx="373568" cy="513655"/>
          </a:xfrm>
          <a:custGeom>
            <a:avLst/>
            <a:gdLst/>
            <a:ahLst/>
            <a:cxnLst/>
            <a:rect l="l" t="t" r="r" b="b"/>
            <a:pathLst>
              <a:path w="373568" h="513655">
                <a:moveTo>
                  <a:pt x="256828" y="478484"/>
                </a:moveTo>
                <a:cubicBezTo>
                  <a:pt x="256828" y="484952"/>
                  <a:pt x="251570" y="490160"/>
                  <a:pt x="245085" y="490160"/>
                </a:cubicBezTo>
                <a:cubicBezTo>
                  <a:pt x="241729" y="490160"/>
                  <a:pt x="238737" y="488733"/>
                  <a:pt x="236593" y="486474"/>
                </a:cubicBezTo>
                <a:lnTo>
                  <a:pt x="236541" y="486522"/>
                </a:lnTo>
                <a:lnTo>
                  <a:pt x="233481" y="483739"/>
                </a:lnTo>
                <a:lnTo>
                  <a:pt x="233481" y="29868"/>
                </a:lnTo>
                <a:lnTo>
                  <a:pt x="236905" y="26777"/>
                </a:lnTo>
                <a:lnTo>
                  <a:pt x="236939" y="26801"/>
                </a:lnTo>
                <a:cubicBezTo>
                  <a:pt x="239050" y="24779"/>
                  <a:pt x="241920" y="23471"/>
                  <a:pt x="245085" y="23471"/>
                </a:cubicBezTo>
                <a:cubicBezTo>
                  <a:pt x="251570" y="23471"/>
                  <a:pt x="256828" y="28726"/>
                  <a:pt x="256828" y="35171"/>
                </a:cubicBezTo>
                <a:cubicBezTo>
                  <a:pt x="256828" y="35171"/>
                  <a:pt x="256828" y="478484"/>
                  <a:pt x="256828" y="478484"/>
                </a:cubicBezTo>
                <a:close/>
                <a:moveTo>
                  <a:pt x="210132" y="462479"/>
                </a:moveTo>
                <a:lnTo>
                  <a:pt x="93392" y="356182"/>
                </a:lnTo>
                <a:lnTo>
                  <a:pt x="93392" y="157117"/>
                </a:lnTo>
                <a:lnTo>
                  <a:pt x="98616" y="152361"/>
                </a:lnTo>
                <a:lnTo>
                  <a:pt x="98563" y="152336"/>
                </a:lnTo>
                <a:lnTo>
                  <a:pt x="210132" y="51057"/>
                </a:lnTo>
                <a:cubicBezTo>
                  <a:pt x="210132" y="51057"/>
                  <a:pt x="210132" y="462479"/>
                  <a:pt x="210132" y="462479"/>
                </a:cubicBezTo>
                <a:close/>
                <a:moveTo>
                  <a:pt x="70044" y="348334"/>
                </a:moveTo>
                <a:cubicBezTo>
                  <a:pt x="43392" y="339678"/>
                  <a:pt x="23348" y="302010"/>
                  <a:pt x="23348" y="256827"/>
                </a:cubicBezTo>
                <a:cubicBezTo>
                  <a:pt x="23348" y="211646"/>
                  <a:pt x="43392" y="173953"/>
                  <a:pt x="70044" y="165321"/>
                </a:cubicBezTo>
                <a:cubicBezTo>
                  <a:pt x="70044" y="165321"/>
                  <a:pt x="70044" y="348334"/>
                  <a:pt x="70044" y="348334"/>
                </a:cubicBezTo>
                <a:close/>
                <a:moveTo>
                  <a:pt x="280314" y="35005"/>
                </a:moveTo>
                <a:cubicBezTo>
                  <a:pt x="280314" y="15648"/>
                  <a:pt x="264559" y="0"/>
                  <a:pt x="245137" y="0"/>
                </a:cubicBezTo>
                <a:cubicBezTo>
                  <a:pt x="235193" y="0"/>
                  <a:pt x="226268" y="4138"/>
                  <a:pt x="219869" y="10725"/>
                </a:cubicBezTo>
                <a:lnTo>
                  <a:pt x="77066" y="140423"/>
                </a:lnTo>
                <a:cubicBezTo>
                  <a:pt x="34106" y="143871"/>
                  <a:pt x="0" y="194594"/>
                  <a:pt x="0" y="256827"/>
                </a:cubicBezTo>
                <a:cubicBezTo>
                  <a:pt x="0" y="319251"/>
                  <a:pt x="34331" y="370093"/>
                  <a:pt x="77498" y="373256"/>
                </a:cubicBezTo>
                <a:lnTo>
                  <a:pt x="219869" y="502906"/>
                </a:lnTo>
                <a:cubicBezTo>
                  <a:pt x="226268" y="509518"/>
                  <a:pt x="235193" y="513655"/>
                  <a:pt x="245137" y="513655"/>
                </a:cubicBezTo>
                <a:cubicBezTo>
                  <a:pt x="264559" y="513655"/>
                  <a:pt x="280314" y="497984"/>
                  <a:pt x="280314" y="478674"/>
                </a:cubicBezTo>
                <a:cubicBezTo>
                  <a:pt x="280314" y="478222"/>
                  <a:pt x="280194" y="477794"/>
                  <a:pt x="280176" y="477342"/>
                </a:cubicBezTo>
                <a:lnTo>
                  <a:pt x="280176" y="36313"/>
                </a:lnTo>
                <a:cubicBezTo>
                  <a:pt x="280194" y="35861"/>
                  <a:pt x="280314" y="35433"/>
                  <a:pt x="280314" y="35005"/>
                </a:cubicBezTo>
                <a:moveTo>
                  <a:pt x="315197" y="186794"/>
                </a:moveTo>
                <a:cubicBezTo>
                  <a:pt x="308747" y="186794"/>
                  <a:pt x="303524" y="192002"/>
                  <a:pt x="303524" y="198446"/>
                </a:cubicBezTo>
                <a:cubicBezTo>
                  <a:pt x="303524" y="204914"/>
                  <a:pt x="308747" y="210123"/>
                  <a:pt x="315197" y="210123"/>
                </a:cubicBezTo>
                <a:cubicBezTo>
                  <a:pt x="334551" y="210123"/>
                  <a:pt x="350220" y="231050"/>
                  <a:pt x="350220" y="256827"/>
                </a:cubicBezTo>
                <a:cubicBezTo>
                  <a:pt x="350220" y="282605"/>
                  <a:pt x="334551" y="303533"/>
                  <a:pt x="315197" y="303533"/>
                </a:cubicBezTo>
                <a:cubicBezTo>
                  <a:pt x="308747" y="303533"/>
                  <a:pt x="303524" y="308740"/>
                  <a:pt x="303524" y="315208"/>
                </a:cubicBezTo>
                <a:cubicBezTo>
                  <a:pt x="303524" y="321653"/>
                  <a:pt x="308747" y="326861"/>
                  <a:pt x="315197" y="326861"/>
                </a:cubicBezTo>
                <a:cubicBezTo>
                  <a:pt x="347435" y="326861"/>
                  <a:pt x="373568" y="295495"/>
                  <a:pt x="373568" y="256827"/>
                </a:cubicBezTo>
                <a:cubicBezTo>
                  <a:pt x="373568" y="218136"/>
                  <a:pt x="347435" y="186794"/>
                  <a:pt x="315197" y="186794"/>
                </a:cubicBezTo>
              </a:path>
            </a:pathLst>
          </a:custGeom>
          <a:solidFill>
            <a:srgbClr val="FB86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8140700" y="5080000"/>
            <a:ext cx="513655" cy="513655"/>
          </a:xfrm>
          <a:custGeom>
            <a:avLst/>
            <a:gdLst/>
            <a:ahLst/>
            <a:cxnLst/>
            <a:rect l="l" t="t" r="r" b="b"/>
            <a:pathLst>
              <a:path w="513655" h="513655">
                <a:moveTo>
                  <a:pt x="256827" y="490303"/>
                </a:moveTo>
                <a:cubicBezTo>
                  <a:pt x="127890" y="490303"/>
                  <a:pt x="23353" y="385765"/>
                  <a:pt x="23353" y="256827"/>
                </a:cubicBezTo>
                <a:cubicBezTo>
                  <a:pt x="23353" y="127867"/>
                  <a:pt x="127890" y="23353"/>
                  <a:pt x="256827" y="23353"/>
                </a:cubicBezTo>
                <a:cubicBezTo>
                  <a:pt x="385788" y="23353"/>
                  <a:pt x="490303" y="127867"/>
                  <a:pt x="490303" y="256827"/>
                </a:cubicBezTo>
                <a:cubicBezTo>
                  <a:pt x="490303" y="385765"/>
                  <a:pt x="385788" y="490303"/>
                  <a:pt x="256827" y="490303"/>
                </a:cubicBezTo>
                <a:moveTo>
                  <a:pt x="256827" y="0"/>
                </a:moveTo>
                <a:cubicBezTo>
                  <a:pt x="115001" y="0"/>
                  <a:pt x="0" y="114978"/>
                  <a:pt x="0" y="256827"/>
                </a:cubicBezTo>
                <a:cubicBezTo>
                  <a:pt x="0" y="398677"/>
                  <a:pt x="115001" y="513655"/>
                  <a:pt x="256827" y="513655"/>
                </a:cubicBezTo>
                <a:cubicBezTo>
                  <a:pt x="398653" y="513655"/>
                  <a:pt x="513655" y="398677"/>
                  <a:pt x="513655" y="256827"/>
                </a:cubicBezTo>
                <a:cubicBezTo>
                  <a:pt x="513655" y="114978"/>
                  <a:pt x="398653" y="0"/>
                  <a:pt x="256827" y="0"/>
                </a:cubicBezTo>
                <a:moveTo>
                  <a:pt x="210123" y="330261"/>
                </a:moveTo>
                <a:lnTo>
                  <a:pt x="210123" y="183394"/>
                </a:lnTo>
                <a:lnTo>
                  <a:pt x="338656" y="256827"/>
                </a:lnTo>
                <a:cubicBezTo>
                  <a:pt x="338656" y="256827"/>
                  <a:pt x="210123" y="330261"/>
                  <a:pt x="210123" y="330261"/>
                </a:cubicBezTo>
                <a:close/>
                <a:moveTo>
                  <a:pt x="369071" y="247838"/>
                </a:moveTo>
                <a:lnTo>
                  <a:pt x="369189" y="247696"/>
                </a:lnTo>
                <a:lnTo>
                  <a:pt x="367120" y="246531"/>
                </a:lnTo>
                <a:cubicBezTo>
                  <a:pt x="366812" y="246388"/>
                  <a:pt x="366550" y="246150"/>
                  <a:pt x="366241" y="246031"/>
                </a:cubicBezTo>
                <a:lnTo>
                  <a:pt x="205748" y="154310"/>
                </a:lnTo>
                <a:lnTo>
                  <a:pt x="205628" y="154454"/>
                </a:lnTo>
                <a:cubicBezTo>
                  <a:pt x="203631" y="152860"/>
                  <a:pt x="201205" y="151766"/>
                  <a:pt x="198446" y="151766"/>
                </a:cubicBezTo>
                <a:cubicBezTo>
                  <a:pt x="192027" y="151766"/>
                  <a:pt x="186794" y="156975"/>
                  <a:pt x="186794" y="163443"/>
                </a:cubicBezTo>
                <a:lnTo>
                  <a:pt x="186794" y="350213"/>
                </a:lnTo>
                <a:cubicBezTo>
                  <a:pt x="186794" y="356681"/>
                  <a:pt x="192027" y="361889"/>
                  <a:pt x="198446" y="361889"/>
                </a:cubicBezTo>
                <a:cubicBezTo>
                  <a:pt x="201205" y="361889"/>
                  <a:pt x="203631" y="360796"/>
                  <a:pt x="205628" y="359202"/>
                </a:cubicBezTo>
                <a:lnTo>
                  <a:pt x="205748" y="359344"/>
                </a:lnTo>
                <a:lnTo>
                  <a:pt x="366241" y="267623"/>
                </a:lnTo>
                <a:cubicBezTo>
                  <a:pt x="366550" y="267505"/>
                  <a:pt x="366812" y="267291"/>
                  <a:pt x="367120" y="267124"/>
                </a:cubicBezTo>
                <a:lnTo>
                  <a:pt x="369189" y="265960"/>
                </a:lnTo>
                <a:lnTo>
                  <a:pt x="369071" y="265816"/>
                </a:lnTo>
                <a:cubicBezTo>
                  <a:pt x="371734" y="263676"/>
                  <a:pt x="373565" y="260514"/>
                  <a:pt x="373565" y="256827"/>
                </a:cubicBezTo>
                <a:cubicBezTo>
                  <a:pt x="373565" y="253141"/>
                  <a:pt x="371734" y="249979"/>
                  <a:pt x="369071" y="247838"/>
                </a:cubicBezTo>
              </a:path>
            </a:pathLst>
          </a:custGeom>
          <a:solidFill>
            <a:srgbClr val="FEEA0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8140700" y="2387600"/>
            <a:ext cx="487586" cy="310283"/>
          </a:xfrm>
          <a:custGeom>
            <a:avLst/>
            <a:gdLst/>
            <a:ahLst/>
            <a:cxnLst/>
            <a:rect l="l" t="t" r="r" b="b"/>
            <a:pathLst>
              <a:path w="487586" h="310283">
                <a:moveTo>
                  <a:pt x="243793" y="288117"/>
                </a:moveTo>
                <a:cubicBezTo>
                  <a:pt x="121399" y="288117"/>
                  <a:pt x="22167" y="193137"/>
                  <a:pt x="22167" y="155141"/>
                </a:cubicBezTo>
                <a:cubicBezTo>
                  <a:pt x="22167" y="117146"/>
                  <a:pt x="121399" y="22165"/>
                  <a:pt x="243793" y="22165"/>
                </a:cubicBezTo>
                <a:cubicBezTo>
                  <a:pt x="366208" y="22165"/>
                  <a:pt x="465419" y="117146"/>
                  <a:pt x="465419" y="155141"/>
                </a:cubicBezTo>
                <a:cubicBezTo>
                  <a:pt x="465419" y="193137"/>
                  <a:pt x="366208" y="288117"/>
                  <a:pt x="243793" y="288117"/>
                </a:cubicBezTo>
                <a:moveTo>
                  <a:pt x="243793" y="0"/>
                </a:moveTo>
                <a:cubicBezTo>
                  <a:pt x="109143" y="0"/>
                  <a:pt x="0" y="110811"/>
                  <a:pt x="0" y="155141"/>
                </a:cubicBezTo>
                <a:cubicBezTo>
                  <a:pt x="0" y="199471"/>
                  <a:pt x="109143" y="310283"/>
                  <a:pt x="243793" y="310283"/>
                </a:cubicBezTo>
                <a:cubicBezTo>
                  <a:pt x="378443" y="310283"/>
                  <a:pt x="487586" y="199471"/>
                  <a:pt x="487586" y="155141"/>
                </a:cubicBezTo>
                <a:cubicBezTo>
                  <a:pt x="487586" y="110811"/>
                  <a:pt x="378443" y="0"/>
                  <a:pt x="243793" y="0"/>
                </a:cubicBezTo>
                <a:moveTo>
                  <a:pt x="243793" y="243787"/>
                </a:moveTo>
                <a:cubicBezTo>
                  <a:pt x="194831" y="243787"/>
                  <a:pt x="155147" y="204111"/>
                  <a:pt x="155147" y="155141"/>
                </a:cubicBezTo>
                <a:cubicBezTo>
                  <a:pt x="155147" y="106186"/>
                  <a:pt x="194831" y="66495"/>
                  <a:pt x="243793" y="66495"/>
                </a:cubicBezTo>
                <a:cubicBezTo>
                  <a:pt x="292755" y="66495"/>
                  <a:pt x="332439" y="106186"/>
                  <a:pt x="332439" y="155141"/>
                </a:cubicBezTo>
                <a:cubicBezTo>
                  <a:pt x="332439" y="204111"/>
                  <a:pt x="292755" y="243787"/>
                  <a:pt x="243793" y="243787"/>
                </a:cubicBezTo>
                <a:moveTo>
                  <a:pt x="243793" y="44345"/>
                </a:moveTo>
                <a:cubicBezTo>
                  <a:pt x="182574" y="44345"/>
                  <a:pt x="132980" y="93947"/>
                  <a:pt x="132980" y="155141"/>
                </a:cubicBezTo>
                <a:cubicBezTo>
                  <a:pt x="132980" y="216350"/>
                  <a:pt x="182574" y="265952"/>
                  <a:pt x="243793" y="265952"/>
                </a:cubicBezTo>
                <a:cubicBezTo>
                  <a:pt x="305012" y="265952"/>
                  <a:pt x="354606" y="216350"/>
                  <a:pt x="354606" y="155141"/>
                </a:cubicBezTo>
                <a:cubicBezTo>
                  <a:pt x="354606" y="93947"/>
                  <a:pt x="305012" y="44345"/>
                  <a:pt x="243793" y="44345"/>
                </a:cubicBezTo>
                <a:moveTo>
                  <a:pt x="243793" y="121901"/>
                </a:moveTo>
                <a:cubicBezTo>
                  <a:pt x="225440" y="121901"/>
                  <a:pt x="210542" y="136797"/>
                  <a:pt x="210542" y="155141"/>
                </a:cubicBezTo>
                <a:cubicBezTo>
                  <a:pt x="210542" y="173500"/>
                  <a:pt x="225440" y="188382"/>
                  <a:pt x="243793" y="188382"/>
                </a:cubicBezTo>
                <a:cubicBezTo>
                  <a:pt x="262146" y="188382"/>
                  <a:pt x="277044" y="173500"/>
                  <a:pt x="277044" y="155141"/>
                </a:cubicBezTo>
                <a:cubicBezTo>
                  <a:pt x="277044" y="136797"/>
                  <a:pt x="262146" y="121901"/>
                  <a:pt x="243793" y="121901"/>
                </a:cubicBezTo>
              </a:path>
            </a:pathLst>
          </a:custGeom>
          <a:solidFill>
            <a:srgbClr val="1BAC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711700" y="2209800"/>
            <a:ext cx="16002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项目背景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02400" y="2184400"/>
            <a:ext cx="8001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711700" y="2489200"/>
            <a:ext cx="18161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剖析医学教育痛点，洞察AI技术赋能行业的巨大机遇与变革方向。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711700" y="3581400"/>
            <a:ext cx="16002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产品服务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02400" y="3568700"/>
            <a:ext cx="8001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02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11700" y="3860800"/>
            <a:ext cx="18161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聚焦用户核心需求，提供全流程、智能化的医学教育综合解决方案。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711700" y="4965700"/>
            <a:ext cx="16002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核心创新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89700" y="4953000"/>
            <a:ext cx="8128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03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711700" y="5245100"/>
            <a:ext cx="18161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独创三大技术壁垒，结合算法与场景优势，构建不可替代的核心竞争力。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915400" y="2209800"/>
            <a:ext cx="16002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市场分析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693400" y="2184400"/>
            <a:ext cx="8001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04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915400" y="2489200"/>
            <a:ext cx="18161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深耕千亿级医学教育蓝海市场，精准锁定目标客群，明确增长潜力空间。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915400" y="3619500"/>
            <a:ext cx="16002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商业模式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693400" y="3606800"/>
            <a:ext cx="8001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05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915400" y="3898900"/>
            <a:ext cx="18161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设计多元化、可持续的盈利路径，整合资源打造完整且稳固的商业闭环。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902700" y="4965700"/>
            <a:ext cx="16002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团队与未来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693400" y="4953000"/>
            <a:ext cx="8001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06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902700" y="5245100"/>
            <a:ext cx="18161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 dirty="0" err="1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汇聚</a:t>
            </a:r>
            <a:r>
              <a:rPr lang="zh-CN" altLang="en-US" sz="1200" b="0" i="0" u="none" strike="noStrike" dirty="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优秀成员的</a:t>
            </a:r>
            <a:r>
              <a:rPr lang="en-US" sz="1200" b="0" i="0" u="none" strike="noStrike" dirty="0" err="1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团队，规划清晰的短期目标与长远发展蓝图</a:t>
            </a:r>
            <a:r>
              <a:rPr lang="en-US" sz="1200" b="0" i="0" u="none" strike="noStrike" dirty="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</p:txBody>
      </p:sp>
      <p:cxnSp>
        <p:nvCxnSpPr>
          <p:cNvPr id="30" name="Connector 30"/>
          <p:cNvCxnSpPr/>
          <p:nvPr/>
        </p:nvCxnSpPr>
        <p:spPr>
          <a:xfrm rot="10773657">
            <a:off x="4140176" y="3225800"/>
            <a:ext cx="331472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E9F9B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cxnSp>
        <p:nvCxnSpPr>
          <p:cNvPr id="31" name="Connector 31"/>
          <p:cNvCxnSpPr/>
          <p:nvPr/>
        </p:nvCxnSpPr>
        <p:spPr>
          <a:xfrm rot="10773657">
            <a:off x="4140176" y="4660900"/>
            <a:ext cx="331472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E9F9B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cxnSp>
        <p:nvCxnSpPr>
          <p:cNvPr id="32" name="Connector 32"/>
          <p:cNvCxnSpPr/>
          <p:nvPr/>
        </p:nvCxnSpPr>
        <p:spPr>
          <a:xfrm rot="10775959">
            <a:off x="8229578" y="3225800"/>
            <a:ext cx="363222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E9F9B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cxnSp>
        <p:nvCxnSpPr>
          <p:cNvPr id="33" name="Connector 33"/>
          <p:cNvCxnSpPr/>
          <p:nvPr/>
        </p:nvCxnSpPr>
        <p:spPr>
          <a:xfrm rot="10775959">
            <a:off x="8216878" y="4660900"/>
            <a:ext cx="363222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E9F9B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pic>
        <p:nvPicPr>
          <p:cNvPr id="34" name="Picture 3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73100" y="-927100"/>
            <a:ext cx="3695700" cy="369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-1130300" y="406400"/>
            <a:ext cx="5080000" cy="6451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10800000" flipV="1">
            <a:off x="-12700" y="-1118026"/>
            <a:ext cx="14097000" cy="792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20202">
              <a:alpha val="6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-241300"/>
            <a:ext cx="12192000" cy="812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248400" y="3886200"/>
            <a:ext cx="317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latin typeface="微软雅黑"/>
                <a:ea typeface="微软雅黑"/>
                <a:cs typeface="微软雅黑"/>
                <a:sym typeface="微软雅黑"/>
              </a:rPr>
              <a:t>痛点与时代机遇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876800" y="-914400"/>
            <a:ext cx="3695700" cy="369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-1371600" y="266700"/>
            <a:ext cx="8255000" cy="5905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-6359999">
            <a:off x="4929045" y="3384646"/>
            <a:ext cx="4254500" cy="3314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235700" y="3390900"/>
            <a:ext cx="44577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项目背景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35700" y="2400300"/>
            <a:ext cx="527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7200" b="1" i="0" u="none" strike="noStrike" spc="300" dirty="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PART 01</a:t>
            </a:r>
            <a:endParaRPr lang="en-US" sz="1100" dirty="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10019999">
            <a:off x="825500" y="4013200"/>
            <a:ext cx="2908300" cy="2908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833100" y="2070100"/>
            <a:ext cx="12700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7" name="Connector 17"/>
          <p:cNvCxnSpPr/>
          <p:nvPr/>
        </p:nvCxnSpPr>
        <p:spPr>
          <a:xfrm rot="5197881">
            <a:off x="7042059" y="4438743"/>
            <a:ext cx="43198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20202">
                <a:alpha val="34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 rot="2700000">
            <a:off x="10693400" y="901700"/>
            <a:ext cx="114300" cy="101600"/>
          </a:xfrm>
          <a:prstGeom prst="triangle">
            <a:avLst>
              <a:gd name="adj" fmla="val 50000"/>
            </a:avLst>
          </a:prstGeom>
          <a:solidFill>
            <a:srgbClr val="02020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616700" y="5613400"/>
            <a:ext cx="139700" cy="139700"/>
          </a:xfrm>
          <a:prstGeom prst="ellipse">
            <a:avLst/>
          </a:prstGeom>
          <a:solidFill>
            <a:srgbClr val="02020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800" y="393700"/>
            <a:ext cx="4546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000" b="1" i="0" u="none" strike="noStrike">
                <a:solidFill>
                  <a:srgbClr val="FCFCFC">
                    <a:alpha val="2313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MEDICAL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75400" y="520700"/>
            <a:ext cx="4546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教育困境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451600" y="1460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1BACE3"/>
                </a:solidFill>
                <a:latin typeface="微软雅黑"/>
                <a:ea typeface="微软雅黑"/>
                <a:cs typeface="微软雅黑"/>
                <a:sym typeface="微软雅黑"/>
              </a:rPr>
              <a:t>传统临床教学模式已触及发展天花板，学生实践、教师指导、管理决策均面临核心痛点制约。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939800" y="2540000"/>
            <a:ext cx="45847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当前医学教育体系中，真人标准化病人（SP）培训成本高昂、组织难度大，导致医学生缺乏高频试错机会；教师深陷繁重的病历批改工作，难以兼顾临床与精准教学；管理者因缺乏全流程学情数据，无法实现科学的教学闭环与决策。这三大问题共同构成了行业发展的瓶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90600" y="4279900"/>
            <a:ext cx="152400" cy="152400"/>
          </a:xfrm>
          <a:prstGeom prst="ellipse">
            <a:avLst/>
          </a:prstGeom>
          <a:solidFill>
            <a:srgbClr val="1BACE3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3660000" rotWithShape="0">
              <a:srgbClr val="000000">
                <a:alpha val="419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422400" y="4191000"/>
            <a:ext cx="1524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25400" tIns="50800" rIns="254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核心痛点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000" b="0" i="0" u="none" strike="noStrike" dirty="0" err="1">
                <a:solidFill>
                  <a:srgbClr val="B5B8B7"/>
                </a:solidFill>
                <a:latin typeface="微软雅黑"/>
                <a:ea typeface="微软雅黑"/>
                <a:cs typeface="微软雅黑"/>
                <a:sym typeface="微软雅黑"/>
              </a:rPr>
              <a:t>实践</a:t>
            </a:r>
            <a:r>
              <a:rPr lang="en-US" sz="1000" b="0" i="0" u="none" strike="noStrike" dirty="0">
                <a:solidFill>
                  <a:srgbClr val="B5B8B7"/>
                </a:solidFill>
                <a:latin typeface="微软雅黑"/>
                <a:ea typeface="微软雅黑"/>
                <a:cs typeface="微软雅黑"/>
                <a:sym typeface="微软雅黑"/>
              </a:rPr>
              <a:t> / </a:t>
            </a:r>
            <a:r>
              <a:rPr lang="en-US" sz="1000" b="0" i="0" u="none" strike="noStrike" dirty="0" err="1">
                <a:solidFill>
                  <a:srgbClr val="B5B8B7"/>
                </a:solidFill>
                <a:latin typeface="微软雅黑"/>
                <a:ea typeface="微软雅黑"/>
                <a:cs typeface="微软雅黑"/>
                <a:sym typeface="微软雅黑"/>
              </a:rPr>
              <a:t>教学</a:t>
            </a:r>
            <a:r>
              <a:rPr lang="en-US" sz="1000" b="0" i="0" u="none" strike="noStrike" dirty="0">
                <a:solidFill>
                  <a:srgbClr val="B5B8B7"/>
                </a:solidFill>
                <a:latin typeface="微软雅黑"/>
                <a:ea typeface="微软雅黑"/>
                <a:cs typeface="微软雅黑"/>
                <a:sym typeface="微软雅黑"/>
              </a:rPr>
              <a:t> / </a:t>
            </a:r>
            <a:r>
              <a:rPr lang="en-US" sz="1000" b="0" i="0" u="none" strike="noStrike" dirty="0" err="1">
                <a:solidFill>
                  <a:srgbClr val="B5B8B7"/>
                </a:solidFill>
                <a:latin typeface="微软雅黑"/>
                <a:ea typeface="微软雅黑"/>
                <a:cs typeface="微软雅黑"/>
                <a:sym typeface="微软雅黑"/>
              </a:rPr>
              <a:t>管理断层</a:t>
            </a:r>
            <a:endParaRPr lang="en-US" sz="1000" b="0" i="0" u="none" strike="noStrike" dirty="0">
              <a:solidFill>
                <a:srgbClr val="B5B8B7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048000" y="4191000"/>
            <a:ext cx="6350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25400" tIns="50800" rIns="254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BACE3"/>
                </a:solidFill>
                <a:latin typeface="微软雅黑"/>
                <a:ea typeface="微软雅黑"/>
                <a:cs typeface="微软雅黑"/>
                <a:sym typeface="微软雅黑"/>
              </a:rPr>
              <a:t>3大维度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90600" y="5168900"/>
            <a:ext cx="152400" cy="152400"/>
          </a:xfrm>
          <a:prstGeom prst="ellipse">
            <a:avLst/>
          </a:prstGeom>
          <a:solidFill>
            <a:srgbClr val="42BA9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3660000" rotWithShape="0">
              <a:srgbClr val="000000">
                <a:alpha val="419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422400" y="5080000"/>
            <a:ext cx="1524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25400" tIns="50800" rIns="254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改革诉求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000" b="0" i="0" u="none" strike="noStrike">
                <a:solidFill>
                  <a:srgbClr val="B5B8B7"/>
                </a:solidFill>
                <a:latin typeface="微软雅黑"/>
                <a:ea typeface="微软雅黑"/>
                <a:cs typeface="微软雅黑"/>
                <a:sym typeface="微软雅黑"/>
              </a:rPr>
              <a:t>数据驱动与降本增效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048000" y="5080000"/>
            <a:ext cx="6350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25400" tIns="50800" rIns="254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42BA97"/>
                </a:solidFill>
                <a:latin typeface="微软雅黑"/>
                <a:ea typeface="微软雅黑"/>
                <a:cs typeface="微软雅黑"/>
                <a:sym typeface="微软雅黑"/>
              </a:rPr>
              <a:t>迫在眉睫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-12701" y="0"/>
            <a:ext cx="61861" cy="319548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27CDD6">
                  <a:alpha val="100000"/>
                </a:srgbClr>
              </a:gs>
              <a:gs pos="100000">
                <a:srgbClr val="2080C3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6553200" y="2247900"/>
            <a:ext cx="338969" cy="338943"/>
          </a:xfrm>
          <a:custGeom>
            <a:avLst/>
            <a:gdLst/>
            <a:ahLst/>
            <a:cxnLst/>
            <a:rect l="l" t="t" r="r" b="b"/>
            <a:pathLst>
              <a:path w="338969" h="338943">
                <a:moveTo>
                  <a:pt x="192726" y="311419"/>
                </a:moveTo>
                <a:lnTo>
                  <a:pt x="147719" y="202142"/>
                </a:lnTo>
                <a:lnTo>
                  <a:pt x="308446" y="41426"/>
                </a:lnTo>
                <a:cubicBezTo>
                  <a:pt x="308446" y="41426"/>
                  <a:pt x="192726" y="311419"/>
                  <a:pt x="192726" y="311419"/>
                </a:cubicBezTo>
                <a:close/>
                <a:moveTo>
                  <a:pt x="27541" y="146248"/>
                </a:moveTo>
                <a:lnTo>
                  <a:pt x="297539" y="30521"/>
                </a:lnTo>
                <a:lnTo>
                  <a:pt x="136827" y="191237"/>
                </a:lnTo>
                <a:cubicBezTo>
                  <a:pt x="136827" y="191237"/>
                  <a:pt x="27541" y="146248"/>
                  <a:pt x="27541" y="146248"/>
                </a:cubicBezTo>
                <a:close/>
                <a:moveTo>
                  <a:pt x="338969" y="7705"/>
                </a:moveTo>
                <a:cubicBezTo>
                  <a:pt x="338969" y="3452"/>
                  <a:pt x="335516" y="0"/>
                  <a:pt x="331264" y="0"/>
                </a:cubicBezTo>
                <a:cubicBezTo>
                  <a:pt x="330087" y="0"/>
                  <a:pt x="328988" y="314"/>
                  <a:pt x="327984" y="815"/>
                </a:cubicBezTo>
                <a:lnTo>
                  <a:pt x="327952" y="753"/>
                </a:lnTo>
                <a:lnTo>
                  <a:pt x="4740" y="139264"/>
                </a:lnTo>
                <a:cubicBezTo>
                  <a:pt x="4723" y="139264"/>
                  <a:pt x="4693" y="139281"/>
                  <a:pt x="4661" y="139296"/>
                </a:cubicBezTo>
                <a:lnTo>
                  <a:pt x="4394" y="139422"/>
                </a:lnTo>
                <a:lnTo>
                  <a:pt x="4409" y="139454"/>
                </a:lnTo>
                <a:cubicBezTo>
                  <a:pt x="1820" y="140708"/>
                  <a:pt x="0" y="143298"/>
                  <a:pt x="0" y="146357"/>
                </a:cubicBezTo>
                <a:cubicBezTo>
                  <a:pt x="0" y="149856"/>
                  <a:pt x="2370" y="152697"/>
                  <a:pt x="5571" y="153638"/>
                </a:cubicBezTo>
                <a:lnTo>
                  <a:pt x="5540" y="153764"/>
                </a:lnTo>
                <a:lnTo>
                  <a:pt x="132794" y="206159"/>
                </a:lnTo>
                <a:lnTo>
                  <a:pt x="185193" y="333419"/>
                </a:lnTo>
                <a:lnTo>
                  <a:pt x="185318" y="333372"/>
                </a:lnTo>
                <a:cubicBezTo>
                  <a:pt x="186261" y="336574"/>
                  <a:pt x="189100" y="338943"/>
                  <a:pt x="192601" y="338943"/>
                </a:cubicBezTo>
                <a:cubicBezTo>
                  <a:pt x="195660" y="338943"/>
                  <a:pt x="198266" y="337123"/>
                  <a:pt x="199506" y="334533"/>
                </a:cubicBezTo>
                <a:lnTo>
                  <a:pt x="199553" y="334550"/>
                </a:lnTo>
                <a:lnTo>
                  <a:pt x="199662" y="334283"/>
                </a:lnTo>
                <a:cubicBezTo>
                  <a:pt x="199678" y="334251"/>
                  <a:pt x="199694" y="334236"/>
                  <a:pt x="199694" y="334204"/>
                </a:cubicBezTo>
                <a:lnTo>
                  <a:pt x="338231" y="11016"/>
                </a:lnTo>
                <a:lnTo>
                  <a:pt x="338138" y="10969"/>
                </a:lnTo>
                <a:cubicBezTo>
                  <a:pt x="338624" y="9980"/>
                  <a:pt x="338969" y="8898"/>
                  <a:pt x="338969" y="7705"/>
                </a:cubicBezTo>
                <a:moveTo>
                  <a:pt x="123269" y="254207"/>
                </a:moveTo>
                <a:cubicBezTo>
                  <a:pt x="121134" y="254207"/>
                  <a:pt x="119203" y="255071"/>
                  <a:pt x="117808" y="256466"/>
                </a:cubicBezTo>
                <a:lnTo>
                  <a:pt x="94708" y="279580"/>
                </a:lnTo>
                <a:cubicBezTo>
                  <a:pt x="93311" y="280962"/>
                  <a:pt x="92447" y="282908"/>
                  <a:pt x="92447" y="285026"/>
                </a:cubicBezTo>
                <a:cubicBezTo>
                  <a:pt x="92447" y="289278"/>
                  <a:pt x="95900" y="292731"/>
                  <a:pt x="100152" y="292731"/>
                </a:cubicBezTo>
                <a:cubicBezTo>
                  <a:pt x="102272" y="292731"/>
                  <a:pt x="104201" y="291868"/>
                  <a:pt x="105598" y="290471"/>
                </a:cubicBezTo>
                <a:lnTo>
                  <a:pt x="128714" y="267357"/>
                </a:lnTo>
                <a:cubicBezTo>
                  <a:pt x="130110" y="265976"/>
                  <a:pt x="130959" y="264046"/>
                  <a:pt x="130959" y="261912"/>
                </a:cubicBezTo>
                <a:cubicBezTo>
                  <a:pt x="130959" y="257659"/>
                  <a:pt x="127522" y="254207"/>
                  <a:pt x="123269" y="254207"/>
                </a:cubicBezTo>
                <a:moveTo>
                  <a:pt x="123269" y="223404"/>
                </a:moveTo>
                <a:cubicBezTo>
                  <a:pt x="123269" y="219151"/>
                  <a:pt x="119816" y="215684"/>
                  <a:pt x="115564" y="215684"/>
                </a:cubicBezTo>
                <a:cubicBezTo>
                  <a:pt x="113429" y="215684"/>
                  <a:pt x="111498" y="216563"/>
                  <a:pt x="110118" y="217943"/>
                </a:cubicBezTo>
                <a:lnTo>
                  <a:pt x="33066" y="294974"/>
                </a:lnTo>
                <a:cubicBezTo>
                  <a:pt x="31684" y="296386"/>
                  <a:pt x="30822" y="298317"/>
                  <a:pt x="30822" y="300420"/>
                </a:cubicBezTo>
                <a:cubicBezTo>
                  <a:pt x="30822" y="304688"/>
                  <a:pt x="34273" y="308125"/>
                  <a:pt x="38527" y="308125"/>
                </a:cubicBezTo>
                <a:cubicBezTo>
                  <a:pt x="40645" y="308125"/>
                  <a:pt x="42575" y="307276"/>
                  <a:pt x="43971" y="305881"/>
                </a:cubicBezTo>
                <a:lnTo>
                  <a:pt x="121009" y="228834"/>
                </a:lnTo>
                <a:cubicBezTo>
                  <a:pt x="122405" y="227453"/>
                  <a:pt x="123269" y="225523"/>
                  <a:pt x="123269" y="223404"/>
                </a:cubicBezTo>
                <a:moveTo>
                  <a:pt x="74778" y="228834"/>
                </a:moveTo>
                <a:lnTo>
                  <a:pt x="82483" y="221145"/>
                </a:lnTo>
                <a:cubicBezTo>
                  <a:pt x="83880" y="219748"/>
                  <a:pt x="84742" y="217818"/>
                  <a:pt x="84742" y="215684"/>
                </a:cubicBezTo>
                <a:cubicBezTo>
                  <a:pt x="84742" y="211447"/>
                  <a:pt x="81290" y="207994"/>
                  <a:pt x="77037" y="207994"/>
                </a:cubicBezTo>
                <a:cubicBezTo>
                  <a:pt x="74919" y="207994"/>
                  <a:pt x="72988" y="208858"/>
                  <a:pt x="71591" y="210238"/>
                </a:cubicBezTo>
                <a:lnTo>
                  <a:pt x="63886" y="217943"/>
                </a:lnTo>
                <a:cubicBezTo>
                  <a:pt x="62489" y="219356"/>
                  <a:pt x="61627" y="221270"/>
                  <a:pt x="61627" y="223404"/>
                </a:cubicBezTo>
                <a:cubicBezTo>
                  <a:pt x="61627" y="227641"/>
                  <a:pt x="65079" y="231093"/>
                  <a:pt x="69332" y="231093"/>
                </a:cubicBezTo>
                <a:cubicBezTo>
                  <a:pt x="71465" y="231093"/>
                  <a:pt x="73381" y="230246"/>
                  <a:pt x="74778" y="228834"/>
                </a:cubicBezTo>
              </a:path>
            </a:pathLst>
          </a:custGeom>
          <a:gradFill rotWithShape="0">
            <a:gsLst>
              <a:gs pos="0">
                <a:srgbClr val="5E9F9B">
                  <a:alpha val="100000"/>
                </a:srgbClr>
              </a:gs>
              <a:gs pos="100000">
                <a:srgbClr val="42BA97">
                  <a:alpha val="100000"/>
                </a:srgbClr>
              </a:gs>
            </a:gsLst>
            <a:lin ang="1776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553200" y="2705100"/>
            <a:ext cx="1714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50800" rIns="254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BACE3"/>
                </a:solidFill>
                <a:latin typeface="微软雅黑"/>
                <a:ea typeface="微软雅黑"/>
                <a:cs typeface="微软雅黑"/>
                <a:sym typeface="微软雅黑"/>
              </a:rPr>
              <a:t>01 学生困境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“练得少、不敢练”。真人SP单次成本超$150，组织困难，学生缺乏低风险试错机会，普遍理论强、临床弱。</a:t>
            </a:r>
          </a:p>
        </p:txBody>
      </p:sp>
      <p:cxnSp>
        <p:nvCxnSpPr>
          <p:cNvPr id="15" name="Connector 15"/>
          <p:cNvCxnSpPr/>
          <p:nvPr/>
        </p:nvCxnSpPr>
        <p:spPr>
          <a:xfrm rot="-5549373">
            <a:off x="8210550" y="2882762"/>
            <a:ext cx="292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9C6D1">
                <a:alpha val="64000"/>
              </a:srgbClr>
            </a:solidFill>
            <a:prstDash val="solid"/>
            <a:miter lim="4000000"/>
            <a:headEnd type="none" w="med" len="med"/>
            <a:tailEnd type="none" w="med" len="med"/>
          </a:ln>
        </p:spPr>
      </p:cxnSp>
      <p:sp>
        <p:nvSpPr>
          <p:cNvPr id="16" name="Freeform 16"/>
          <p:cNvSpPr/>
          <p:nvPr/>
        </p:nvSpPr>
        <p:spPr>
          <a:xfrm>
            <a:off x="8420100" y="2247900"/>
            <a:ext cx="338969" cy="338943"/>
          </a:xfrm>
          <a:custGeom>
            <a:avLst/>
            <a:gdLst/>
            <a:ahLst/>
            <a:cxnLst/>
            <a:rect l="l" t="t" r="r" b="b"/>
            <a:pathLst>
              <a:path w="338969" h="338943">
                <a:moveTo>
                  <a:pt x="169484" y="231093"/>
                </a:moveTo>
                <a:cubicBezTo>
                  <a:pt x="135447" y="231093"/>
                  <a:pt x="107859" y="203507"/>
                  <a:pt x="107859" y="169471"/>
                </a:cubicBezTo>
                <a:cubicBezTo>
                  <a:pt x="107859" y="135435"/>
                  <a:pt x="135447" y="107850"/>
                  <a:pt x="169484" y="107850"/>
                </a:cubicBezTo>
                <a:cubicBezTo>
                  <a:pt x="203523" y="107850"/>
                  <a:pt x="231111" y="135435"/>
                  <a:pt x="231111" y="169471"/>
                </a:cubicBezTo>
                <a:cubicBezTo>
                  <a:pt x="231111" y="203507"/>
                  <a:pt x="203523" y="231093"/>
                  <a:pt x="169484" y="231093"/>
                </a:cubicBezTo>
                <a:moveTo>
                  <a:pt x="169484" y="92441"/>
                </a:moveTo>
                <a:cubicBezTo>
                  <a:pt x="126925" y="92441"/>
                  <a:pt x="92447" y="126931"/>
                  <a:pt x="92447" y="169471"/>
                </a:cubicBezTo>
                <a:cubicBezTo>
                  <a:pt x="92447" y="212028"/>
                  <a:pt x="126925" y="246503"/>
                  <a:pt x="169484" y="246503"/>
                </a:cubicBezTo>
                <a:cubicBezTo>
                  <a:pt x="212044" y="246503"/>
                  <a:pt x="246521" y="212028"/>
                  <a:pt x="246521" y="169471"/>
                </a:cubicBezTo>
                <a:cubicBezTo>
                  <a:pt x="246521" y="126931"/>
                  <a:pt x="212044" y="92441"/>
                  <a:pt x="169484" y="92441"/>
                </a:cubicBezTo>
                <a:moveTo>
                  <a:pt x="323558" y="188506"/>
                </a:moveTo>
                <a:cubicBezTo>
                  <a:pt x="323496" y="188521"/>
                  <a:pt x="323449" y="188553"/>
                  <a:pt x="323386" y="188553"/>
                </a:cubicBezTo>
                <a:lnTo>
                  <a:pt x="307614" y="192507"/>
                </a:lnTo>
                <a:cubicBezTo>
                  <a:pt x="302185" y="193857"/>
                  <a:pt x="297917" y="198062"/>
                  <a:pt x="296473" y="203460"/>
                </a:cubicBezTo>
                <a:cubicBezTo>
                  <a:pt x="293506" y="214539"/>
                  <a:pt x="289081" y="225193"/>
                  <a:pt x="283307" y="235157"/>
                </a:cubicBezTo>
                <a:cubicBezTo>
                  <a:pt x="280481" y="240006"/>
                  <a:pt x="280528" y="246000"/>
                  <a:pt x="283416" y="250817"/>
                </a:cubicBezTo>
                <a:lnTo>
                  <a:pt x="291906" y="264956"/>
                </a:lnTo>
                <a:lnTo>
                  <a:pt x="264992" y="291868"/>
                </a:lnTo>
                <a:cubicBezTo>
                  <a:pt x="264930" y="291852"/>
                  <a:pt x="264866" y="291821"/>
                  <a:pt x="264819" y="291789"/>
                </a:cubicBezTo>
                <a:lnTo>
                  <a:pt x="250742" y="283347"/>
                </a:lnTo>
                <a:cubicBezTo>
                  <a:pt x="248295" y="281888"/>
                  <a:pt x="245565" y="281150"/>
                  <a:pt x="242818" y="281150"/>
                </a:cubicBezTo>
                <a:cubicBezTo>
                  <a:pt x="240166" y="281150"/>
                  <a:pt x="237498" y="281841"/>
                  <a:pt x="235113" y="283221"/>
                </a:cubicBezTo>
                <a:cubicBezTo>
                  <a:pt x="225163" y="288964"/>
                  <a:pt x="214539" y="293374"/>
                  <a:pt x="203507" y="296324"/>
                </a:cubicBezTo>
                <a:cubicBezTo>
                  <a:pt x="198109" y="297768"/>
                  <a:pt x="193902" y="302036"/>
                  <a:pt x="192537" y="307466"/>
                </a:cubicBezTo>
                <a:lnTo>
                  <a:pt x="188567" y="323361"/>
                </a:lnTo>
                <a:cubicBezTo>
                  <a:pt x="188552" y="323423"/>
                  <a:pt x="188535" y="323470"/>
                  <a:pt x="188505" y="323549"/>
                </a:cubicBezTo>
                <a:lnTo>
                  <a:pt x="150449" y="323549"/>
                </a:lnTo>
                <a:lnTo>
                  <a:pt x="146431" y="307466"/>
                </a:lnTo>
                <a:cubicBezTo>
                  <a:pt x="145066" y="302036"/>
                  <a:pt x="140861" y="297768"/>
                  <a:pt x="135462" y="296324"/>
                </a:cubicBezTo>
                <a:cubicBezTo>
                  <a:pt x="124430" y="293374"/>
                  <a:pt x="113789" y="288964"/>
                  <a:pt x="103840" y="283221"/>
                </a:cubicBezTo>
                <a:cubicBezTo>
                  <a:pt x="101455" y="281841"/>
                  <a:pt x="98803" y="281150"/>
                  <a:pt x="96152" y="281150"/>
                </a:cubicBezTo>
                <a:cubicBezTo>
                  <a:pt x="93389" y="281150"/>
                  <a:pt x="90659" y="281888"/>
                  <a:pt x="88210" y="283347"/>
                </a:cubicBezTo>
                <a:lnTo>
                  <a:pt x="74149" y="291789"/>
                </a:lnTo>
                <a:cubicBezTo>
                  <a:pt x="74102" y="291821"/>
                  <a:pt x="74040" y="291852"/>
                  <a:pt x="73976" y="291868"/>
                </a:cubicBezTo>
                <a:lnTo>
                  <a:pt x="47079" y="264956"/>
                </a:lnTo>
                <a:lnTo>
                  <a:pt x="55554" y="250817"/>
                </a:lnTo>
                <a:cubicBezTo>
                  <a:pt x="58440" y="246000"/>
                  <a:pt x="58487" y="240006"/>
                  <a:pt x="55679" y="235157"/>
                </a:cubicBezTo>
                <a:cubicBezTo>
                  <a:pt x="49888" y="225193"/>
                  <a:pt x="45462" y="214539"/>
                  <a:pt x="42497" y="203460"/>
                </a:cubicBezTo>
                <a:cubicBezTo>
                  <a:pt x="41053" y="198062"/>
                  <a:pt x="36769" y="193857"/>
                  <a:pt x="31355" y="192507"/>
                </a:cubicBezTo>
                <a:lnTo>
                  <a:pt x="15583" y="188553"/>
                </a:lnTo>
                <a:cubicBezTo>
                  <a:pt x="15521" y="188553"/>
                  <a:pt x="15474" y="188521"/>
                  <a:pt x="15410" y="188506"/>
                </a:cubicBezTo>
                <a:lnTo>
                  <a:pt x="15410" y="150438"/>
                </a:lnTo>
                <a:lnTo>
                  <a:pt x="31355" y="146451"/>
                </a:lnTo>
                <a:cubicBezTo>
                  <a:pt x="36769" y="145086"/>
                  <a:pt x="41053" y="140896"/>
                  <a:pt x="42497" y="135484"/>
                </a:cubicBezTo>
                <a:cubicBezTo>
                  <a:pt x="45462" y="124404"/>
                  <a:pt x="49888" y="113750"/>
                  <a:pt x="55679" y="103801"/>
                </a:cubicBezTo>
                <a:cubicBezTo>
                  <a:pt x="58487" y="98937"/>
                  <a:pt x="58440" y="92942"/>
                  <a:pt x="55554" y="88141"/>
                </a:cubicBezTo>
                <a:lnTo>
                  <a:pt x="47158" y="74144"/>
                </a:lnTo>
                <a:cubicBezTo>
                  <a:pt x="47142" y="74097"/>
                  <a:pt x="47111" y="74033"/>
                  <a:pt x="47079" y="73986"/>
                </a:cubicBezTo>
                <a:lnTo>
                  <a:pt x="73993" y="47075"/>
                </a:lnTo>
                <a:lnTo>
                  <a:pt x="88210" y="55612"/>
                </a:lnTo>
                <a:cubicBezTo>
                  <a:pt x="90659" y="57056"/>
                  <a:pt x="93389" y="57793"/>
                  <a:pt x="96152" y="57793"/>
                </a:cubicBezTo>
                <a:cubicBezTo>
                  <a:pt x="98803" y="57793"/>
                  <a:pt x="101455" y="57103"/>
                  <a:pt x="103857" y="55721"/>
                </a:cubicBezTo>
                <a:cubicBezTo>
                  <a:pt x="113789" y="49978"/>
                  <a:pt x="124430" y="45569"/>
                  <a:pt x="135462" y="42635"/>
                </a:cubicBezTo>
                <a:cubicBezTo>
                  <a:pt x="140861" y="41175"/>
                  <a:pt x="145066" y="36923"/>
                  <a:pt x="146431" y="31493"/>
                </a:cubicBezTo>
                <a:lnTo>
                  <a:pt x="150449" y="15409"/>
                </a:lnTo>
                <a:lnTo>
                  <a:pt x="188505" y="15409"/>
                </a:lnTo>
                <a:cubicBezTo>
                  <a:pt x="188535" y="15472"/>
                  <a:pt x="188552" y="15519"/>
                  <a:pt x="188567" y="15582"/>
                </a:cubicBezTo>
                <a:lnTo>
                  <a:pt x="192537" y="31493"/>
                </a:lnTo>
                <a:cubicBezTo>
                  <a:pt x="193902" y="36923"/>
                  <a:pt x="198109" y="41175"/>
                  <a:pt x="203507" y="42635"/>
                </a:cubicBezTo>
                <a:cubicBezTo>
                  <a:pt x="214539" y="45569"/>
                  <a:pt x="225163" y="49978"/>
                  <a:pt x="235113" y="55721"/>
                </a:cubicBezTo>
                <a:cubicBezTo>
                  <a:pt x="237498" y="57103"/>
                  <a:pt x="240166" y="57793"/>
                  <a:pt x="242818" y="57793"/>
                </a:cubicBezTo>
                <a:cubicBezTo>
                  <a:pt x="245565" y="57793"/>
                  <a:pt x="248295" y="57056"/>
                  <a:pt x="250742" y="55612"/>
                </a:cubicBezTo>
                <a:lnTo>
                  <a:pt x="264961" y="47075"/>
                </a:lnTo>
                <a:lnTo>
                  <a:pt x="291890" y="73986"/>
                </a:lnTo>
                <a:cubicBezTo>
                  <a:pt x="291859" y="74033"/>
                  <a:pt x="291843" y="74097"/>
                  <a:pt x="291812" y="74159"/>
                </a:cubicBezTo>
                <a:lnTo>
                  <a:pt x="283416" y="88125"/>
                </a:lnTo>
                <a:cubicBezTo>
                  <a:pt x="280528" y="92942"/>
                  <a:pt x="280481" y="98937"/>
                  <a:pt x="283307" y="103801"/>
                </a:cubicBezTo>
                <a:cubicBezTo>
                  <a:pt x="289081" y="113750"/>
                  <a:pt x="293506" y="124404"/>
                  <a:pt x="296473" y="135484"/>
                </a:cubicBezTo>
                <a:cubicBezTo>
                  <a:pt x="297917" y="140896"/>
                  <a:pt x="302185" y="145086"/>
                  <a:pt x="307614" y="146451"/>
                </a:cubicBezTo>
                <a:lnTo>
                  <a:pt x="323558" y="150438"/>
                </a:lnTo>
                <a:cubicBezTo>
                  <a:pt x="323558" y="150438"/>
                  <a:pt x="323558" y="188506"/>
                  <a:pt x="323558" y="188506"/>
                </a:cubicBezTo>
                <a:close/>
                <a:moveTo>
                  <a:pt x="327670" y="135593"/>
                </a:moveTo>
                <a:lnTo>
                  <a:pt x="311365" y="131497"/>
                </a:lnTo>
                <a:cubicBezTo>
                  <a:pt x="307992" y="118944"/>
                  <a:pt x="303000" y="107050"/>
                  <a:pt x="296629" y="96065"/>
                </a:cubicBezTo>
                <a:lnTo>
                  <a:pt x="305308" y="81598"/>
                </a:lnTo>
                <a:cubicBezTo>
                  <a:pt x="307975" y="76435"/>
                  <a:pt x="309717" y="70033"/>
                  <a:pt x="305308" y="65623"/>
                </a:cubicBezTo>
                <a:lnTo>
                  <a:pt x="273356" y="33659"/>
                </a:lnTo>
                <a:cubicBezTo>
                  <a:pt x="271363" y="31666"/>
                  <a:pt x="268915" y="30897"/>
                  <a:pt x="266389" y="30897"/>
                </a:cubicBezTo>
                <a:cubicBezTo>
                  <a:pt x="263298" y="30897"/>
                  <a:pt x="260064" y="32059"/>
                  <a:pt x="257366" y="33659"/>
                </a:cubicBezTo>
                <a:lnTo>
                  <a:pt x="242818" y="42399"/>
                </a:lnTo>
                <a:cubicBezTo>
                  <a:pt x="231864" y="36060"/>
                  <a:pt x="220016" y="31101"/>
                  <a:pt x="207493" y="27743"/>
                </a:cubicBezTo>
                <a:lnTo>
                  <a:pt x="203382" y="11298"/>
                </a:lnTo>
                <a:cubicBezTo>
                  <a:pt x="201624" y="5759"/>
                  <a:pt x="198328" y="0"/>
                  <a:pt x="192082" y="0"/>
                </a:cubicBezTo>
                <a:lnTo>
                  <a:pt x="146887" y="0"/>
                </a:lnTo>
                <a:cubicBezTo>
                  <a:pt x="140641" y="0"/>
                  <a:pt x="137000" y="5759"/>
                  <a:pt x="135588" y="11298"/>
                </a:cubicBezTo>
                <a:lnTo>
                  <a:pt x="131475" y="27743"/>
                </a:lnTo>
                <a:cubicBezTo>
                  <a:pt x="118953" y="31101"/>
                  <a:pt x="107104" y="36060"/>
                  <a:pt x="96152" y="42399"/>
                </a:cubicBezTo>
                <a:lnTo>
                  <a:pt x="81604" y="33659"/>
                </a:lnTo>
                <a:cubicBezTo>
                  <a:pt x="78904" y="32059"/>
                  <a:pt x="75672" y="30897"/>
                  <a:pt x="72580" y="30897"/>
                </a:cubicBezTo>
                <a:cubicBezTo>
                  <a:pt x="70053" y="30897"/>
                  <a:pt x="67606" y="31666"/>
                  <a:pt x="65612" y="33659"/>
                </a:cubicBezTo>
                <a:lnTo>
                  <a:pt x="33661" y="65623"/>
                </a:lnTo>
                <a:cubicBezTo>
                  <a:pt x="29252" y="70033"/>
                  <a:pt x="30993" y="76435"/>
                  <a:pt x="33661" y="81598"/>
                </a:cubicBezTo>
                <a:lnTo>
                  <a:pt x="42339" y="96065"/>
                </a:lnTo>
                <a:cubicBezTo>
                  <a:pt x="35969" y="107050"/>
                  <a:pt x="30963" y="118944"/>
                  <a:pt x="27603" y="131497"/>
                </a:cubicBezTo>
                <a:lnTo>
                  <a:pt x="11299" y="135593"/>
                </a:lnTo>
                <a:cubicBezTo>
                  <a:pt x="5759" y="136990"/>
                  <a:pt x="0" y="140646"/>
                  <a:pt x="0" y="146876"/>
                </a:cubicBezTo>
                <a:lnTo>
                  <a:pt x="0" y="192067"/>
                </a:lnTo>
                <a:cubicBezTo>
                  <a:pt x="0" y="198313"/>
                  <a:pt x="5759" y="201609"/>
                  <a:pt x="11299" y="203366"/>
                </a:cubicBezTo>
                <a:lnTo>
                  <a:pt x="27603" y="207446"/>
                </a:lnTo>
                <a:cubicBezTo>
                  <a:pt x="30963" y="220015"/>
                  <a:pt x="35969" y="231893"/>
                  <a:pt x="42339" y="242877"/>
                </a:cubicBezTo>
                <a:lnTo>
                  <a:pt x="33661" y="257345"/>
                </a:lnTo>
                <a:cubicBezTo>
                  <a:pt x="30743" y="262273"/>
                  <a:pt x="29252" y="268911"/>
                  <a:pt x="33661" y="273336"/>
                </a:cubicBezTo>
                <a:lnTo>
                  <a:pt x="65612" y="305284"/>
                </a:lnTo>
                <a:cubicBezTo>
                  <a:pt x="67559" y="307230"/>
                  <a:pt x="69897" y="307983"/>
                  <a:pt x="72344" y="307983"/>
                </a:cubicBezTo>
                <a:cubicBezTo>
                  <a:pt x="75437" y="307983"/>
                  <a:pt x="78716" y="306775"/>
                  <a:pt x="81604" y="305284"/>
                </a:cubicBezTo>
                <a:lnTo>
                  <a:pt x="96152" y="296559"/>
                </a:lnTo>
                <a:cubicBezTo>
                  <a:pt x="107104" y="302884"/>
                  <a:pt x="118953" y="307858"/>
                  <a:pt x="131475" y="311200"/>
                </a:cubicBezTo>
                <a:lnTo>
                  <a:pt x="135588" y="327645"/>
                </a:lnTo>
                <a:cubicBezTo>
                  <a:pt x="137000" y="333184"/>
                  <a:pt x="140641" y="338943"/>
                  <a:pt x="146887" y="338943"/>
                </a:cubicBezTo>
                <a:lnTo>
                  <a:pt x="192082" y="338943"/>
                </a:lnTo>
                <a:cubicBezTo>
                  <a:pt x="198328" y="338943"/>
                  <a:pt x="201624" y="333184"/>
                  <a:pt x="203382" y="327645"/>
                </a:cubicBezTo>
                <a:lnTo>
                  <a:pt x="207493" y="311200"/>
                </a:lnTo>
                <a:cubicBezTo>
                  <a:pt x="220016" y="307858"/>
                  <a:pt x="231864" y="302884"/>
                  <a:pt x="242818" y="296559"/>
                </a:cubicBezTo>
                <a:lnTo>
                  <a:pt x="257366" y="305284"/>
                </a:lnTo>
                <a:cubicBezTo>
                  <a:pt x="260253" y="306775"/>
                  <a:pt x="263533" y="307983"/>
                  <a:pt x="266624" y="307983"/>
                </a:cubicBezTo>
                <a:cubicBezTo>
                  <a:pt x="269072" y="307983"/>
                  <a:pt x="271395" y="307230"/>
                  <a:pt x="273356" y="305284"/>
                </a:cubicBezTo>
                <a:lnTo>
                  <a:pt x="305308" y="273336"/>
                </a:lnTo>
                <a:cubicBezTo>
                  <a:pt x="309717" y="268911"/>
                  <a:pt x="308226" y="262273"/>
                  <a:pt x="305308" y="257345"/>
                </a:cubicBezTo>
                <a:lnTo>
                  <a:pt x="296629" y="242877"/>
                </a:lnTo>
                <a:cubicBezTo>
                  <a:pt x="303000" y="231893"/>
                  <a:pt x="307992" y="220015"/>
                  <a:pt x="311365" y="207446"/>
                </a:cubicBezTo>
                <a:lnTo>
                  <a:pt x="327670" y="203366"/>
                </a:lnTo>
                <a:cubicBezTo>
                  <a:pt x="333210" y="201609"/>
                  <a:pt x="338969" y="198313"/>
                  <a:pt x="338969" y="192067"/>
                </a:cubicBezTo>
                <a:lnTo>
                  <a:pt x="338969" y="146876"/>
                </a:lnTo>
                <a:cubicBezTo>
                  <a:pt x="338969" y="140646"/>
                  <a:pt x="333210" y="136990"/>
                  <a:pt x="327670" y="135593"/>
                </a:cubicBezTo>
              </a:path>
            </a:pathLst>
          </a:custGeom>
          <a:gradFill rotWithShape="0">
            <a:gsLst>
              <a:gs pos="0">
                <a:srgbClr val="5E9F9B">
                  <a:alpha val="100000"/>
                </a:srgbClr>
              </a:gs>
              <a:gs pos="100000">
                <a:srgbClr val="42BA97">
                  <a:alpha val="100000"/>
                </a:srgbClr>
              </a:gs>
            </a:gsLst>
            <a:lin ang="1776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420100" y="2705100"/>
            <a:ext cx="1714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50800" rIns="254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BACE3"/>
                </a:solidFill>
                <a:latin typeface="微软雅黑"/>
                <a:ea typeface="微软雅黑"/>
                <a:cs typeface="微软雅黑"/>
                <a:sym typeface="微软雅黑"/>
              </a:rPr>
              <a:t>02 教师压力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“批阅重、难精准”。单份病历批改耗时30+分钟，教学临床双重承压，且无法透视学生思维盲区，指导低效。</a:t>
            </a:r>
          </a:p>
        </p:txBody>
      </p:sp>
      <p:cxnSp>
        <p:nvCxnSpPr>
          <p:cNvPr id="18" name="Connector 18"/>
          <p:cNvCxnSpPr/>
          <p:nvPr/>
        </p:nvCxnSpPr>
        <p:spPr>
          <a:xfrm rot="-5549373">
            <a:off x="10077450" y="2882762"/>
            <a:ext cx="292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9C6D1">
                <a:alpha val="64000"/>
              </a:srgbClr>
            </a:solidFill>
            <a:prstDash val="solid"/>
            <a:miter lim="4000000"/>
            <a:headEnd type="none" w="med" len="med"/>
            <a:tailEnd type="none" w="med" len="med"/>
          </a:ln>
        </p:spPr>
      </p:cxnSp>
      <p:sp>
        <p:nvSpPr>
          <p:cNvPr id="19" name="Freeform 19"/>
          <p:cNvSpPr/>
          <p:nvPr/>
        </p:nvSpPr>
        <p:spPr>
          <a:xfrm>
            <a:off x="10287000" y="2286000"/>
            <a:ext cx="338971" cy="308145"/>
          </a:xfrm>
          <a:custGeom>
            <a:avLst/>
            <a:gdLst/>
            <a:ahLst/>
            <a:cxnLst/>
            <a:rect l="l" t="t" r="r" b="b"/>
            <a:pathLst>
              <a:path w="338971" h="308145">
                <a:moveTo>
                  <a:pt x="269638" y="177183"/>
                </a:moveTo>
                <a:cubicBezTo>
                  <a:pt x="256864" y="177183"/>
                  <a:pt x="246522" y="166826"/>
                  <a:pt x="246522" y="154073"/>
                </a:cubicBezTo>
                <a:cubicBezTo>
                  <a:pt x="246522" y="141319"/>
                  <a:pt x="256864" y="130961"/>
                  <a:pt x="269638" y="130961"/>
                </a:cubicBezTo>
                <a:cubicBezTo>
                  <a:pt x="282396" y="130961"/>
                  <a:pt x="292754" y="141319"/>
                  <a:pt x="292754" y="154073"/>
                </a:cubicBezTo>
                <a:cubicBezTo>
                  <a:pt x="292754" y="166826"/>
                  <a:pt x="282396" y="177183"/>
                  <a:pt x="269638" y="177183"/>
                </a:cubicBezTo>
                <a:moveTo>
                  <a:pt x="331264" y="146369"/>
                </a:moveTo>
                <a:lnTo>
                  <a:pt x="307379" y="146369"/>
                </a:lnTo>
                <a:cubicBezTo>
                  <a:pt x="303817" y="128793"/>
                  <a:pt x="288266" y="115555"/>
                  <a:pt x="269638" y="115555"/>
                </a:cubicBezTo>
                <a:cubicBezTo>
                  <a:pt x="250995" y="115555"/>
                  <a:pt x="235458" y="128793"/>
                  <a:pt x="231896" y="146369"/>
                </a:cubicBezTo>
                <a:lnTo>
                  <a:pt x="7705" y="146369"/>
                </a:lnTo>
                <a:cubicBezTo>
                  <a:pt x="3452" y="146369"/>
                  <a:pt x="0" y="149821"/>
                  <a:pt x="0" y="154073"/>
                </a:cubicBezTo>
                <a:cubicBezTo>
                  <a:pt x="0" y="158323"/>
                  <a:pt x="3452" y="161776"/>
                  <a:pt x="7705" y="161776"/>
                </a:cubicBezTo>
                <a:lnTo>
                  <a:pt x="231896" y="161776"/>
                </a:lnTo>
                <a:cubicBezTo>
                  <a:pt x="235458" y="179352"/>
                  <a:pt x="250995" y="192590"/>
                  <a:pt x="269638" y="192590"/>
                </a:cubicBezTo>
                <a:cubicBezTo>
                  <a:pt x="288266" y="192590"/>
                  <a:pt x="303817" y="179352"/>
                  <a:pt x="307379" y="161776"/>
                </a:cubicBezTo>
                <a:lnTo>
                  <a:pt x="331264" y="161776"/>
                </a:lnTo>
                <a:cubicBezTo>
                  <a:pt x="335517" y="161776"/>
                  <a:pt x="338971" y="158323"/>
                  <a:pt x="338971" y="154073"/>
                </a:cubicBezTo>
                <a:cubicBezTo>
                  <a:pt x="338971" y="149821"/>
                  <a:pt x="335517" y="146369"/>
                  <a:pt x="331264" y="146369"/>
                </a:cubicBezTo>
                <a:moveTo>
                  <a:pt x="84742" y="15408"/>
                </a:moveTo>
                <a:cubicBezTo>
                  <a:pt x="97517" y="15408"/>
                  <a:pt x="107859" y="25764"/>
                  <a:pt x="107859" y="38518"/>
                </a:cubicBezTo>
                <a:cubicBezTo>
                  <a:pt x="107859" y="51286"/>
                  <a:pt x="97517" y="61629"/>
                  <a:pt x="84742" y="61629"/>
                </a:cubicBezTo>
                <a:cubicBezTo>
                  <a:pt x="71968" y="61629"/>
                  <a:pt x="61627" y="51286"/>
                  <a:pt x="61627" y="38518"/>
                </a:cubicBezTo>
                <a:cubicBezTo>
                  <a:pt x="61627" y="25764"/>
                  <a:pt x="71968" y="15408"/>
                  <a:pt x="84742" y="15408"/>
                </a:cubicBezTo>
                <a:moveTo>
                  <a:pt x="7705" y="46222"/>
                </a:moveTo>
                <a:lnTo>
                  <a:pt x="47000" y="46222"/>
                </a:lnTo>
                <a:cubicBezTo>
                  <a:pt x="50563" y="63797"/>
                  <a:pt x="66115" y="77036"/>
                  <a:pt x="84742" y="77036"/>
                </a:cubicBezTo>
                <a:cubicBezTo>
                  <a:pt x="103370" y="77036"/>
                  <a:pt x="118922" y="63797"/>
                  <a:pt x="122484" y="46222"/>
                </a:cubicBezTo>
                <a:lnTo>
                  <a:pt x="331264" y="46222"/>
                </a:lnTo>
                <a:cubicBezTo>
                  <a:pt x="335517" y="46222"/>
                  <a:pt x="338971" y="42784"/>
                  <a:pt x="338971" y="38518"/>
                </a:cubicBezTo>
                <a:cubicBezTo>
                  <a:pt x="338971" y="34267"/>
                  <a:pt x="335517" y="30814"/>
                  <a:pt x="331264" y="30814"/>
                </a:cubicBezTo>
                <a:lnTo>
                  <a:pt x="122484" y="30814"/>
                </a:lnTo>
                <a:cubicBezTo>
                  <a:pt x="118922" y="13238"/>
                  <a:pt x="103370" y="0"/>
                  <a:pt x="84742" y="0"/>
                </a:cubicBezTo>
                <a:cubicBezTo>
                  <a:pt x="66115" y="0"/>
                  <a:pt x="50563" y="13238"/>
                  <a:pt x="47000" y="30814"/>
                </a:cubicBezTo>
                <a:lnTo>
                  <a:pt x="7705" y="30814"/>
                </a:lnTo>
                <a:cubicBezTo>
                  <a:pt x="3452" y="30814"/>
                  <a:pt x="0" y="34267"/>
                  <a:pt x="0" y="38518"/>
                </a:cubicBezTo>
                <a:cubicBezTo>
                  <a:pt x="0" y="42784"/>
                  <a:pt x="3452" y="46222"/>
                  <a:pt x="7705" y="46222"/>
                </a:cubicBezTo>
                <a:moveTo>
                  <a:pt x="146369" y="292724"/>
                </a:moveTo>
                <a:cubicBezTo>
                  <a:pt x="133610" y="292724"/>
                  <a:pt x="123269" y="282381"/>
                  <a:pt x="123269" y="269612"/>
                </a:cubicBezTo>
                <a:cubicBezTo>
                  <a:pt x="123269" y="256859"/>
                  <a:pt x="133610" y="246502"/>
                  <a:pt x="146369" y="246502"/>
                </a:cubicBezTo>
                <a:cubicBezTo>
                  <a:pt x="159144" y="246502"/>
                  <a:pt x="169485" y="256859"/>
                  <a:pt x="169485" y="269612"/>
                </a:cubicBezTo>
                <a:cubicBezTo>
                  <a:pt x="169485" y="282381"/>
                  <a:pt x="159144" y="292724"/>
                  <a:pt x="146369" y="292724"/>
                </a:cubicBezTo>
                <a:moveTo>
                  <a:pt x="331264" y="261910"/>
                </a:moveTo>
                <a:lnTo>
                  <a:pt x="184111" y="261910"/>
                </a:lnTo>
                <a:cubicBezTo>
                  <a:pt x="180548" y="244333"/>
                  <a:pt x="165012" y="231094"/>
                  <a:pt x="146369" y="231094"/>
                </a:cubicBezTo>
                <a:cubicBezTo>
                  <a:pt x="127742" y="231094"/>
                  <a:pt x="112206" y="244333"/>
                  <a:pt x="108627" y="261910"/>
                </a:cubicBezTo>
                <a:lnTo>
                  <a:pt x="7705" y="261910"/>
                </a:lnTo>
                <a:cubicBezTo>
                  <a:pt x="3452" y="261910"/>
                  <a:pt x="0" y="265361"/>
                  <a:pt x="0" y="269612"/>
                </a:cubicBezTo>
                <a:cubicBezTo>
                  <a:pt x="0" y="273878"/>
                  <a:pt x="3452" y="277316"/>
                  <a:pt x="7705" y="277316"/>
                </a:cubicBezTo>
                <a:lnTo>
                  <a:pt x="108627" y="277316"/>
                </a:lnTo>
                <a:cubicBezTo>
                  <a:pt x="112206" y="294907"/>
                  <a:pt x="127742" y="308145"/>
                  <a:pt x="146369" y="308145"/>
                </a:cubicBezTo>
                <a:cubicBezTo>
                  <a:pt x="165012" y="308145"/>
                  <a:pt x="180548" y="294907"/>
                  <a:pt x="184111" y="277316"/>
                </a:cubicBezTo>
                <a:lnTo>
                  <a:pt x="331264" y="277316"/>
                </a:lnTo>
                <a:cubicBezTo>
                  <a:pt x="335517" y="277316"/>
                  <a:pt x="338971" y="273878"/>
                  <a:pt x="338971" y="269612"/>
                </a:cubicBezTo>
                <a:cubicBezTo>
                  <a:pt x="338971" y="265361"/>
                  <a:pt x="335517" y="261910"/>
                  <a:pt x="331264" y="261910"/>
                </a:cubicBezTo>
              </a:path>
            </a:pathLst>
          </a:custGeom>
          <a:gradFill rotWithShape="0">
            <a:gsLst>
              <a:gs pos="0">
                <a:srgbClr val="5E9F9B">
                  <a:alpha val="100000"/>
                </a:srgbClr>
              </a:gs>
              <a:gs pos="100000">
                <a:srgbClr val="42BA97">
                  <a:alpha val="100000"/>
                </a:srgbClr>
              </a:gs>
            </a:gsLst>
            <a:lin ang="1776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287000" y="2705100"/>
            <a:ext cx="1714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50800" rIns="254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BACE3"/>
                </a:solidFill>
                <a:latin typeface="微软雅黑"/>
                <a:ea typeface="微软雅黑"/>
                <a:cs typeface="微软雅黑"/>
                <a:sym typeface="微软雅黑"/>
              </a:rPr>
              <a:t>03 管理盲区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“缺数据、难闭环”。缺乏多维度学情数据支撑，教学干预依赖经验主义，无法形成科学的决策与改进闭环。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553200" y="4191000"/>
            <a:ext cx="1714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25400" rIns="25400" bIns="254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成本高昂：</a:t>
            </a:r>
            <a:r>
              <a:rPr lang="en-US" sz="1100" b="0" i="0" u="none" strike="noStrike" dirty="0" err="1">
                <a:solidFill>
                  <a:srgbClr val="B5B8B7"/>
                </a:solidFill>
                <a:latin typeface="微软雅黑"/>
                <a:ea typeface="微软雅黑"/>
                <a:cs typeface="微软雅黑"/>
                <a:sym typeface="微软雅黑"/>
              </a:rPr>
              <a:t>单次培训</a:t>
            </a:r>
            <a:r>
              <a:rPr lang="zh-CN" altLang="en-US" sz="1100" b="0" i="0" u="none" strike="noStrike" dirty="0">
                <a:solidFill>
                  <a:srgbClr val="B5B8B7"/>
                </a:solidFill>
                <a:latin typeface="微软雅黑"/>
                <a:ea typeface="微软雅黑"/>
                <a:cs typeface="微软雅黑"/>
                <a:sym typeface="微软雅黑"/>
              </a:rPr>
              <a:t>费用不低，</a:t>
            </a:r>
            <a:r>
              <a:rPr lang="en-US" sz="1100" b="0" i="0" u="none" strike="noStrike" dirty="0" err="1">
                <a:solidFill>
                  <a:srgbClr val="B5B8B7"/>
                </a:solidFill>
                <a:latin typeface="微软雅黑"/>
                <a:ea typeface="微软雅黑"/>
                <a:cs typeface="微软雅黑"/>
                <a:sym typeface="微软雅黑"/>
              </a:rPr>
              <a:t>难以高频开展</a:t>
            </a:r>
            <a:r>
              <a:rPr lang="en-US" sz="1100" b="0" i="0" u="none" strike="noStrike" dirty="0">
                <a:solidFill>
                  <a:srgbClr val="B5B8B7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8420100" y="4191000"/>
            <a:ext cx="1714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25400" rIns="25400" bIns="254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效率低下：</a:t>
            </a:r>
            <a:r>
              <a:rPr lang="en-US" sz="1100" b="0" i="0" u="none" strike="noStrike" dirty="0">
                <a:solidFill>
                  <a:srgbClr val="B5B8B7"/>
                </a:solidFill>
                <a:latin typeface="微软雅黑"/>
                <a:ea typeface="微软雅黑"/>
                <a:cs typeface="微软雅黑"/>
                <a:sym typeface="微软雅黑"/>
              </a:rPr>
              <a:t>人均单日批改量不足5份，时间成本极高。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10287000" y="4191000"/>
            <a:ext cx="1714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25400" rIns="25400" bIns="254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决策缺失：</a:t>
            </a:r>
            <a:r>
              <a:rPr lang="en-US" sz="1100" b="0" i="0" u="none" strike="noStrike" dirty="0" err="1">
                <a:solidFill>
                  <a:srgbClr val="B5B8B7"/>
                </a:solidFill>
                <a:latin typeface="微软雅黑"/>
                <a:ea typeface="微软雅黑"/>
                <a:cs typeface="微软雅黑"/>
                <a:sym typeface="微软雅黑"/>
              </a:rPr>
              <a:t>依赖主观经验，无过程数据支撑优化</a:t>
            </a:r>
            <a:r>
              <a:rPr lang="en-US" sz="1100" b="0" i="0" u="none" strike="noStrike" dirty="0">
                <a:solidFill>
                  <a:srgbClr val="B5B8B7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</p:txBody>
      </p:sp>
      <p:cxnSp>
        <p:nvCxnSpPr>
          <p:cNvPr id="24" name="Connector 24"/>
          <p:cNvCxnSpPr/>
          <p:nvPr/>
        </p:nvCxnSpPr>
        <p:spPr>
          <a:xfrm rot="-8013">
            <a:off x="6553207" y="5073650"/>
            <a:ext cx="54483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BACE3">
                <a:alpha val="3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553200" y="5270500"/>
            <a:ext cx="5397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BACE3"/>
                </a:solidFill>
                <a:latin typeface="微软雅黑"/>
                <a:ea typeface="微软雅黑"/>
                <a:cs typeface="微软雅黑"/>
                <a:sym typeface="微软雅黑"/>
              </a:rPr>
              <a:t>总结与展望：</a:t>
            </a:r>
            <a:r>
              <a:rPr lang="en-US" sz="1200" b="0" i="0" u="none" strike="noStrike">
                <a:solidFill>
                  <a:srgbClr val="DCDCDC"/>
                </a:solidFill>
                <a:latin typeface="微软雅黑"/>
                <a:ea typeface="微软雅黑"/>
                <a:cs typeface="微软雅黑"/>
                <a:sym typeface="微软雅黑"/>
              </a:rPr>
              <a:t>传统医学教育模式的痛点本质是“信息不对称”与“资源利用率低”。引入数字化、智能化工具，实现低成本高频实践、数据化教学评估与闭环管理，是突破当前困境的关键路径。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65900" y="279400"/>
            <a:ext cx="8001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1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EDUCATION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10771822">
            <a:off x="6603974" y="527050"/>
            <a:ext cx="1549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C9C9">
                <a:alpha val="28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8" name="Connector 28"/>
          <p:cNvCxnSpPr/>
          <p:nvPr/>
        </p:nvCxnSpPr>
        <p:spPr>
          <a:xfrm rot="10473027">
            <a:off x="6603698" y="533407"/>
            <a:ext cx="26700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CDD6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 rot="10800000" flipV="1">
            <a:off x="8051800" y="355600"/>
            <a:ext cx="101600" cy="101600"/>
          </a:xfrm>
          <a:prstGeom prst="plus">
            <a:avLst>
              <a:gd name="adj" fmla="val 37500"/>
            </a:avLst>
          </a:prstGeom>
          <a:solidFill>
            <a:srgbClr val="27CDD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84900" y="5372100"/>
            <a:ext cx="6032500" cy="16256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27CDD6">
                  <a:alpha val="100000"/>
                </a:srgbClr>
              </a:gs>
              <a:gs pos="100000">
                <a:srgbClr val="2080C3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-1380000">
            <a:off x="8623300" y="3429000"/>
            <a:ext cx="4508500" cy="4279900"/>
          </a:xfrm>
          <a:prstGeom prst="roundRect">
            <a:avLst>
              <a:gd name="adj" fmla="val 0"/>
            </a:avLst>
          </a:prstGeom>
          <a:blipFill rotWithShape="1">
            <a:blip r:embed="rId3">
              <a:alphaModFix amt="22000"/>
            </a:blip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12700" y="0"/>
            <a:ext cx="6032500" cy="16256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27CDD6">
                  <a:alpha val="100000"/>
                </a:srgbClr>
              </a:gs>
              <a:gs pos="100000">
                <a:srgbClr val="2080C3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9300000">
            <a:off x="-647700" y="-635000"/>
            <a:ext cx="4508500" cy="4279900"/>
          </a:xfrm>
          <a:prstGeom prst="roundRect">
            <a:avLst>
              <a:gd name="adj" fmla="val 0"/>
            </a:avLst>
          </a:prstGeom>
          <a:blipFill rotWithShape="1">
            <a:blip r:embed="rId3">
              <a:alphaModFix amt="22000"/>
            </a:blip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73100" y="647700"/>
            <a:ext cx="10871200" cy="5562600"/>
          </a:xfrm>
          <a:prstGeom prst="roundRect">
            <a:avLst>
              <a:gd name="adj" fmla="val 0"/>
            </a:avLst>
          </a:prstGeom>
          <a:solidFill>
            <a:srgbClr val="5C5C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102600" y="17272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AI重塑医学教育新机遇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 rot="5400000">
            <a:off x="8178800" y="1079500"/>
            <a:ext cx="228600" cy="228600"/>
          </a:xfrm>
          <a:prstGeom prst="rtTriangle">
            <a:avLst/>
          </a:prstGeom>
          <a:solidFill>
            <a:srgbClr val="27CDD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l="7515" r="7515"/>
          <a:stretch>
            <a:fillRect/>
          </a:stretch>
        </p:blipFill>
        <p:spPr>
          <a:xfrm>
            <a:off x="1054100" y="1016000"/>
            <a:ext cx="33528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1054100" y="3784600"/>
            <a:ext cx="3352800" cy="2032000"/>
          </a:xfrm>
          <a:prstGeom prst="roundRect">
            <a:avLst>
              <a:gd name="adj" fmla="val 0"/>
            </a:avLst>
          </a:prstGeom>
          <a:solidFill>
            <a:srgbClr val="2D2D2D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81100" y="3937000"/>
            <a:ext cx="3098800" cy="8283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 dirty="0" err="1">
                <a:solidFill>
                  <a:srgbClr val="27CDD6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微软雅黑"/>
                <a:sym typeface="微软雅黑"/>
              </a:rPr>
              <a:t>关键词图谱洞察</a:t>
            </a:r>
            <a:endParaRPr lang="en-US" sz="105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50" b="0" i="0" u="none" strike="noStrike" dirty="0" err="1">
                <a:solidFill>
                  <a:srgbClr val="EBEBEB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Noto Sans SC"/>
                <a:sym typeface="Noto Sans SC"/>
              </a:rPr>
              <a:t>图谱展示了人工智能、自然语言处理与医学教育的深度关联，涵盖学术诚信、医疗素养等核心维度，揭示了技术融合的广泛影响</a:t>
            </a:r>
            <a:r>
              <a:rPr lang="en-US" sz="1050" b="0" i="0" u="none" strike="noStrike" dirty="0">
                <a:solidFill>
                  <a:srgbClr val="EBEBEB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Noto Sans SC"/>
                <a:sym typeface="Noto Sans SC"/>
              </a:rPr>
              <a:t>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406900" y="1016000"/>
            <a:ext cx="3352800" cy="4800600"/>
          </a:xfrm>
          <a:prstGeom prst="roundRect">
            <a:avLst>
              <a:gd name="adj" fmla="val 0"/>
            </a:avLst>
          </a:prstGeom>
          <a:solidFill>
            <a:srgbClr val="3737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533900" y="1143000"/>
            <a:ext cx="3098800" cy="454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27000" rIns="101600" bIns="1270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7CDD6"/>
                </a:solidFill>
                <a:latin typeface="微软雅黑"/>
                <a:ea typeface="微软雅黑"/>
                <a:cs typeface="微软雅黑"/>
                <a:sym typeface="微软雅黑"/>
              </a:rPr>
              <a:t>01. 大模型构建沉浸式虚拟病房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依托大语言模型(LLM)与多模态技术，AI可扮演高仿真虚拟病人，实现自然语言交互。学生能获得无限次临床练习机会，打破传统教学资源稀缺的限制，打造“低成本、沉浸式、可溯源”的全新教学场景。</a:t>
            </a:r>
          </a:p>
          <a:p>
            <a:pPr marL="0" indent="0" algn="l">
              <a:lnSpc>
                <a:spcPct val="125000"/>
              </a:lnSpc>
            </a:pP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6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27CDD6"/>
                </a:solidFill>
                <a:latin typeface="微软雅黑"/>
                <a:ea typeface="微软雅黑"/>
                <a:cs typeface="微软雅黑"/>
                <a:sym typeface="微软雅黑"/>
              </a:rPr>
              <a:t>02. RAG技术筑牢医学严谨性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引入检索增强生成(RAG)技术，锚定权威医学知识库，让AI反馈有据可查。从根本上终结通用大模型的“幻觉”问题，确保医学教学内容的专业性与准确性，为临床决策提供可靠的技术支撑。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255000" y="2565400"/>
            <a:ext cx="29591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AI技术正以颠覆性的方式重构医学教育体系。从模拟真实诊疗的虚拟病人到有据可依的智能导师，技术不仅拓展了教学边界，更重新定义了医学人才培养的效率与质量。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53400" y="4445000"/>
            <a:ext cx="1092200" cy="266700"/>
          </a:xfrm>
          <a:prstGeom prst="roundRect">
            <a:avLst>
              <a:gd name="adj" fmla="val 28571"/>
            </a:avLst>
          </a:prstGeom>
          <a:gradFill rotWithShape="0">
            <a:gsLst>
              <a:gs pos="0">
                <a:srgbClr val="1BACE3">
                  <a:alpha val="100000"/>
                </a:srgbClr>
              </a:gs>
              <a:gs pos="100000">
                <a:srgbClr val="186092">
                  <a:alpha val="100000"/>
                </a:srgbClr>
              </a:gs>
            </a:gsLst>
            <a:lin ang="36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318500" y="4483100"/>
            <a:ext cx="7620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25400" tIns="25400" rIns="25400" bIns="254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000" b="0" i="0" u="none" strike="noStrike">
                <a:solidFill>
                  <a:srgbClr val="FCFCFC"/>
                </a:solidFill>
                <a:latin typeface="Songti SC"/>
                <a:ea typeface="Songti SC"/>
                <a:cs typeface="Songti SC"/>
                <a:sym typeface="Songti SC"/>
              </a:rPr>
              <a:t>技术融合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410700" y="4445000"/>
            <a:ext cx="1092200" cy="266700"/>
          </a:xfrm>
          <a:prstGeom prst="roundRect">
            <a:avLst>
              <a:gd name="adj" fmla="val 28571"/>
            </a:avLst>
          </a:prstGeom>
          <a:noFill/>
          <a:ln w="25400" cap="flat" cmpd="sng">
            <a:gradFill rotWithShape="0">
              <a:gsLst>
                <a:gs pos="17000">
                  <a:srgbClr val="1BACE3">
                    <a:alpha val="100000"/>
                  </a:srgbClr>
                </a:gs>
                <a:gs pos="100000">
                  <a:srgbClr val="186092">
                    <a:alpha val="100000"/>
                  </a:srgbClr>
                </a:gs>
              </a:gsLst>
              <a:lin ang="5400000"/>
            </a:gradFill>
            <a:prstDash val="solid"/>
            <a:miter lim="4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575800" y="4470400"/>
            <a:ext cx="7620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25400" tIns="25400" rIns="25400" bIns="254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000" b="0" i="0" u="none" strike="noStrike">
                <a:solidFill>
                  <a:srgbClr val="FCFCFC"/>
                </a:solidFill>
                <a:latin typeface="Songti SC"/>
                <a:ea typeface="Songti SC"/>
                <a:cs typeface="Songti SC"/>
                <a:sym typeface="Songti SC"/>
              </a:rPr>
              <a:t>临床赋能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53400" y="5080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以技术为钥，开启医学教育的新纪元。AI不再只是辅助工具，而是值得信赖的专业教学伙伴。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33350" y="861896"/>
            <a:ext cx="12192000" cy="812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10019999">
            <a:off x="10426700" y="3060700"/>
            <a:ext cx="20066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806700" y="-977900"/>
            <a:ext cx="3987800" cy="3987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-6359999">
            <a:off x="3835400" y="3086100"/>
            <a:ext cx="4254500" cy="3314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130800" y="3175000"/>
            <a:ext cx="44577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产品与创新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130800" y="2171700"/>
            <a:ext cx="55499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7200" b="1" i="0" u="none" strike="noStrike" spc="30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PART 02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9600000">
            <a:off x="-571500" y="-495300"/>
            <a:ext cx="6299200" cy="596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9780000">
            <a:off x="9398000" y="3937000"/>
            <a:ext cx="4114800" cy="3898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10019999">
            <a:off x="660400" y="3149600"/>
            <a:ext cx="2908300" cy="2908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1828800"/>
            <a:ext cx="3403600" cy="1930400"/>
          </a:xfrm>
          <a:prstGeom prst="roundRect">
            <a:avLst>
              <a:gd name="adj" fmla="val 657"/>
            </a:avLst>
          </a:prstGeom>
          <a:solidFill>
            <a:srgbClr val="FCFCFC">
              <a:alpha val="2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36800" y="2159000"/>
            <a:ext cx="416369" cy="385345"/>
          </a:xfrm>
          <a:custGeom>
            <a:avLst/>
            <a:gdLst/>
            <a:ahLst/>
            <a:cxnLst/>
            <a:rect l="l" t="t" r="r" b="b"/>
            <a:pathLst>
              <a:path w="416369" h="385345">
                <a:moveTo>
                  <a:pt x="161921" y="84776"/>
                </a:moveTo>
                <a:cubicBezTo>
                  <a:pt x="262158" y="84776"/>
                  <a:pt x="262158" y="84776"/>
                  <a:pt x="262158" y="84776"/>
                </a:cubicBezTo>
                <a:cubicBezTo>
                  <a:pt x="262158" y="30828"/>
                  <a:pt x="262158" y="30828"/>
                  <a:pt x="262158" y="30828"/>
                </a:cubicBezTo>
                <a:cubicBezTo>
                  <a:pt x="161921" y="30828"/>
                  <a:pt x="161921" y="30828"/>
                  <a:pt x="161921" y="30828"/>
                </a:cubicBezTo>
                <a:lnTo>
                  <a:pt x="161921" y="84776"/>
                </a:lnTo>
                <a:close/>
                <a:moveTo>
                  <a:pt x="177343" y="46242"/>
                </a:moveTo>
                <a:cubicBezTo>
                  <a:pt x="246737" y="46242"/>
                  <a:pt x="246737" y="46242"/>
                  <a:pt x="246737" y="46242"/>
                </a:cubicBezTo>
                <a:cubicBezTo>
                  <a:pt x="246737" y="69362"/>
                  <a:pt x="246737" y="69362"/>
                  <a:pt x="246737" y="69362"/>
                </a:cubicBezTo>
                <a:cubicBezTo>
                  <a:pt x="177343" y="69362"/>
                  <a:pt x="177343" y="69362"/>
                  <a:pt x="177343" y="69362"/>
                </a:cubicBezTo>
                <a:lnTo>
                  <a:pt x="177343" y="46242"/>
                </a:lnTo>
                <a:close/>
                <a:moveTo>
                  <a:pt x="377816" y="69362"/>
                </a:moveTo>
                <a:cubicBezTo>
                  <a:pt x="293000" y="69362"/>
                  <a:pt x="293000" y="69362"/>
                  <a:pt x="293000" y="69362"/>
                </a:cubicBezTo>
                <a:cubicBezTo>
                  <a:pt x="293000" y="38534"/>
                  <a:pt x="293000" y="38534"/>
                  <a:pt x="293000" y="38534"/>
                </a:cubicBezTo>
                <a:cubicBezTo>
                  <a:pt x="293000" y="17341"/>
                  <a:pt x="275652" y="0"/>
                  <a:pt x="254448" y="0"/>
                </a:cubicBezTo>
                <a:cubicBezTo>
                  <a:pt x="169631" y="0"/>
                  <a:pt x="169631" y="0"/>
                  <a:pt x="169631" y="0"/>
                </a:cubicBezTo>
                <a:cubicBezTo>
                  <a:pt x="148427" y="0"/>
                  <a:pt x="131079" y="17341"/>
                  <a:pt x="131079" y="38534"/>
                </a:cubicBezTo>
                <a:cubicBezTo>
                  <a:pt x="131079" y="69362"/>
                  <a:pt x="131079" y="69362"/>
                  <a:pt x="131079" y="69362"/>
                </a:cubicBezTo>
                <a:cubicBezTo>
                  <a:pt x="107947" y="69362"/>
                  <a:pt x="107947" y="69362"/>
                  <a:pt x="107947" y="69362"/>
                </a:cubicBezTo>
                <a:cubicBezTo>
                  <a:pt x="107947" y="46242"/>
                  <a:pt x="107947" y="46242"/>
                  <a:pt x="107947" y="46242"/>
                </a:cubicBezTo>
                <a:cubicBezTo>
                  <a:pt x="38552" y="46242"/>
                  <a:pt x="38552" y="46242"/>
                  <a:pt x="38552" y="46242"/>
                </a:cubicBezTo>
                <a:cubicBezTo>
                  <a:pt x="38552" y="69362"/>
                  <a:pt x="38552" y="69362"/>
                  <a:pt x="38552" y="69362"/>
                </a:cubicBezTo>
                <a:cubicBezTo>
                  <a:pt x="17348" y="69362"/>
                  <a:pt x="0" y="86703"/>
                  <a:pt x="0" y="107897"/>
                </a:cubicBezTo>
                <a:cubicBezTo>
                  <a:pt x="0" y="292862"/>
                  <a:pt x="0" y="292862"/>
                  <a:pt x="0" y="292862"/>
                </a:cubicBezTo>
                <a:cubicBezTo>
                  <a:pt x="0" y="314056"/>
                  <a:pt x="17348" y="331396"/>
                  <a:pt x="38552" y="331396"/>
                </a:cubicBezTo>
                <a:cubicBezTo>
                  <a:pt x="109875" y="331396"/>
                  <a:pt x="109875" y="331396"/>
                  <a:pt x="109875" y="331396"/>
                </a:cubicBezTo>
                <a:cubicBezTo>
                  <a:pt x="131079" y="364151"/>
                  <a:pt x="167705" y="385345"/>
                  <a:pt x="210113" y="385345"/>
                </a:cubicBezTo>
                <a:cubicBezTo>
                  <a:pt x="250593" y="385345"/>
                  <a:pt x="287218" y="364151"/>
                  <a:pt x="308422" y="331396"/>
                </a:cubicBezTo>
                <a:cubicBezTo>
                  <a:pt x="377816" y="331396"/>
                  <a:pt x="377816" y="331396"/>
                  <a:pt x="377816" y="331396"/>
                </a:cubicBezTo>
                <a:cubicBezTo>
                  <a:pt x="399020" y="331396"/>
                  <a:pt x="416370" y="314056"/>
                  <a:pt x="416370" y="292862"/>
                </a:cubicBezTo>
                <a:cubicBezTo>
                  <a:pt x="416370" y="107897"/>
                  <a:pt x="416370" y="107897"/>
                  <a:pt x="416370" y="107897"/>
                </a:cubicBezTo>
                <a:cubicBezTo>
                  <a:pt x="416370" y="86703"/>
                  <a:pt x="399020" y="69362"/>
                  <a:pt x="377816" y="69362"/>
                </a:cubicBezTo>
                <a:close/>
                <a:moveTo>
                  <a:pt x="53974" y="61655"/>
                </a:moveTo>
                <a:cubicBezTo>
                  <a:pt x="92526" y="61655"/>
                  <a:pt x="92526" y="61655"/>
                  <a:pt x="92526" y="61655"/>
                </a:cubicBezTo>
                <a:cubicBezTo>
                  <a:pt x="92526" y="69362"/>
                  <a:pt x="92526" y="69362"/>
                  <a:pt x="92526" y="69362"/>
                </a:cubicBezTo>
                <a:cubicBezTo>
                  <a:pt x="53974" y="69362"/>
                  <a:pt x="53974" y="69362"/>
                  <a:pt x="53974" y="69362"/>
                </a:cubicBezTo>
                <a:lnTo>
                  <a:pt x="53974" y="61655"/>
                </a:lnTo>
                <a:close/>
                <a:moveTo>
                  <a:pt x="314204" y="275521"/>
                </a:moveTo>
                <a:cubicBezTo>
                  <a:pt x="312276" y="277448"/>
                  <a:pt x="312276" y="277448"/>
                  <a:pt x="312276" y="277448"/>
                </a:cubicBezTo>
                <a:cubicBezTo>
                  <a:pt x="306494" y="329470"/>
                  <a:pt x="264086" y="369931"/>
                  <a:pt x="210113" y="369931"/>
                </a:cubicBezTo>
                <a:cubicBezTo>
                  <a:pt x="171559" y="369931"/>
                  <a:pt x="138789" y="348737"/>
                  <a:pt x="119513" y="317910"/>
                </a:cubicBezTo>
                <a:cubicBezTo>
                  <a:pt x="119513" y="315982"/>
                  <a:pt x="117585" y="314056"/>
                  <a:pt x="117585" y="314056"/>
                </a:cubicBezTo>
                <a:cubicBezTo>
                  <a:pt x="117585" y="312129"/>
                  <a:pt x="115658" y="312129"/>
                  <a:pt x="115658" y="310203"/>
                </a:cubicBezTo>
                <a:cubicBezTo>
                  <a:pt x="115658" y="308276"/>
                  <a:pt x="113731" y="304423"/>
                  <a:pt x="111803" y="302496"/>
                </a:cubicBezTo>
                <a:cubicBezTo>
                  <a:pt x="111803" y="300570"/>
                  <a:pt x="111803" y="300570"/>
                  <a:pt x="111803" y="298642"/>
                </a:cubicBezTo>
                <a:cubicBezTo>
                  <a:pt x="111803" y="298642"/>
                  <a:pt x="109875" y="296715"/>
                  <a:pt x="109875" y="294789"/>
                </a:cubicBezTo>
                <a:cubicBezTo>
                  <a:pt x="109875" y="292862"/>
                  <a:pt x="109875" y="290935"/>
                  <a:pt x="107947" y="290935"/>
                </a:cubicBezTo>
                <a:cubicBezTo>
                  <a:pt x="107947" y="289009"/>
                  <a:pt x="107947" y="287082"/>
                  <a:pt x="107947" y="285156"/>
                </a:cubicBezTo>
                <a:cubicBezTo>
                  <a:pt x="107947" y="283229"/>
                  <a:pt x="107947" y="281302"/>
                  <a:pt x="106020" y="279375"/>
                </a:cubicBezTo>
                <a:cubicBezTo>
                  <a:pt x="106020" y="277448"/>
                  <a:pt x="106020" y="277448"/>
                  <a:pt x="106020" y="275521"/>
                </a:cubicBezTo>
                <a:cubicBezTo>
                  <a:pt x="106020" y="273595"/>
                  <a:pt x="106020" y="269742"/>
                  <a:pt x="106020" y="265888"/>
                </a:cubicBezTo>
                <a:cubicBezTo>
                  <a:pt x="106020" y="210014"/>
                  <a:pt x="152283" y="163772"/>
                  <a:pt x="210113" y="163772"/>
                </a:cubicBezTo>
                <a:cubicBezTo>
                  <a:pt x="267941" y="163772"/>
                  <a:pt x="314204" y="210014"/>
                  <a:pt x="314204" y="265888"/>
                </a:cubicBezTo>
                <a:cubicBezTo>
                  <a:pt x="314204" y="269742"/>
                  <a:pt x="314204" y="273595"/>
                  <a:pt x="314204" y="275521"/>
                </a:cubicBezTo>
                <a:close/>
                <a:moveTo>
                  <a:pt x="400948" y="292862"/>
                </a:moveTo>
                <a:cubicBezTo>
                  <a:pt x="400948" y="306349"/>
                  <a:pt x="391310" y="315982"/>
                  <a:pt x="377816" y="315982"/>
                </a:cubicBezTo>
                <a:cubicBezTo>
                  <a:pt x="318060" y="315982"/>
                  <a:pt x="318060" y="315982"/>
                  <a:pt x="318060" y="315982"/>
                </a:cubicBezTo>
                <a:cubicBezTo>
                  <a:pt x="323842" y="304423"/>
                  <a:pt x="327698" y="290935"/>
                  <a:pt x="327698" y="279375"/>
                </a:cubicBezTo>
                <a:cubicBezTo>
                  <a:pt x="329626" y="275521"/>
                  <a:pt x="329626" y="269742"/>
                  <a:pt x="329626" y="265888"/>
                </a:cubicBezTo>
                <a:cubicBezTo>
                  <a:pt x="329626" y="200379"/>
                  <a:pt x="275652" y="148358"/>
                  <a:pt x="210113" y="148358"/>
                </a:cubicBezTo>
                <a:cubicBezTo>
                  <a:pt x="144573" y="148358"/>
                  <a:pt x="90599" y="200379"/>
                  <a:pt x="90599" y="265888"/>
                </a:cubicBezTo>
                <a:cubicBezTo>
                  <a:pt x="90599" y="269742"/>
                  <a:pt x="90599" y="275521"/>
                  <a:pt x="90599" y="279375"/>
                </a:cubicBezTo>
                <a:cubicBezTo>
                  <a:pt x="92526" y="290935"/>
                  <a:pt x="96382" y="304423"/>
                  <a:pt x="100237" y="315982"/>
                </a:cubicBezTo>
                <a:cubicBezTo>
                  <a:pt x="38552" y="315982"/>
                  <a:pt x="38552" y="315982"/>
                  <a:pt x="38552" y="315982"/>
                </a:cubicBezTo>
                <a:cubicBezTo>
                  <a:pt x="25060" y="315982"/>
                  <a:pt x="15422" y="306349"/>
                  <a:pt x="15422" y="292862"/>
                </a:cubicBezTo>
                <a:cubicBezTo>
                  <a:pt x="15422" y="123311"/>
                  <a:pt x="15422" y="123311"/>
                  <a:pt x="15422" y="123311"/>
                </a:cubicBezTo>
                <a:cubicBezTo>
                  <a:pt x="400948" y="123311"/>
                  <a:pt x="400948" y="123311"/>
                  <a:pt x="400948" y="123311"/>
                </a:cubicBezTo>
                <a:lnTo>
                  <a:pt x="400948" y="292862"/>
                </a:lnTo>
                <a:close/>
                <a:moveTo>
                  <a:pt x="400948" y="107897"/>
                </a:moveTo>
                <a:cubicBezTo>
                  <a:pt x="15422" y="107897"/>
                  <a:pt x="15422" y="107897"/>
                  <a:pt x="15422" y="107897"/>
                </a:cubicBezTo>
                <a:cubicBezTo>
                  <a:pt x="15422" y="107897"/>
                  <a:pt x="15422" y="107897"/>
                  <a:pt x="15422" y="107897"/>
                </a:cubicBezTo>
                <a:cubicBezTo>
                  <a:pt x="15422" y="94409"/>
                  <a:pt x="25060" y="84776"/>
                  <a:pt x="38552" y="84776"/>
                </a:cubicBezTo>
                <a:cubicBezTo>
                  <a:pt x="146500" y="84776"/>
                  <a:pt x="146500" y="84776"/>
                  <a:pt x="146500" y="84776"/>
                </a:cubicBezTo>
                <a:cubicBezTo>
                  <a:pt x="146500" y="38534"/>
                  <a:pt x="146500" y="38534"/>
                  <a:pt x="146500" y="38534"/>
                </a:cubicBezTo>
                <a:cubicBezTo>
                  <a:pt x="146500" y="25047"/>
                  <a:pt x="156139" y="15414"/>
                  <a:pt x="169631" y="15414"/>
                </a:cubicBezTo>
                <a:cubicBezTo>
                  <a:pt x="254448" y="15414"/>
                  <a:pt x="254448" y="15414"/>
                  <a:pt x="254448" y="15414"/>
                </a:cubicBezTo>
                <a:cubicBezTo>
                  <a:pt x="267941" y="15414"/>
                  <a:pt x="277579" y="25047"/>
                  <a:pt x="277579" y="38534"/>
                </a:cubicBezTo>
                <a:cubicBezTo>
                  <a:pt x="277579" y="84776"/>
                  <a:pt x="277579" y="84776"/>
                  <a:pt x="277579" y="84776"/>
                </a:cubicBezTo>
                <a:cubicBezTo>
                  <a:pt x="377816" y="84776"/>
                  <a:pt x="377816" y="84776"/>
                  <a:pt x="377816" y="84776"/>
                </a:cubicBezTo>
                <a:cubicBezTo>
                  <a:pt x="391310" y="84776"/>
                  <a:pt x="400948" y="94409"/>
                  <a:pt x="400948" y="107897"/>
                </a:cubicBezTo>
                <a:close/>
                <a:moveTo>
                  <a:pt x="210113" y="188819"/>
                </a:moveTo>
                <a:cubicBezTo>
                  <a:pt x="165777" y="188819"/>
                  <a:pt x="131079" y="223500"/>
                  <a:pt x="131079" y="267815"/>
                </a:cubicBezTo>
                <a:cubicBezTo>
                  <a:pt x="131079" y="312129"/>
                  <a:pt x="165777" y="348737"/>
                  <a:pt x="210113" y="348737"/>
                </a:cubicBezTo>
                <a:cubicBezTo>
                  <a:pt x="254448" y="348737"/>
                  <a:pt x="291073" y="312129"/>
                  <a:pt x="291073" y="267815"/>
                </a:cubicBezTo>
                <a:cubicBezTo>
                  <a:pt x="291073" y="223500"/>
                  <a:pt x="254448" y="188819"/>
                  <a:pt x="210113" y="188819"/>
                </a:cubicBezTo>
                <a:close/>
                <a:moveTo>
                  <a:pt x="210113" y="333323"/>
                </a:moveTo>
                <a:cubicBezTo>
                  <a:pt x="175415" y="333323"/>
                  <a:pt x="146500" y="304423"/>
                  <a:pt x="146500" y="267815"/>
                </a:cubicBezTo>
                <a:cubicBezTo>
                  <a:pt x="146500" y="233134"/>
                  <a:pt x="175415" y="204233"/>
                  <a:pt x="210113" y="204233"/>
                </a:cubicBezTo>
                <a:cubicBezTo>
                  <a:pt x="246737" y="204233"/>
                  <a:pt x="275652" y="233134"/>
                  <a:pt x="275652" y="267815"/>
                </a:cubicBezTo>
                <a:cubicBezTo>
                  <a:pt x="275652" y="304423"/>
                  <a:pt x="246737" y="333323"/>
                  <a:pt x="210113" y="333323"/>
                </a:cubicBezTo>
                <a:close/>
                <a:moveTo>
                  <a:pt x="339264" y="169551"/>
                </a:moveTo>
                <a:cubicBezTo>
                  <a:pt x="370106" y="169551"/>
                  <a:pt x="370106" y="169551"/>
                  <a:pt x="370106" y="169551"/>
                </a:cubicBezTo>
                <a:cubicBezTo>
                  <a:pt x="373962" y="169551"/>
                  <a:pt x="377816" y="167625"/>
                  <a:pt x="377816" y="161845"/>
                </a:cubicBezTo>
                <a:cubicBezTo>
                  <a:pt x="377816" y="157992"/>
                  <a:pt x="373962" y="154139"/>
                  <a:pt x="370106" y="154139"/>
                </a:cubicBezTo>
                <a:cubicBezTo>
                  <a:pt x="339264" y="154139"/>
                  <a:pt x="339264" y="154139"/>
                  <a:pt x="339264" y="154139"/>
                </a:cubicBezTo>
                <a:cubicBezTo>
                  <a:pt x="335408" y="154139"/>
                  <a:pt x="331553" y="157992"/>
                  <a:pt x="331553" y="161845"/>
                </a:cubicBezTo>
                <a:cubicBezTo>
                  <a:pt x="331553" y="167625"/>
                  <a:pt x="335408" y="169551"/>
                  <a:pt x="339264" y="169551"/>
                </a:cubicBezTo>
                <a:close/>
              </a:path>
            </a:pathLst>
          </a:custGeom>
          <a:solidFill>
            <a:srgbClr val="27CDD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730500"/>
            <a:ext cx="3048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沉浸式AI虚拟病房 · 学生端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111500"/>
            <a:ext cx="31496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 dirty="0" err="1">
                <a:solidFill>
                  <a:srgbClr val="FCFCFC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与有性格、会隐瞒的AI标准化病人实时博弈，可视化临床思维决策树，自动生成四维能力雷达图与诊疗复盘报告，让练习更真实</a:t>
            </a:r>
            <a:r>
              <a:rPr lang="en-US" sz="1200" b="0" i="0" u="none" strike="noStrike" dirty="0">
                <a:solidFill>
                  <a:srgbClr val="FCFCFC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4394200" y="1828800"/>
            <a:ext cx="3403600" cy="1930400"/>
          </a:xfrm>
          <a:prstGeom prst="roundRect">
            <a:avLst>
              <a:gd name="adj" fmla="val 657"/>
            </a:avLst>
          </a:prstGeom>
          <a:solidFill>
            <a:srgbClr val="FCFCFC">
              <a:alpha val="2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5829300" y="2146300"/>
            <a:ext cx="532098" cy="423203"/>
          </a:xfrm>
          <a:custGeom>
            <a:avLst/>
            <a:gdLst/>
            <a:ahLst/>
            <a:cxnLst/>
            <a:rect l="l" t="t" r="r" b="b"/>
            <a:pathLst>
              <a:path w="532098" h="423203">
                <a:moveTo>
                  <a:pt x="448676" y="227359"/>
                </a:moveTo>
                <a:cubicBezTo>
                  <a:pt x="448676" y="222857"/>
                  <a:pt x="450930" y="216103"/>
                  <a:pt x="450930" y="209351"/>
                </a:cubicBezTo>
                <a:cubicBezTo>
                  <a:pt x="450930" y="137316"/>
                  <a:pt x="394564" y="81039"/>
                  <a:pt x="324670" y="81039"/>
                </a:cubicBezTo>
                <a:cubicBezTo>
                  <a:pt x="268304" y="81039"/>
                  <a:pt x="218702" y="119308"/>
                  <a:pt x="202919" y="171082"/>
                </a:cubicBezTo>
                <a:cubicBezTo>
                  <a:pt x="193900" y="168831"/>
                  <a:pt x="184882" y="166580"/>
                  <a:pt x="175863" y="166580"/>
                </a:cubicBezTo>
                <a:cubicBezTo>
                  <a:pt x="137533" y="166580"/>
                  <a:pt x="105969" y="198095"/>
                  <a:pt x="105969" y="238614"/>
                </a:cubicBezTo>
                <a:cubicBezTo>
                  <a:pt x="105969" y="238614"/>
                  <a:pt x="105969" y="240866"/>
                  <a:pt x="105969" y="240866"/>
                </a:cubicBezTo>
                <a:cubicBezTo>
                  <a:pt x="58621" y="243116"/>
                  <a:pt x="18038" y="281385"/>
                  <a:pt x="18038" y="333160"/>
                </a:cubicBezTo>
                <a:cubicBezTo>
                  <a:pt x="18038" y="378182"/>
                  <a:pt x="51857" y="416450"/>
                  <a:pt x="96951" y="420952"/>
                </a:cubicBezTo>
                <a:cubicBezTo>
                  <a:pt x="96951" y="423203"/>
                  <a:pt x="96951" y="423203"/>
                  <a:pt x="96951" y="423203"/>
                </a:cubicBezTo>
                <a:cubicBezTo>
                  <a:pt x="439657" y="423203"/>
                  <a:pt x="439657" y="423203"/>
                  <a:pt x="439657" y="423203"/>
                </a:cubicBezTo>
                <a:cubicBezTo>
                  <a:pt x="448676" y="423203"/>
                  <a:pt x="448676" y="423203"/>
                  <a:pt x="448676" y="423203"/>
                </a:cubicBezTo>
                <a:cubicBezTo>
                  <a:pt x="448676" y="420952"/>
                  <a:pt x="448676" y="420952"/>
                  <a:pt x="448676" y="420952"/>
                </a:cubicBezTo>
                <a:cubicBezTo>
                  <a:pt x="496024" y="416450"/>
                  <a:pt x="532098" y="375930"/>
                  <a:pt x="532098" y="324156"/>
                </a:cubicBezTo>
                <a:cubicBezTo>
                  <a:pt x="532098" y="274631"/>
                  <a:pt x="496024" y="234112"/>
                  <a:pt x="448676" y="227359"/>
                </a:cubicBezTo>
                <a:close/>
                <a:moveTo>
                  <a:pt x="439657" y="405195"/>
                </a:moveTo>
                <a:cubicBezTo>
                  <a:pt x="108223" y="405195"/>
                  <a:pt x="108223" y="405195"/>
                  <a:pt x="108223" y="405195"/>
                </a:cubicBezTo>
                <a:cubicBezTo>
                  <a:pt x="105969" y="405195"/>
                  <a:pt x="105969" y="405195"/>
                  <a:pt x="105969" y="405195"/>
                </a:cubicBezTo>
                <a:cubicBezTo>
                  <a:pt x="67640" y="402943"/>
                  <a:pt x="36074" y="371428"/>
                  <a:pt x="36074" y="333160"/>
                </a:cubicBezTo>
                <a:cubicBezTo>
                  <a:pt x="36074" y="292640"/>
                  <a:pt x="67640" y="258874"/>
                  <a:pt x="105969" y="258874"/>
                </a:cubicBezTo>
                <a:cubicBezTo>
                  <a:pt x="108223" y="258874"/>
                  <a:pt x="110479" y="261125"/>
                  <a:pt x="114987" y="261125"/>
                </a:cubicBezTo>
                <a:cubicBezTo>
                  <a:pt x="126261" y="263376"/>
                  <a:pt x="126261" y="263376"/>
                  <a:pt x="126261" y="263376"/>
                </a:cubicBezTo>
                <a:cubicBezTo>
                  <a:pt x="124005" y="249870"/>
                  <a:pt x="124005" y="249870"/>
                  <a:pt x="124005" y="249870"/>
                </a:cubicBezTo>
                <a:cubicBezTo>
                  <a:pt x="124005" y="245368"/>
                  <a:pt x="124005" y="240866"/>
                  <a:pt x="124005" y="238614"/>
                </a:cubicBezTo>
                <a:cubicBezTo>
                  <a:pt x="124005" y="209351"/>
                  <a:pt x="146553" y="184588"/>
                  <a:pt x="175863" y="184588"/>
                </a:cubicBezTo>
                <a:cubicBezTo>
                  <a:pt x="184882" y="184588"/>
                  <a:pt x="196155" y="186840"/>
                  <a:pt x="205174" y="193592"/>
                </a:cubicBezTo>
                <a:cubicBezTo>
                  <a:pt x="216446" y="200346"/>
                  <a:pt x="216446" y="200346"/>
                  <a:pt x="216446" y="200346"/>
                </a:cubicBezTo>
                <a:cubicBezTo>
                  <a:pt x="218702" y="186840"/>
                  <a:pt x="218702" y="186840"/>
                  <a:pt x="218702" y="186840"/>
                </a:cubicBezTo>
                <a:cubicBezTo>
                  <a:pt x="227720" y="135064"/>
                  <a:pt x="272813" y="99047"/>
                  <a:pt x="324670" y="99047"/>
                </a:cubicBezTo>
                <a:cubicBezTo>
                  <a:pt x="383291" y="99047"/>
                  <a:pt x="432893" y="148571"/>
                  <a:pt x="432893" y="209351"/>
                </a:cubicBezTo>
                <a:cubicBezTo>
                  <a:pt x="432893" y="218355"/>
                  <a:pt x="430639" y="225108"/>
                  <a:pt x="428384" y="234112"/>
                </a:cubicBezTo>
                <a:cubicBezTo>
                  <a:pt x="426129" y="245368"/>
                  <a:pt x="426129" y="245368"/>
                  <a:pt x="426129" y="245368"/>
                </a:cubicBezTo>
                <a:cubicBezTo>
                  <a:pt x="437402" y="245368"/>
                  <a:pt x="437402" y="245368"/>
                  <a:pt x="437402" y="245368"/>
                </a:cubicBezTo>
                <a:cubicBezTo>
                  <a:pt x="480242" y="245368"/>
                  <a:pt x="516316" y="281385"/>
                  <a:pt x="516316" y="324156"/>
                </a:cubicBezTo>
                <a:cubicBezTo>
                  <a:pt x="516316" y="369178"/>
                  <a:pt x="480242" y="402943"/>
                  <a:pt x="439657" y="405195"/>
                </a:cubicBezTo>
                <a:close/>
                <a:moveTo>
                  <a:pt x="56366" y="58528"/>
                </a:moveTo>
                <a:cubicBezTo>
                  <a:pt x="60876" y="63030"/>
                  <a:pt x="67640" y="63030"/>
                  <a:pt x="72149" y="60780"/>
                </a:cubicBezTo>
                <a:cubicBezTo>
                  <a:pt x="76658" y="56278"/>
                  <a:pt x="76658" y="49524"/>
                  <a:pt x="72149" y="45022"/>
                </a:cubicBezTo>
                <a:cubicBezTo>
                  <a:pt x="63130" y="33767"/>
                  <a:pt x="63130" y="33767"/>
                  <a:pt x="63130" y="33767"/>
                </a:cubicBezTo>
                <a:cubicBezTo>
                  <a:pt x="58621" y="29265"/>
                  <a:pt x="51857" y="27013"/>
                  <a:pt x="47348" y="31515"/>
                </a:cubicBezTo>
                <a:cubicBezTo>
                  <a:pt x="42838" y="36017"/>
                  <a:pt x="42838" y="42771"/>
                  <a:pt x="47348" y="47273"/>
                </a:cubicBezTo>
                <a:lnTo>
                  <a:pt x="56366" y="58528"/>
                </a:lnTo>
                <a:close/>
                <a:moveTo>
                  <a:pt x="225466" y="74286"/>
                </a:moveTo>
                <a:cubicBezTo>
                  <a:pt x="236738" y="65282"/>
                  <a:pt x="236738" y="65282"/>
                  <a:pt x="236738" y="65282"/>
                </a:cubicBezTo>
                <a:cubicBezTo>
                  <a:pt x="241248" y="60780"/>
                  <a:pt x="241248" y="54026"/>
                  <a:pt x="236738" y="49524"/>
                </a:cubicBezTo>
                <a:cubicBezTo>
                  <a:pt x="234484" y="45022"/>
                  <a:pt x="227720" y="45022"/>
                  <a:pt x="223210" y="47273"/>
                </a:cubicBezTo>
                <a:cubicBezTo>
                  <a:pt x="209682" y="58528"/>
                  <a:pt x="209682" y="58528"/>
                  <a:pt x="209682" y="58528"/>
                </a:cubicBezTo>
                <a:cubicBezTo>
                  <a:pt x="205174" y="60780"/>
                  <a:pt x="205174" y="67532"/>
                  <a:pt x="209682" y="74286"/>
                </a:cubicBezTo>
                <a:cubicBezTo>
                  <a:pt x="211938" y="78788"/>
                  <a:pt x="220956" y="78788"/>
                  <a:pt x="225466" y="74286"/>
                </a:cubicBezTo>
                <a:close/>
                <a:moveTo>
                  <a:pt x="142043" y="38269"/>
                </a:moveTo>
                <a:cubicBezTo>
                  <a:pt x="148807" y="38269"/>
                  <a:pt x="153317" y="33767"/>
                  <a:pt x="155571" y="29265"/>
                </a:cubicBezTo>
                <a:cubicBezTo>
                  <a:pt x="155571" y="13506"/>
                  <a:pt x="155571" y="13506"/>
                  <a:pt x="155571" y="13506"/>
                </a:cubicBezTo>
                <a:cubicBezTo>
                  <a:pt x="157825" y="6754"/>
                  <a:pt x="153317" y="2252"/>
                  <a:pt x="146553" y="2252"/>
                </a:cubicBezTo>
                <a:cubicBezTo>
                  <a:pt x="139789" y="0"/>
                  <a:pt x="135279" y="4502"/>
                  <a:pt x="135279" y="11256"/>
                </a:cubicBezTo>
                <a:cubicBezTo>
                  <a:pt x="133025" y="27013"/>
                  <a:pt x="133025" y="27013"/>
                  <a:pt x="133025" y="27013"/>
                </a:cubicBezTo>
                <a:cubicBezTo>
                  <a:pt x="133025" y="31515"/>
                  <a:pt x="137533" y="38269"/>
                  <a:pt x="142043" y="38269"/>
                </a:cubicBezTo>
                <a:close/>
                <a:moveTo>
                  <a:pt x="36074" y="126060"/>
                </a:moveTo>
                <a:cubicBezTo>
                  <a:pt x="38329" y="121558"/>
                  <a:pt x="33820" y="114805"/>
                  <a:pt x="27056" y="114805"/>
                </a:cubicBezTo>
                <a:cubicBezTo>
                  <a:pt x="11274" y="112554"/>
                  <a:pt x="11274" y="112554"/>
                  <a:pt x="11274" y="112554"/>
                </a:cubicBezTo>
                <a:cubicBezTo>
                  <a:pt x="4510" y="112554"/>
                  <a:pt x="0" y="117056"/>
                  <a:pt x="0" y="123810"/>
                </a:cubicBezTo>
                <a:cubicBezTo>
                  <a:pt x="0" y="128312"/>
                  <a:pt x="4510" y="135064"/>
                  <a:pt x="9018" y="135064"/>
                </a:cubicBezTo>
                <a:cubicBezTo>
                  <a:pt x="24801" y="137316"/>
                  <a:pt x="24801" y="137316"/>
                  <a:pt x="24801" y="137316"/>
                </a:cubicBezTo>
                <a:cubicBezTo>
                  <a:pt x="31565" y="137316"/>
                  <a:pt x="36074" y="132814"/>
                  <a:pt x="36074" y="126060"/>
                </a:cubicBezTo>
                <a:close/>
                <a:moveTo>
                  <a:pt x="69894" y="83290"/>
                </a:moveTo>
                <a:cubicBezTo>
                  <a:pt x="67640" y="85541"/>
                  <a:pt x="65385" y="87793"/>
                  <a:pt x="65385" y="90043"/>
                </a:cubicBezTo>
                <a:cubicBezTo>
                  <a:pt x="63130" y="92295"/>
                  <a:pt x="60876" y="96797"/>
                  <a:pt x="58621" y="101299"/>
                </a:cubicBezTo>
                <a:cubicBezTo>
                  <a:pt x="58621" y="101299"/>
                  <a:pt x="58621" y="101299"/>
                  <a:pt x="58621" y="101299"/>
                </a:cubicBezTo>
                <a:cubicBezTo>
                  <a:pt x="56366" y="103549"/>
                  <a:pt x="56366" y="105801"/>
                  <a:pt x="56366" y="108052"/>
                </a:cubicBezTo>
                <a:cubicBezTo>
                  <a:pt x="54112" y="110303"/>
                  <a:pt x="54112" y="110303"/>
                  <a:pt x="54112" y="110303"/>
                </a:cubicBezTo>
                <a:cubicBezTo>
                  <a:pt x="54112" y="112554"/>
                  <a:pt x="54112" y="114805"/>
                  <a:pt x="51857" y="117056"/>
                </a:cubicBezTo>
                <a:cubicBezTo>
                  <a:pt x="51857" y="117056"/>
                  <a:pt x="51857" y="119308"/>
                  <a:pt x="51857" y="119308"/>
                </a:cubicBezTo>
                <a:cubicBezTo>
                  <a:pt x="51857" y="121558"/>
                  <a:pt x="51857" y="126060"/>
                  <a:pt x="51857" y="128312"/>
                </a:cubicBezTo>
                <a:cubicBezTo>
                  <a:pt x="49602" y="141818"/>
                  <a:pt x="51857" y="153073"/>
                  <a:pt x="56366" y="164329"/>
                </a:cubicBezTo>
                <a:cubicBezTo>
                  <a:pt x="56366" y="164329"/>
                  <a:pt x="56366" y="164329"/>
                  <a:pt x="56366" y="164329"/>
                </a:cubicBezTo>
                <a:cubicBezTo>
                  <a:pt x="56366" y="164329"/>
                  <a:pt x="56366" y="164329"/>
                  <a:pt x="56366" y="164329"/>
                </a:cubicBezTo>
                <a:cubicBezTo>
                  <a:pt x="56366" y="166580"/>
                  <a:pt x="56366" y="166580"/>
                  <a:pt x="56366" y="166580"/>
                </a:cubicBezTo>
                <a:cubicBezTo>
                  <a:pt x="56366" y="168831"/>
                  <a:pt x="58621" y="168831"/>
                  <a:pt x="58621" y="171082"/>
                </a:cubicBezTo>
                <a:cubicBezTo>
                  <a:pt x="58621" y="171082"/>
                  <a:pt x="58621" y="171082"/>
                  <a:pt x="58621" y="173333"/>
                </a:cubicBezTo>
                <a:cubicBezTo>
                  <a:pt x="60876" y="173333"/>
                  <a:pt x="60876" y="173333"/>
                  <a:pt x="60876" y="173333"/>
                </a:cubicBezTo>
                <a:cubicBezTo>
                  <a:pt x="60876" y="173333"/>
                  <a:pt x="60876" y="175584"/>
                  <a:pt x="60876" y="175584"/>
                </a:cubicBezTo>
                <a:cubicBezTo>
                  <a:pt x="60876" y="175584"/>
                  <a:pt x="60876" y="175584"/>
                  <a:pt x="60876" y="175584"/>
                </a:cubicBezTo>
                <a:cubicBezTo>
                  <a:pt x="63130" y="177836"/>
                  <a:pt x="63130" y="177836"/>
                  <a:pt x="63130" y="180086"/>
                </a:cubicBezTo>
                <a:cubicBezTo>
                  <a:pt x="63130" y="180086"/>
                  <a:pt x="65385" y="180086"/>
                  <a:pt x="65385" y="182338"/>
                </a:cubicBezTo>
                <a:cubicBezTo>
                  <a:pt x="65385" y="184588"/>
                  <a:pt x="67640" y="186840"/>
                  <a:pt x="69894" y="189090"/>
                </a:cubicBezTo>
                <a:cubicBezTo>
                  <a:pt x="74403" y="193592"/>
                  <a:pt x="78913" y="195844"/>
                  <a:pt x="81167" y="200346"/>
                </a:cubicBezTo>
                <a:cubicBezTo>
                  <a:pt x="85677" y="195844"/>
                  <a:pt x="90187" y="193592"/>
                  <a:pt x="92441" y="191342"/>
                </a:cubicBezTo>
                <a:cubicBezTo>
                  <a:pt x="94695" y="189090"/>
                  <a:pt x="96951" y="186840"/>
                  <a:pt x="96951" y="186840"/>
                </a:cubicBezTo>
                <a:cubicBezTo>
                  <a:pt x="78913" y="173333"/>
                  <a:pt x="69894" y="153073"/>
                  <a:pt x="72149" y="130562"/>
                </a:cubicBezTo>
                <a:cubicBezTo>
                  <a:pt x="74403" y="96797"/>
                  <a:pt x="103715" y="69784"/>
                  <a:pt x="139789" y="74286"/>
                </a:cubicBezTo>
                <a:cubicBezTo>
                  <a:pt x="162335" y="76537"/>
                  <a:pt x="182627" y="92295"/>
                  <a:pt x="191646" y="112554"/>
                </a:cubicBezTo>
                <a:cubicBezTo>
                  <a:pt x="191646" y="112554"/>
                  <a:pt x="193900" y="112554"/>
                  <a:pt x="193900" y="112554"/>
                </a:cubicBezTo>
                <a:cubicBezTo>
                  <a:pt x="196155" y="110303"/>
                  <a:pt x="196155" y="110303"/>
                  <a:pt x="198410" y="110303"/>
                </a:cubicBezTo>
                <a:cubicBezTo>
                  <a:pt x="202919" y="108052"/>
                  <a:pt x="207428" y="105801"/>
                  <a:pt x="209682" y="103549"/>
                </a:cubicBezTo>
                <a:cubicBezTo>
                  <a:pt x="209682" y="103549"/>
                  <a:pt x="209682" y="103549"/>
                  <a:pt x="209682" y="103549"/>
                </a:cubicBezTo>
                <a:cubicBezTo>
                  <a:pt x="209682" y="101299"/>
                  <a:pt x="207428" y="99047"/>
                  <a:pt x="207428" y="94545"/>
                </a:cubicBezTo>
                <a:cubicBezTo>
                  <a:pt x="205174" y="94545"/>
                  <a:pt x="205174" y="92295"/>
                  <a:pt x="202919" y="90043"/>
                </a:cubicBezTo>
                <a:cubicBezTo>
                  <a:pt x="202919" y="90043"/>
                  <a:pt x="200664" y="87793"/>
                  <a:pt x="200664" y="87793"/>
                </a:cubicBezTo>
                <a:cubicBezTo>
                  <a:pt x="200664" y="85541"/>
                  <a:pt x="198410" y="83290"/>
                  <a:pt x="198410" y="83290"/>
                </a:cubicBezTo>
                <a:cubicBezTo>
                  <a:pt x="191646" y="76537"/>
                  <a:pt x="187136" y="69784"/>
                  <a:pt x="180372" y="65282"/>
                </a:cubicBezTo>
                <a:cubicBezTo>
                  <a:pt x="180372" y="65282"/>
                  <a:pt x="180372" y="65282"/>
                  <a:pt x="180372" y="65282"/>
                </a:cubicBezTo>
                <a:cubicBezTo>
                  <a:pt x="178118" y="65282"/>
                  <a:pt x="178118" y="65282"/>
                  <a:pt x="175863" y="63030"/>
                </a:cubicBezTo>
                <a:cubicBezTo>
                  <a:pt x="166844" y="58528"/>
                  <a:pt x="153317" y="54026"/>
                  <a:pt x="142043" y="51775"/>
                </a:cubicBezTo>
                <a:cubicBezTo>
                  <a:pt x="133025" y="51775"/>
                  <a:pt x="124005" y="51775"/>
                  <a:pt x="117241" y="54026"/>
                </a:cubicBezTo>
                <a:cubicBezTo>
                  <a:pt x="117241" y="54026"/>
                  <a:pt x="117241" y="54026"/>
                  <a:pt x="117241" y="54026"/>
                </a:cubicBezTo>
                <a:cubicBezTo>
                  <a:pt x="114987" y="54026"/>
                  <a:pt x="114987" y="54026"/>
                  <a:pt x="112733" y="54026"/>
                </a:cubicBezTo>
                <a:cubicBezTo>
                  <a:pt x="101459" y="58528"/>
                  <a:pt x="90187" y="63030"/>
                  <a:pt x="81167" y="72034"/>
                </a:cubicBezTo>
                <a:cubicBezTo>
                  <a:pt x="78913" y="72034"/>
                  <a:pt x="78913" y="74286"/>
                  <a:pt x="76658" y="76537"/>
                </a:cubicBezTo>
                <a:cubicBezTo>
                  <a:pt x="76658" y="76537"/>
                  <a:pt x="74403" y="76537"/>
                  <a:pt x="74403" y="78788"/>
                </a:cubicBezTo>
                <a:cubicBezTo>
                  <a:pt x="72149" y="78788"/>
                  <a:pt x="72149" y="81039"/>
                  <a:pt x="69894" y="83290"/>
                </a:cubicBezTo>
                <a:close/>
                <a:moveTo>
                  <a:pt x="29310" y="222857"/>
                </a:moveTo>
                <a:cubicBezTo>
                  <a:pt x="33820" y="227359"/>
                  <a:pt x="40584" y="227359"/>
                  <a:pt x="45093" y="222857"/>
                </a:cubicBezTo>
                <a:cubicBezTo>
                  <a:pt x="56366" y="213853"/>
                  <a:pt x="56366" y="213853"/>
                  <a:pt x="56366" y="213853"/>
                </a:cubicBezTo>
                <a:cubicBezTo>
                  <a:pt x="60876" y="209351"/>
                  <a:pt x="63130" y="202597"/>
                  <a:pt x="58621" y="198095"/>
                </a:cubicBezTo>
                <a:cubicBezTo>
                  <a:pt x="54112" y="193592"/>
                  <a:pt x="47348" y="193592"/>
                  <a:pt x="42838" y="195844"/>
                </a:cubicBezTo>
                <a:cubicBezTo>
                  <a:pt x="31565" y="207099"/>
                  <a:pt x="31565" y="207099"/>
                  <a:pt x="31565" y="207099"/>
                </a:cubicBezTo>
                <a:cubicBezTo>
                  <a:pt x="27056" y="209351"/>
                  <a:pt x="27056" y="218355"/>
                  <a:pt x="29310" y="222857"/>
                </a:cubicBezTo>
                <a:close/>
              </a:path>
            </a:pathLst>
          </a:custGeom>
          <a:solidFill>
            <a:srgbClr val="27CDD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572000" y="2730500"/>
            <a:ext cx="3048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AI超级带教助教 · 教师端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72000" y="3111500"/>
            <a:ext cx="30226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CFCFC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零代码拖拽即可配置专属虚拟病例，系统秒级批改大病历并精准高亮逻辑漏洞，极大释放教师精力，聚焦核心教学指导。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8200" y="3898900"/>
            <a:ext cx="3403600" cy="1930400"/>
          </a:xfrm>
          <a:prstGeom prst="roundRect">
            <a:avLst>
              <a:gd name="adj" fmla="val 657"/>
            </a:avLst>
          </a:prstGeom>
          <a:solidFill>
            <a:srgbClr val="FCFCFC">
              <a:alpha val="2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2311400" y="4178300"/>
            <a:ext cx="465512" cy="315277"/>
          </a:xfrm>
          <a:custGeom>
            <a:avLst/>
            <a:gdLst/>
            <a:ahLst/>
            <a:cxnLst/>
            <a:rect l="l" t="t" r="r" b="b"/>
            <a:pathLst>
              <a:path w="465512" h="315277">
                <a:moveTo>
                  <a:pt x="461336" y="184603"/>
                </a:moveTo>
                <a:cubicBezTo>
                  <a:pt x="461336" y="182528"/>
                  <a:pt x="461336" y="182528"/>
                  <a:pt x="461336" y="182528"/>
                </a:cubicBezTo>
                <a:cubicBezTo>
                  <a:pt x="402887" y="128600"/>
                  <a:pt x="402887" y="128600"/>
                  <a:pt x="402887" y="128600"/>
                </a:cubicBezTo>
                <a:cubicBezTo>
                  <a:pt x="375750" y="64300"/>
                  <a:pt x="294338" y="4148"/>
                  <a:pt x="290162" y="2074"/>
                </a:cubicBezTo>
                <a:cubicBezTo>
                  <a:pt x="288074" y="0"/>
                  <a:pt x="288074" y="0"/>
                  <a:pt x="288074" y="0"/>
                </a:cubicBezTo>
                <a:cubicBezTo>
                  <a:pt x="52187" y="0"/>
                  <a:pt x="52187" y="0"/>
                  <a:pt x="52187" y="0"/>
                </a:cubicBezTo>
                <a:cubicBezTo>
                  <a:pt x="62625" y="29039"/>
                  <a:pt x="62625" y="29039"/>
                  <a:pt x="62625" y="29039"/>
                </a:cubicBezTo>
                <a:cubicBezTo>
                  <a:pt x="0" y="151416"/>
                  <a:pt x="0" y="151416"/>
                  <a:pt x="0" y="151416"/>
                </a:cubicBezTo>
                <a:cubicBezTo>
                  <a:pt x="0" y="234384"/>
                  <a:pt x="0" y="234384"/>
                  <a:pt x="0" y="234384"/>
                </a:cubicBezTo>
                <a:cubicBezTo>
                  <a:pt x="16700" y="242680"/>
                  <a:pt x="16700" y="242680"/>
                  <a:pt x="16700" y="242680"/>
                </a:cubicBezTo>
                <a:cubicBezTo>
                  <a:pt x="20875" y="236457"/>
                  <a:pt x="20875" y="236457"/>
                  <a:pt x="20875" y="236457"/>
                </a:cubicBezTo>
                <a:cubicBezTo>
                  <a:pt x="31312" y="219864"/>
                  <a:pt x="50100" y="215716"/>
                  <a:pt x="70975" y="215716"/>
                </a:cubicBezTo>
                <a:cubicBezTo>
                  <a:pt x="106463" y="215716"/>
                  <a:pt x="127338" y="236457"/>
                  <a:pt x="127338" y="269645"/>
                </a:cubicBezTo>
                <a:cubicBezTo>
                  <a:pt x="127338" y="275867"/>
                  <a:pt x="125250" y="282090"/>
                  <a:pt x="123162" y="288313"/>
                </a:cubicBezTo>
                <a:cubicBezTo>
                  <a:pt x="121075" y="298684"/>
                  <a:pt x="121075" y="298684"/>
                  <a:pt x="121075" y="298684"/>
                </a:cubicBezTo>
                <a:cubicBezTo>
                  <a:pt x="313125" y="298684"/>
                  <a:pt x="313125" y="298684"/>
                  <a:pt x="313125" y="298684"/>
                </a:cubicBezTo>
                <a:cubicBezTo>
                  <a:pt x="311037" y="288313"/>
                  <a:pt x="311037" y="288313"/>
                  <a:pt x="311037" y="288313"/>
                </a:cubicBezTo>
                <a:cubicBezTo>
                  <a:pt x="308949" y="282090"/>
                  <a:pt x="308949" y="275867"/>
                  <a:pt x="308949" y="269645"/>
                </a:cubicBezTo>
                <a:cubicBezTo>
                  <a:pt x="308949" y="236457"/>
                  <a:pt x="336088" y="215716"/>
                  <a:pt x="369487" y="215716"/>
                </a:cubicBezTo>
                <a:cubicBezTo>
                  <a:pt x="402887" y="215716"/>
                  <a:pt x="430025" y="236457"/>
                  <a:pt x="430025" y="269645"/>
                </a:cubicBezTo>
                <a:cubicBezTo>
                  <a:pt x="430025" y="271719"/>
                  <a:pt x="430025" y="273793"/>
                  <a:pt x="430025" y="275867"/>
                </a:cubicBezTo>
                <a:cubicBezTo>
                  <a:pt x="425850" y="290387"/>
                  <a:pt x="425850" y="290387"/>
                  <a:pt x="425850" y="290387"/>
                </a:cubicBezTo>
                <a:cubicBezTo>
                  <a:pt x="450900" y="290387"/>
                  <a:pt x="450900" y="290387"/>
                  <a:pt x="450900" y="290387"/>
                </a:cubicBezTo>
                <a:cubicBezTo>
                  <a:pt x="452987" y="280016"/>
                  <a:pt x="452987" y="280016"/>
                  <a:pt x="452987" y="280016"/>
                </a:cubicBezTo>
                <a:cubicBezTo>
                  <a:pt x="465512" y="230236"/>
                  <a:pt x="457162" y="186677"/>
                  <a:pt x="461336" y="184603"/>
                </a:cubicBezTo>
                <a:close/>
                <a:moveTo>
                  <a:pt x="442549" y="244754"/>
                </a:moveTo>
                <a:cubicBezTo>
                  <a:pt x="432112" y="215716"/>
                  <a:pt x="402887" y="199122"/>
                  <a:pt x="369487" y="199122"/>
                </a:cubicBezTo>
                <a:cubicBezTo>
                  <a:pt x="327737" y="199122"/>
                  <a:pt x="290162" y="228161"/>
                  <a:pt x="290162" y="269645"/>
                </a:cubicBezTo>
                <a:cubicBezTo>
                  <a:pt x="290162" y="273793"/>
                  <a:pt x="292250" y="277942"/>
                  <a:pt x="292250" y="282090"/>
                </a:cubicBezTo>
                <a:cubicBezTo>
                  <a:pt x="141950" y="282090"/>
                  <a:pt x="141950" y="282090"/>
                  <a:pt x="141950" y="282090"/>
                </a:cubicBezTo>
                <a:cubicBezTo>
                  <a:pt x="144037" y="277942"/>
                  <a:pt x="144037" y="273793"/>
                  <a:pt x="144037" y="269645"/>
                </a:cubicBezTo>
                <a:cubicBezTo>
                  <a:pt x="144037" y="228161"/>
                  <a:pt x="114812" y="199122"/>
                  <a:pt x="70975" y="199122"/>
                </a:cubicBezTo>
                <a:cubicBezTo>
                  <a:pt x="50100" y="199122"/>
                  <a:pt x="31312" y="201196"/>
                  <a:pt x="16700" y="213642"/>
                </a:cubicBezTo>
                <a:cubicBezTo>
                  <a:pt x="16700" y="155565"/>
                  <a:pt x="16700" y="155565"/>
                  <a:pt x="16700" y="155565"/>
                </a:cubicBezTo>
                <a:cubicBezTo>
                  <a:pt x="79325" y="29039"/>
                  <a:pt x="79325" y="29039"/>
                  <a:pt x="79325" y="29039"/>
                </a:cubicBezTo>
                <a:cubicBezTo>
                  <a:pt x="75150" y="16594"/>
                  <a:pt x="75150" y="16594"/>
                  <a:pt x="75150" y="16594"/>
                </a:cubicBezTo>
                <a:cubicBezTo>
                  <a:pt x="281812" y="16594"/>
                  <a:pt x="281812" y="16594"/>
                  <a:pt x="281812" y="16594"/>
                </a:cubicBezTo>
                <a:cubicBezTo>
                  <a:pt x="296424" y="26965"/>
                  <a:pt x="365312" y="80894"/>
                  <a:pt x="388275" y="134822"/>
                </a:cubicBezTo>
                <a:cubicBezTo>
                  <a:pt x="442549" y="190825"/>
                  <a:pt x="442549" y="190825"/>
                  <a:pt x="442549" y="190825"/>
                </a:cubicBezTo>
                <a:cubicBezTo>
                  <a:pt x="444637" y="197048"/>
                  <a:pt x="444637" y="219864"/>
                  <a:pt x="442549" y="244754"/>
                </a:cubicBezTo>
                <a:close/>
                <a:moveTo>
                  <a:pt x="108549" y="41483"/>
                </a:moveTo>
                <a:cubicBezTo>
                  <a:pt x="66799" y="124451"/>
                  <a:pt x="66799" y="124451"/>
                  <a:pt x="66799" y="124451"/>
                </a:cubicBezTo>
                <a:cubicBezTo>
                  <a:pt x="83500" y="124451"/>
                  <a:pt x="83500" y="124451"/>
                  <a:pt x="83500" y="124451"/>
                </a:cubicBezTo>
                <a:cubicBezTo>
                  <a:pt x="125250" y="41483"/>
                  <a:pt x="125250" y="41483"/>
                  <a:pt x="125250" y="41483"/>
                </a:cubicBezTo>
                <a:lnTo>
                  <a:pt x="108549" y="41483"/>
                </a:lnTo>
                <a:close/>
                <a:moveTo>
                  <a:pt x="150299" y="41483"/>
                </a:moveTo>
                <a:cubicBezTo>
                  <a:pt x="114812" y="120303"/>
                  <a:pt x="114812" y="120303"/>
                  <a:pt x="114812" y="120303"/>
                </a:cubicBezTo>
                <a:cubicBezTo>
                  <a:pt x="367400" y="141045"/>
                  <a:pt x="367400" y="141045"/>
                  <a:pt x="367400" y="141045"/>
                </a:cubicBezTo>
                <a:cubicBezTo>
                  <a:pt x="283900" y="41483"/>
                  <a:pt x="283900" y="41483"/>
                  <a:pt x="283900" y="41483"/>
                </a:cubicBezTo>
                <a:lnTo>
                  <a:pt x="150299" y="41483"/>
                </a:lnTo>
                <a:close/>
                <a:moveTo>
                  <a:pt x="137775" y="105783"/>
                </a:moveTo>
                <a:cubicBezTo>
                  <a:pt x="158650" y="58077"/>
                  <a:pt x="158650" y="58077"/>
                  <a:pt x="158650" y="58077"/>
                </a:cubicBezTo>
                <a:cubicBezTo>
                  <a:pt x="275549" y="58077"/>
                  <a:pt x="275549" y="58077"/>
                  <a:pt x="275549" y="58077"/>
                </a:cubicBezTo>
                <a:cubicBezTo>
                  <a:pt x="329824" y="124451"/>
                  <a:pt x="329824" y="124451"/>
                  <a:pt x="329824" y="124451"/>
                </a:cubicBezTo>
                <a:lnTo>
                  <a:pt x="137775" y="105783"/>
                </a:lnTo>
                <a:close/>
                <a:moveTo>
                  <a:pt x="367400" y="232310"/>
                </a:moveTo>
                <a:cubicBezTo>
                  <a:pt x="344437" y="232310"/>
                  <a:pt x="325650" y="250977"/>
                  <a:pt x="325650" y="273793"/>
                </a:cubicBezTo>
                <a:cubicBezTo>
                  <a:pt x="325650" y="296610"/>
                  <a:pt x="344437" y="315278"/>
                  <a:pt x="367400" y="315278"/>
                </a:cubicBezTo>
                <a:cubicBezTo>
                  <a:pt x="390362" y="315278"/>
                  <a:pt x="409150" y="296610"/>
                  <a:pt x="409150" y="273793"/>
                </a:cubicBezTo>
                <a:cubicBezTo>
                  <a:pt x="409150" y="250977"/>
                  <a:pt x="390362" y="232310"/>
                  <a:pt x="367400" y="232310"/>
                </a:cubicBezTo>
                <a:close/>
                <a:moveTo>
                  <a:pt x="367400" y="300758"/>
                </a:moveTo>
                <a:cubicBezTo>
                  <a:pt x="352787" y="300758"/>
                  <a:pt x="340262" y="288313"/>
                  <a:pt x="340262" y="273793"/>
                </a:cubicBezTo>
                <a:cubicBezTo>
                  <a:pt x="340262" y="259274"/>
                  <a:pt x="352787" y="246828"/>
                  <a:pt x="367400" y="246828"/>
                </a:cubicBezTo>
                <a:cubicBezTo>
                  <a:pt x="382012" y="246828"/>
                  <a:pt x="394537" y="259274"/>
                  <a:pt x="394537" y="273793"/>
                </a:cubicBezTo>
                <a:cubicBezTo>
                  <a:pt x="394537" y="288313"/>
                  <a:pt x="382012" y="300758"/>
                  <a:pt x="367400" y="300758"/>
                </a:cubicBezTo>
                <a:close/>
                <a:moveTo>
                  <a:pt x="66799" y="232310"/>
                </a:moveTo>
                <a:cubicBezTo>
                  <a:pt x="43838" y="232310"/>
                  <a:pt x="25049" y="250977"/>
                  <a:pt x="25049" y="273793"/>
                </a:cubicBezTo>
                <a:cubicBezTo>
                  <a:pt x="25049" y="296610"/>
                  <a:pt x="43838" y="315278"/>
                  <a:pt x="66799" y="315278"/>
                </a:cubicBezTo>
                <a:cubicBezTo>
                  <a:pt x="89762" y="315278"/>
                  <a:pt x="108549" y="296610"/>
                  <a:pt x="108549" y="273793"/>
                </a:cubicBezTo>
                <a:cubicBezTo>
                  <a:pt x="108549" y="250977"/>
                  <a:pt x="89762" y="232310"/>
                  <a:pt x="66799" y="232310"/>
                </a:cubicBezTo>
                <a:close/>
                <a:moveTo>
                  <a:pt x="66799" y="300758"/>
                </a:moveTo>
                <a:cubicBezTo>
                  <a:pt x="52187" y="300758"/>
                  <a:pt x="39662" y="288313"/>
                  <a:pt x="39662" y="273793"/>
                </a:cubicBezTo>
                <a:cubicBezTo>
                  <a:pt x="39662" y="259274"/>
                  <a:pt x="52187" y="246828"/>
                  <a:pt x="66799" y="246828"/>
                </a:cubicBezTo>
                <a:cubicBezTo>
                  <a:pt x="81412" y="246828"/>
                  <a:pt x="93937" y="259274"/>
                  <a:pt x="93937" y="273793"/>
                </a:cubicBezTo>
                <a:cubicBezTo>
                  <a:pt x="93937" y="288313"/>
                  <a:pt x="81412" y="300758"/>
                  <a:pt x="66799" y="300758"/>
                </a:cubicBezTo>
                <a:close/>
              </a:path>
            </a:pathLst>
          </a:custGeom>
          <a:solidFill>
            <a:srgbClr val="27CDD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4749800"/>
            <a:ext cx="3048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全链路临床思维闭环培养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5143500"/>
            <a:ext cx="30226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CFCFC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从问诊采集、鉴别诊断到方案制定的全流程模拟，AI实时引导纠错，帮助医学生建立系统化、规范化的临床诊疗思维体系。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94200" y="3898900"/>
            <a:ext cx="3403600" cy="1930400"/>
          </a:xfrm>
          <a:prstGeom prst="roundRect">
            <a:avLst>
              <a:gd name="adj" fmla="val 657"/>
            </a:avLst>
          </a:prstGeom>
          <a:solidFill>
            <a:srgbClr val="FCFCFC">
              <a:alpha val="2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5867400" y="4152900"/>
            <a:ext cx="437784" cy="365023"/>
          </a:xfrm>
          <a:custGeom>
            <a:avLst/>
            <a:gdLst/>
            <a:ahLst/>
            <a:cxnLst/>
            <a:rect l="l" t="t" r="r" b="b"/>
            <a:pathLst>
              <a:path w="437784" h="365023">
                <a:moveTo>
                  <a:pt x="129714" y="292019"/>
                </a:moveTo>
                <a:cubicBezTo>
                  <a:pt x="147955" y="292019"/>
                  <a:pt x="194570" y="302158"/>
                  <a:pt x="210784" y="306214"/>
                </a:cubicBezTo>
                <a:cubicBezTo>
                  <a:pt x="210784" y="310270"/>
                  <a:pt x="210784" y="310270"/>
                  <a:pt x="210784" y="310270"/>
                </a:cubicBezTo>
                <a:cubicBezTo>
                  <a:pt x="218892" y="308242"/>
                  <a:pt x="218892" y="308242"/>
                  <a:pt x="218892" y="308242"/>
                </a:cubicBezTo>
                <a:cubicBezTo>
                  <a:pt x="226999" y="310270"/>
                  <a:pt x="226999" y="310270"/>
                  <a:pt x="226999" y="310270"/>
                </a:cubicBezTo>
                <a:cubicBezTo>
                  <a:pt x="226999" y="306214"/>
                  <a:pt x="226999" y="306214"/>
                  <a:pt x="226999" y="306214"/>
                </a:cubicBezTo>
                <a:cubicBezTo>
                  <a:pt x="243214" y="302158"/>
                  <a:pt x="291856" y="292019"/>
                  <a:pt x="308070" y="292019"/>
                </a:cubicBezTo>
                <a:cubicBezTo>
                  <a:pt x="330365" y="292019"/>
                  <a:pt x="395221" y="308242"/>
                  <a:pt x="395221" y="308242"/>
                </a:cubicBezTo>
                <a:cubicBezTo>
                  <a:pt x="405356" y="310270"/>
                  <a:pt x="405356" y="310270"/>
                  <a:pt x="405356" y="310270"/>
                </a:cubicBezTo>
                <a:cubicBezTo>
                  <a:pt x="405356" y="18251"/>
                  <a:pt x="405356" y="18251"/>
                  <a:pt x="405356" y="18251"/>
                </a:cubicBezTo>
                <a:cubicBezTo>
                  <a:pt x="399275" y="16223"/>
                  <a:pt x="399275" y="16223"/>
                  <a:pt x="399275" y="16223"/>
                </a:cubicBezTo>
                <a:cubicBezTo>
                  <a:pt x="397248" y="16223"/>
                  <a:pt x="332392" y="0"/>
                  <a:pt x="308070" y="0"/>
                </a:cubicBezTo>
                <a:cubicBezTo>
                  <a:pt x="287802" y="0"/>
                  <a:pt x="231052" y="14195"/>
                  <a:pt x="218892" y="16223"/>
                </a:cubicBezTo>
                <a:cubicBezTo>
                  <a:pt x="208758" y="14195"/>
                  <a:pt x="152009" y="0"/>
                  <a:pt x="129714" y="0"/>
                </a:cubicBezTo>
                <a:cubicBezTo>
                  <a:pt x="107419" y="0"/>
                  <a:pt x="42563" y="16223"/>
                  <a:pt x="38509" y="16223"/>
                </a:cubicBezTo>
                <a:cubicBezTo>
                  <a:pt x="32428" y="18251"/>
                  <a:pt x="32428" y="18251"/>
                  <a:pt x="32428" y="18251"/>
                </a:cubicBezTo>
                <a:cubicBezTo>
                  <a:pt x="32428" y="310270"/>
                  <a:pt x="32428" y="310270"/>
                  <a:pt x="32428" y="310270"/>
                </a:cubicBezTo>
                <a:cubicBezTo>
                  <a:pt x="42563" y="308242"/>
                  <a:pt x="42563" y="308242"/>
                  <a:pt x="42563" y="308242"/>
                </a:cubicBezTo>
                <a:cubicBezTo>
                  <a:pt x="42563" y="308242"/>
                  <a:pt x="109446" y="292019"/>
                  <a:pt x="129714" y="292019"/>
                </a:cubicBezTo>
                <a:close/>
                <a:moveTo>
                  <a:pt x="226999" y="30419"/>
                </a:moveTo>
                <a:cubicBezTo>
                  <a:pt x="245240" y="26363"/>
                  <a:pt x="291856" y="16223"/>
                  <a:pt x="308070" y="16223"/>
                </a:cubicBezTo>
                <a:cubicBezTo>
                  <a:pt x="326311" y="16223"/>
                  <a:pt x="372927" y="26363"/>
                  <a:pt x="389141" y="30419"/>
                </a:cubicBezTo>
                <a:cubicBezTo>
                  <a:pt x="389141" y="289991"/>
                  <a:pt x="389141" y="289991"/>
                  <a:pt x="389141" y="289991"/>
                </a:cubicBezTo>
                <a:cubicBezTo>
                  <a:pt x="368874" y="285934"/>
                  <a:pt x="326311" y="275796"/>
                  <a:pt x="308070" y="275796"/>
                </a:cubicBezTo>
                <a:cubicBezTo>
                  <a:pt x="289829" y="275796"/>
                  <a:pt x="247266" y="285934"/>
                  <a:pt x="226999" y="289991"/>
                </a:cubicBezTo>
                <a:lnTo>
                  <a:pt x="226999" y="30419"/>
                </a:lnTo>
                <a:close/>
                <a:moveTo>
                  <a:pt x="48642" y="30419"/>
                </a:moveTo>
                <a:cubicBezTo>
                  <a:pt x="66883" y="26363"/>
                  <a:pt x="113500" y="16223"/>
                  <a:pt x="129714" y="16223"/>
                </a:cubicBezTo>
                <a:cubicBezTo>
                  <a:pt x="147955" y="16223"/>
                  <a:pt x="194570" y="26363"/>
                  <a:pt x="210784" y="30419"/>
                </a:cubicBezTo>
                <a:cubicBezTo>
                  <a:pt x="210784" y="289991"/>
                  <a:pt x="210784" y="289991"/>
                  <a:pt x="210784" y="289991"/>
                </a:cubicBezTo>
                <a:cubicBezTo>
                  <a:pt x="190517" y="285934"/>
                  <a:pt x="147955" y="275796"/>
                  <a:pt x="129714" y="275796"/>
                </a:cubicBezTo>
                <a:cubicBezTo>
                  <a:pt x="111473" y="275796"/>
                  <a:pt x="68910" y="285934"/>
                  <a:pt x="48642" y="289991"/>
                </a:cubicBezTo>
                <a:lnTo>
                  <a:pt x="48642" y="30419"/>
                </a:lnTo>
                <a:close/>
                <a:moveTo>
                  <a:pt x="421570" y="40559"/>
                </a:moveTo>
                <a:cubicBezTo>
                  <a:pt x="421570" y="332576"/>
                  <a:pt x="421570" y="332576"/>
                  <a:pt x="421570" y="332576"/>
                </a:cubicBezTo>
                <a:cubicBezTo>
                  <a:pt x="243214" y="332576"/>
                  <a:pt x="243214" y="332576"/>
                  <a:pt x="243214" y="332576"/>
                </a:cubicBezTo>
                <a:cubicBezTo>
                  <a:pt x="243214" y="348799"/>
                  <a:pt x="243214" y="348799"/>
                  <a:pt x="243214" y="348799"/>
                </a:cubicBezTo>
                <a:cubicBezTo>
                  <a:pt x="194570" y="348799"/>
                  <a:pt x="194570" y="348799"/>
                  <a:pt x="194570" y="348799"/>
                </a:cubicBezTo>
                <a:cubicBezTo>
                  <a:pt x="194570" y="332576"/>
                  <a:pt x="194570" y="332576"/>
                  <a:pt x="194570" y="332576"/>
                </a:cubicBezTo>
                <a:cubicBezTo>
                  <a:pt x="16214" y="332576"/>
                  <a:pt x="16214" y="332576"/>
                  <a:pt x="16214" y="332576"/>
                </a:cubicBezTo>
                <a:cubicBezTo>
                  <a:pt x="16214" y="40559"/>
                  <a:pt x="16214" y="40559"/>
                  <a:pt x="16214" y="40559"/>
                </a:cubicBezTo>
                <a:cubicBezTo>
                  <a:pt x="0" y="40559"/>
                  <a:pt x="0" y="40559"/>
                  <a:pt x="0" y="40559"/>
                </a:cubicBezTo>
                <a:cubicBezTo>
                  <a:pt x="0" y="348799"/>
                  <a:pt x="0" y="348799"/>
                  <a:pt x="0" y="348799"/>
                </a:cubicBezTo>
                <a:cubicBezTo>
                  <a:pt x="178356" y="348799"/>
                  <a:pt x="178356" y="348799"/>
                  <a:pt x="178356" y="348799"/>
                </a:cubicBezTo>
                <a:cubicBezTo>
                  <a:pt x="178356" y="365023"/>
                  <a:pt x="178356" y="365023"/>
                  <a:pt x="178356" y="365023"/>
                </a:cubicBezTo>
                <a:cubicBezTo>
                  <a:pt x="259428" y="365023"/>
                  <a:pt x="259428" y="365023"/>
                  <a:pt x="259428" y="365023"/>
                </a:cubicBezTo>
                <a:cubicBezTo>
                  <a:pt x="259428" y="348799"/>
                  <a:pt x="259428" y="348799"/>
                  <a:pt x="259428" y="348799"/>
                </a:cubicBezTo>
                <a:cubicBezTo>
                  <a:pt x="437784" y="348799"/>
                  <a:pt x="437784" y="348799"/>
                  <a:pt x="437784" y="348799"/>
                </a:cubicBezTo>
                <a:cubicBezTo>
                  <a:pt x="437784" y="40559"/>
                  <a:pt x="437784" y="40559"/>
                  <a:pt x="437784" y="40559"/>
                </a:cubicBezTo>
                <a:lnTo>
                  <a:pt x="421570" y="40559"/>
                </a:lnTo>
                <a:close/>
              </a:path>
            </a:pathLst>
          </a:custGeom>
          <a:solidFill>
            <a:srgbClr val="27CDD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572000" y="4749800"/>
            <a:ext cx="3048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高质量教学资源自动沉淀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72000" y="5143500"/>
            <a:ext cx="30226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CFCFC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系统自动归档学生诊疗数据与典型案例，生成标准化教学案例库，为院校积累可复用、可迭代的核心教学资产。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950200" y="3898900"/>
            <a:ext cx="3403600" cy="1930400"/>
          </a:xfrm>
          <a:prstGeom prst="roundRect">
            <a:avLst>
              <a:gd name="adj" fmla="val 657"/>
            </a:avLst>
          </a:prstGeom>
          <a:solidFill>
            <a:srgbClr val="FCFCFC">
              <a:alpha val="2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9423400" y="4178300"/>
            <a:ext cx="440860" cy="331462"/>
          </a:xfrm>
          <a:custGeom>
            <a:avLst/>
            <a:gdLst/>
            <a:ahLst/>
            <a:cxnLst/>
            <a:rect l="l" t="t" r="r" b="b"/>
            <a:pathLst>
              <a:path w="440860" h="331462">
                <a:moveTo>
                  <a:pt x="409923" y="77084"/>
                </a:moveTo>
                <a:cubicBezTo>
                  <a:pt x="409923" y="36615"/>
                  <a:pt x="409923" y="36615"/>
                  <a:pt x="409923" y="36615"/>
                </a:cubicBezTo>
                <a:cubicBezTo>
                  <a:pt x="409923" y="17344"/>
                  <a:pt x="392520" y="0"/>
                  <a:pt x="373184" y="0"/>
                </a:cubicBezTo>
                <a:cubicBezTo>
                  <a:pt x="36739" y="0"/>
                  <a:pt x="36739" y="0"/>
                  <a:pt x="36739" y="0"/>
                </a:cubicBezTo>
                <a:cubicBezTo>
                  <a:pt x="17403" y="0"/>
                  <a:pt x="0" y="17344"/>
                  <a:pt x="0" y="36615"/>
                </a:cubicBezTo>
                <a:cubicBezTo>
                  <a:pt x="0" y="233181"/>
                  <a:pt x="0" y="233181"/>
                  <a:pt x="0" y="233181"/>
                </a:cubicBezTo>
                <a:cubicBezTo>
                  <a:pt x="0" y="252452"/>
                  <a:pt x="17403" y="269795"/>
                  <a:pt x="36739" y="269795"/>
                </a:cubicBezTo>
                <a:cubicBezTo>
                  <a:pt x="166289" y="269795"/>
                  <a:pt x="166289" y="269795"/>
                  <a:pt x="166289" y="269795"/>
                </a:cubicBezTo>
                <a:cubicBezTo>
                  <a:pt x="162422" y="316046"/>
                  <a:pt x="162422" y="316046"/>
                  <a:pt x="162422" y="316046"/>
                </a:cubicBezTo>
                <a:cubicBezTo>
                  <a:pt x="139219" y="316046"/>
                  <a:pt x="139219" y="316046"/>
                  <a:pt x="139219" y="316046"/>
                </a:cubicBezTo>
                <a:cubicBezTo>
                  <a:pt x="135352" y="316046"/>
                  <a:pt x="131484" y="319900"/>
                  <a:pt x="131484" y="323755"/>
                </a:cubicBezTo>
                <a:cubicBezTo>
                  <a:pt x="131484" y="327609"/>
                  <a:pt x="135352" y="331462"/>
                  <a:pt x="139219" y="331462"/>
                </a:cubicBezTo>
                <a:cubicBezTo>
                  <a:pt x="270703" y="331462"/>
                  <a:pt x="270703" y="331462"/>
                  <a:pt x="270703" y="331462"/>
                </a:cubicBezTo>
                <a:cubicBezTo>
                  <a:pt x="274570" y="331462"/>
                  <a:pt x="278437" y="327609"/>
                  <a:pt x="278437" y="323755"/>
                </a:cubicBezTo>
                <a:cubicBezTo>
                  <a:pt x="278437" y="319900"/>
                  <a:pt x="274570" y="316046"/>
                  <a:pt x="270703" y="316046"/>
                </a:cubicBezTo>
                <a:cubicBezTo>
                  <a:pt x="247500" y="316046"/>
                  <a:pt x="247500" y="316046"/>
                  <a:pt x="247500" y="316046"/>
                </a:cubicBezTo>
                <a:cubicBezTo>
                  <a:pt x="243633" y="269795"/>
                  <a:pt x="243633" y="269795"/>
                  <a:pt x="243633" y="269795"/>
                </a:cubicBezTo>
                <a:cubicBezTo>
                  <a:pt x="301642" y="269795"/>
                  <a:pt x="301642" y="269795"/>
                  <a:pt x="301642" y="269795"/>
                </a:cubicBezTo>
                <a:cubicBezTo>
                  <a:pt x="301642" y="294848"/>
                  <a:pt x="301642" y="294848"/>
                  <a:pt x="301642" y="294848"/>
                </a:cubicBezTo>
                <a:cubicBezTo>
                  <a:pt x="301642" y="314119"/>
                  <a:pt x="319043" y="331462"/>
                  <a:pt x="338379" y="331462"/>
                </a:cubicBezTo>
                <a:cubicBezTo>
                  <a:pt x="404122" y="331462"/>
                  <a:pt x="404122" y="331462"/>
                  <a:pt x="404122" y="331462"/>
                </a:cubicBezTo>
                <a:cubicBezTo>
                  <a:pt x="423457" y="331462"/>
                  <a:pt x="440860" y="314119"/>
                  <a:pt x="440860" y="294848"/>
                </a:cubicBezTo>
                <a:cubicBezTo>
                  <a:pt x="440860" y="113699"/>
                  <a:pt x="440860" y="113699"/>
                  <a:pt x="440860" y="113699"/>
                </a:cubicBezTo>
                <a:cubicBezTo>
                  <a:pt x="440860" y="96355"/>
                  <a:pt x="427325" y="80938"/>
                  <a:pt x="409923" y="77084"/>
                </a:cubicBezTo>
                <a:close/>
                <a:moveTo>
                  <a:pt x="177891" y="316046"/>
                </a:moveTo>
                <a:cubicBezTo>
                  <a:pt x="181759" y="269795"/>
                  <a:pt x="181759" y="269795"/>
                  <a:pt x="181759" y="269795"/>
                </a:cubicBezTo>
                <a:cubicBezTo>
                  <a:pt x="228164" y="269795"/>
                  <a:pt x="228164" y="269795"/>
                  <a:pt x="228164" y="269795"/>
                </a:cubicBezTo>
                <a:cubicBezTo>
                  <a:pt x="232032" y="316046"/>
                  <a:pt x="232032" y="316046"/>
                  <a:pt x="232032" y="316046"/>
                </a:cubicBezTo>
                <a:lnTo>
                  <a:pt x="177891" y="316046"/>
                </a:lnTo>
                <a:close/>
                <a:moveTo>
                  <a:pt x="301642" y="254378"/>
                </a:moveTo>
                <a:cubicBezTo>
                  <a:pt x="36739" y="254378"/>
                  <a:pt x="36739" y="254378"/>
                  <a:pt x="36739" y="254378"/>
                </a:cubicBezTo>
                <a:cubicBezTo>
                  <a:pt x="25137" y="254378"/>
                  <a:pt x="15469" y="244743"/>
                  <a:pt x="15469" y="233181"/>
                </a:cubicBezTo>
                <a:cubicBezTo>
                  <a:pt x="15469" y="231253"/>
                  <a:pt x="15469" y="231253"/>
                  <a:pt x="15469" y="231253"/>
                </a:cubicBezTo>
                <a:cubicBezTo>
                  <a:pt x="301642" y="231253"/>
                  <a:pt x="301642" y="231253"/>
                  <a:pt x="301642" y="231253"/>
                </a:cubicBezTo>
                <a:lnTo>
                  <a:pt x="301642" y="254378"/>
                </a:lnTo>
                <a:close/>
                <a:moveTo>
                  <a:pt x="301642" y="113699"/>
                </a:moveTo>
                <a:cubicBezTo>
                  <a:pt x="301642" y="215836"/>
                  <a:pt x="301642" y="215836"/>
                  <a:pt x="301642" y="215836"/>
                </a:cubicBezTo>
                <a:cubicBezTo>
                  <a:pt x="15469" y="215836"/>
                  <a:pt x="15469" y="215836"/>
                  <a:pt x="15469" y="215836"/>
                </a:cubicBezTo>
                <a:cubicBezTo>
                  <a:pt x="15469" y="36615"/>
                  <a:pt x="15469" y="36615"/>
                  <a:pt x="15469" y="36615"/>
                </a:cubicBezTo>
                <a:cubicBezTo>
                  <a:pt x="15469" y="25052"/>
                  <a:pt x="25137" y="15417"/>
                  <a:pt x="36739" y="15417"/>
                </a:cubicBezTo>
                <a:cubicBezTo>
                  <a:pt x="373184" y="15417"/>
                  <a:pt x="373184" y="15417"/>
                  <a:pt x="373184" y="15417"/>
                </a:cubicBezTo>
                <a:cubicBezTo>
                  <a:pt x="384786" y="15417"/>
                  <a:pt x="394453" y="25052"/>
                  <a:pt x="394453" y="36615"/>
                </a:cubicBezTo>
                <a:cubicBezTo>
                  <a:pt x="394453" y="77084"/>
                  <a:pt x="394453" y="77084"/>
                  <a:pt x="394453" y="77084"/>
                </a:cubicBezTo>
                <a:cubicBezTo>
                  <a:pt x="338379" y="77084"/>
                  <a:pt x="338379" y="77084"/>
                  <a:pt x="338379" y="77084"/>
                </a:cubicBezTo>
                <a:cubicBezTo>
                  <a:pt x="319043" y="77084"/>
                  <a:pt x="301642" y="94428"/>
                  <a:pt x="301642" y="113699"/>
                </a:cubicBezTo>
                <a:close/>
                <a:moveTo>
                  <a:pt x="425392" y="294848"/>
                </a:moveTo>
                <a:cubicBezTo>
                  <a:pt x="425392" y="306410"/>
                  <a:pt x="415723" y="316046"/>
                  <a:pt x="404122" y="316046"/>
                </a:cubicBezTo>
                <a:cubicBezTo>
                  <a:pt x="338379" y="316046"/>
                  <a:pt x="338379" y="316046"/>
                  <a:pt x="338379" y="316046"/>
                </a:cubicBezTo>
                <a:cubicBezTo>
                  <a:pt x="326777" y="316046"/>
                  <a:pt x="317110" y="306410"/>
                  <a:pt x="317110" y="294848"/>
                </a:cubicBezTo>
                <a:cubicBezTo>
                  <a:pt x="317110" y="113699"/>
                  <a:pt x="317110" y="113699"/>
                  <a:pt x="317110" y="113699"/>
                </a:cubicBezTo>
                <a:cubicBezTo>
                  <a:pt x="317110" y="102137"/>
                  <a:pt x="326777" y="92502"/>
                  <a:pt x="338379" y="92502"/>
                </a:cubicBezTo>
                <a:cubicBezTo>
                  <a:pt x="404122" y="92502"/>
                  <a:pt x="404122" y="92502"/>
                  <a:pt x="404122" y="92502"/>
                </a:cubicBezTo>
                <a:cubicBezTo>
                  <a:pt x="415723" y="92502"/>
                  <a:pt x="425392" y="102137"/>
                  <a:pt x="425392" y="113699"/>
                </a:cubicBezTo>
                <a:lnTo>
                  <a:pt x="425392" y="294848"/>
                </a:lnTo>
                <a:close/>
                <a:moveTo>
                  <a:pt x="378985" y="107918"/>
                </a:moveTo>
                <a:cubicBezTo>
                  <a:pt x="363516" y="107918"/>
                  <a:pt x="363516" y="107918"/>
                  <a:pt x="363516" y="107918"/>
                </a:cubicBezTo>
                <a:cubicBezTo>
                  <a:pt x="359649" y="107918"/>
                  <a:pt x="355782" y="111773"/>
                  <a:pt x="355782" y="115627"/>
                </a:cubicBezTo>
                <a:cubicBezTo>
                  <a:pt x="355782" y="119480"/>
                  <a:pt x="359649" y="123335"/>
                  <a:pt x="363516" y="123335"/>
                </a:cubicBezTo>
                <a:cubicBezTo>
                  <a:pt x="378985" y="123335"/>
                  <a:pt x="378985" y="123335"/>
                  <a:pt x="378985" y="123335"/>
                </a:cubicBezTo>
                <a:cubicBezTo>
                  <a:pt x="382852" y="123335"/>
                  <a:pt x="386719" y="119480"/>
                  <a:pt x="386719" y="115627"/>
                </a:cubicBezTo>
                <a:cubicBezTo>
                  <a:pt x="386719" y="111773"/>
                  <a:pt x="382852" y="107918"/>
                  <a:pt x="378985" y="107918"/>
                </a:cubicBezTo>
                <a:close/>
                <a:moveTo>
                  <a:pt x="373184" y="269795"/>
                </a:moveTo>
                <a:cubicBezTo>
                  <a:pt x="371250" y="269795"/>
                  <a:pt x="371250" y="269795"/>
                  <a:pt x="371250" y="269795"/>
                </a:cubicBezTo>
                <a:cubicBezTo>
                  <a:pt x="361583" y="269795"/>
                  <a:pt x="355782" y="275577"/>
                  <a:pt x="355782" y="285213"/>
                </a:cubicBezTo>
                <a:cubicBezTo>
                  <a:pt x="355782" y="287139"/>
                  <a:pt x="355782" y="287139"/>
                  <a:pt x="355782" y="287139"/>
                </a:cubicBezTo>
                <a:cubicBezTo>
                  <a:pt x="355782" y="294848"/>
                  <a:pt x="361583" y="300629"/>
                  <a:pt x="371250" y="300629"/>
                </a:cubicBezTo>
                <a:cubicBezTo>
                  <a:pt x="373184" y="300629"/>
                  <a:pt x="373184" y="300629"/>
                  <a:pt x="373184" y="300629"/>
                </a:cubicBezTo>
                <a:cubicBezTo>
                  <a:pt x="380919" y="300629"/>
                  <a:pt x="386719" y="294848"/>
                  <a:pt x="386719" y="287139"/>
                </a:cubicBezTo>
                <a:cubicBezTo>
                  <a:pt x="386719" y="285213"/>
                  <a:pt x="386719" y="285213"/>
                  <a:pt x="386719" y="285213"/>
                </a:cubicBezTo>
                <a:cubicBezTo>
                  <a:pt x="386719" y="275577"/>
                  <a:pt x="380919" y="269795"/>
                  <a:pt x="373184" y="269795"/>
                </a:cubicBezTo>
                <a:close/>
              </a:path>
            </a:pathLst>
          </a:custGeom>
          <a:solidFill>
            <a:srgbClr val="27CDD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128000" y="4749800"/>
            <a:ext cx="3048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AI教研数据大脑 · 管理端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28000" y="5143500"/>
            <a:ext cx="30226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CFCFC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全局驾驶舱聚合全院学情薄弱点，实现AI教学成本监控与内容安全风控，用数据驱动教学改革与管理决策的科学化。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 rot="10800000">
            <a:off x="2387600" y="1828800"/>
            <a:ext cx="317500" cy="114300"/>
          </a:xfrm>
          <a:prstGeom prst="triangle">
            <a:avLst>
              <a:gd name="adj" fmla="val 50000"/>
            </a:avLst>
          </a:prstGeom>
          <a:solidFill>
            <a:srgbClr val="020202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 rot="10800000">
            <a:off x="5930900" y="1828800"/>
            <a:ext cx="317500" cy="114300"/>
          </a:xfrm>
          <a:prstGeom prst="triangle">
            <a:avLst>
              <a:gd name="adj" fmla="val 50000"/>
            </a:avLst>
          </a:prstGeom>
          <a:solidFill>
            <a:srgbClr val="020202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 rot="10800000">
            <a:off x="2387600" y="3898900"/>
            <a:ext cx="317500" cy="114300"/>
          </a:xfrm>
          <a:prstGeom prst="triangle">
            <a:avLst>
              <a:gd name="adj" fmla="val 50000"/>
            </a:avLst>
          </a:prstGeom>
          <a:solidFill>
            <a:srgbClr val="020202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 rot="10800000">
            <a:off x="5930900" y="3898900"/>
            <a:ext cx="317500" cy="114300"/>
          </a:xfrm>
          <a:prstGeom prst="triangle">
            <a:avLst>
              <a:gd name="adj" fmla="val 50000"/>
            </a:avLst>
          </a:prstGeom>
          <a:solidFill>
            <a:srgbClr val="020202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 rot="10800000">
            <a:off x="9486900" y="3898900"/>
            <a:ext cx="317500" cy="114300"/>
          </a:xfrm>
          <a:prstGeom prst="triangle">
            <a:avLst>
              <a:gd name="adj" fmla="val 50000"/>
            </a:avLst>
          </a:prstGeom>
          <a:solidFill>
            <a:srgbClr val="020202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7721600" y="1701800"/>
            <a:ext cx="3860800" cy="2197100"/>
          </a:xfrm>
          <a:prstGeom prst="roundRect">
            <a:avLst>
              <a:gd name="adj" fmla="val 578"/>
            </a:avLst>
          </a:prstGeom>
          <a:gradFill rotWithShape="0">
            <a:gsLst>
              <a:gs pos="0">
                <a:srgbClr val="27CDD6">
                  <a:alpha val="80000"/>
                </a:srgbClr>
              </a:gs>
              <a:gs pos="100000">
                <a:srgbClr val="2080C3">
                  <a:alpha val="8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889000" dist="317500" dir="8100000" sx="95000" sy="95000" algn="tr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874000" y="2730500"/>
            <a:ext cx="3556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智愈寻真：医学教育AI全景平台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899400" y="3175000"/>
            <a:ext cx="35052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FCFCFC">
                    <a:alpha val="94902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拒绝传统题库模式，以“虚拟病人+数据闭环”重塑医学教育，覆盖院校教学全场景，构建医教协同新生态。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 rot="10800000">
            <a:off x="9461500" y="1701800"/>
            <a:ext cx="368300" cy="13970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27CDD6">
                  <a:alpha val="80000"/>
                </a:srgbClr>
              </a:gs>
              <a:gs pos="100000">
                <a:srgbClr val="2080C3">
                  <a:alpha val="8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9271000" y="2057400"/>
            <a:ext cx="747199" cy="644323"/>
          </a:xfrm>
          <a:custGeom>
            <a:avLst/>
            <a:gdLst/>
            <a:ahLst/>
            <a:cxnLst/>
            <a:rect l="l" t="t" r="r" b="b"/>
            <a:pathLst>
              <a:path w="747199" h="644323">
                <a:moveTo>
                  <a:pt x="734092" y="322161"/>
                </a:moveTo>
                <a:cubicBezTo>
                  <a:pt x="734092" y="262989"/>
                  <a:pt x="684934" y="210391"/>
                  <a:pt x="622667" y="210391"/>
                </a:cubicBezTo>
                <a:cubicBezTo>
                  <a:pt x="563677" y="210391"/>
                  <a:pt x="511242" y="262989"/>
                  <a:pt x="511242" y="322161"/>
                </a:cubicBezTo>
                <a:cubicBezTo>
                  <a:pt x="511242" y="384621"/>
                  <a:pt x="563677" y="433932"/>
                  <a:pt x="622667" y="433932"/>
                </a:cubicBezTo>
                <a:cubicBezTo>
                  <a:pt x="684934" y="433932"/>
                  <a:pt x="734092" y="384621"/>
                  <a:pt x="734092" y="322161"/>
                </a:cubicBezTo>
                <a:close/>
                <a:moveTo>
                  <a:pt x="668547" y="262989"/>
                </a:moveTo>
                <a:cubicBezTo>
                  <a:pt x="684934" y="262989"/>
                  <a:pt x="694765" y="276139"/>
                  <a:pt x="694765" y="289288"/>
                </a:cubicBezTo>
                <a:cubicBezTo>
                  <a:pt x="694765" y="305725"/>
                  <a:pt x="684934" y="315587"/>
                  <a:pt x="668547" y="315587"/>
                </a:cubicBezTo>
                <a:cubicBezTo>
                  <a:pt x="655438" y="315587"/>
                  <a:pt x="642330" y="305725"/>
                  <a:pt x="642330" y="289288"/>
                </a:cubicBezTo>
                <a:cubicBezTo>
                  <a:pt x="642330" y="276139"/>
                  <a:pt x="655438" y="262989"/>
                  <a:pt x="668547" y="262989"/>
                </a:cubicBezTo>
                <a:close/>
                <a:moveTo>
                  <a:pt x="550568" y="341885"/>
                </a:moveTo>
                <a:cubicBezTo>
                  <a:pt x="550568" y="335310"/>
                  <a:pt x="557122" y="328736"/>
                  <a:pt x="563677" y="328736"/>
                </a:cubicBezTo>
                <a:cubicBezTo>
                  <a:pt x="573509" y="328736"/>
                  <a:pt x="576786" y="335310"/>
                  <a:pt x="576786" y="341885"/>
                </a:cubicBezTo>
                <a:cubicBezTo>
                  <a:pt x="576786" y="351748"/>
                  <a:pt x="573509" y="355035"/>
                  <a:pt x="563677" y="355035"/>
                </a:cubicBezTo>
                <a:cubicBezTo>
                  <a:pt x="557122" y="355035"/>
                  <a:pt x="550568" y="351748"/>
                  <a:pt x="550568" y="341885"/>
                </a:cubicBezTo>
                <a:close/>
                <a:moveTo>
                  <a:pt x="563677" y="381334"/>
                </a:moveTo>
                <a:cubicBezTo>
                  <a:pt x="586618" y="381334"/>
                  <a:pt x="603004" y="364898"/>
                  <a:pt x="603004" y="341885"/>
                </a:cubicBezTo>
                <a:cubicBezTo>
                  <a:pt x="603004" y="322161"/>
                  <a:pt x="586618" y="302438"/>
                  <a:pt x="563677" y="302438"/>
                </a:cubicBezTo>
                <a:cubicBezTo>
                  <a:pt x="553846" y="302438"/>
                  <a:pt x="547291" y="309013"/>
                  <a:pt x="537460" y="312299"/>
                </a:cubicBezTo>
                <a:cubicBezTo>
                  <a:pt x="544015" y="269564"/>
                  <a:pt x="580064" y="236690"/>
                  <a:pt x="622667" y="236690"/>
                </a:cubicBezTo>
                <a:cubicBezTo>
                  <a:pt x="632498" y="236690"/>
                  <a:pt x="642330" y="239978"/>
                  <a:pt x="648884" y="243265"/>
                </a:cubicBezTo>
                <a:cubicBezTo>
                  <a:pt x="629222" y="249839"/>
                  <a:pt x="616113" y="269564"/>
                  <a:pt x="616113" y="289288"/>
                </a:cubicBezTo>
                <a:cubicBezTo>
                  <a:pt x="616113" y="318874"/>
                  <a:pt x="642330" y="341885"/>
                  <a:pt x="668547" y="341885"/>
                </a:cubicBezTo>
                <a:cubicBezTo>
                  <a:pt x="684934" y="341885"/>
                  <a:pt x="698042" y="335310"/>
                  <a:pt x="707874" y="325449"/>
                </a:cubicBezTo>
                <a:cubicBezTo>
                  <a:pt x="707874" y="371472"/>
                  <a:pt x="671825" y="407633"/>
                  <a:pt x="622667" y="407633"/>
                </a:cubicBezTo>
                <a:cubicBezTo>
                  <a:pt x="599726" y="407633"/>
                  <a:pt x="576786" y="397770"/>
                  <a:pt x="563677" y="381334"/>
                </a:cubicBezTo>
                <a:cubicBezTo>
                  <a:pt x="563677" y="381334"/>
                  <a:pt x="563677" y="381334"/>
                  <a:pt x="563677" y="381334"/>
                </a:cubicBezTo>
                <a:close/>
                <a:moveTo>
                  <a:pt x="606280" y="456943"/>
                </a:moveTo>
                <a:cubicBezTo>
                  <a:pt x="599726" y="456943"/>
                  <a:pt x="593173" y="456943"/>
                  <a:pt x="586618" y="453655"/>
                </a:cubicBezTo>
                <a:cubicBezTo>
                  <a:pt x="557122" y="512829"/>
                  <a:pt x="507964" y="562139"/>
                  <a:pt x="452252" y="588438"/>
                </a:cubicBezTo>
                <a:cubicBezTo>
                  <a:pt x="448975" y="588438"/>
                  <a:pt x="445699" y="588438"/>
                  <a:pt x="442421" y="588438"/>
                </a:cubicBezTo>
                <a:cubicBezTo>
                  <a:pt x="439144" y="585150"/>
                  <a:pt x="435867" y="581863"/>
                  <a:pt x="429312" y="581863"/>
                </a:cubicBezTo>
                <a:cubicBezTo>
                  <a:pt x="422758" y="581863"/>
                  <a:pt x="422758" y="581863"/>
                  <a:pt x="419481" y="578575"/>
                </a:cubicBezTo>
                <a:cubicBezTo>
                  <a:pt x="416203" y="575288"/>
                  <a:pt x="416203" y="568714"/>
                  <a:pt x="416203" y="562139"/>
                </a:cubicBezTo>
                <a:cubicBezTo>
                  <a:pt x="416203" y="552277"/>
                  <a:pt x="416203" y="539128"/>
                  <a:pt x="406372" y="532553"/>
                </a:cubicBezTo>
                <a:cubicBezTo>
                  <a:pt x="399818" y="522690"/>
                  <a:pt x="386709" y="519403"/>
                  <a:pt x="370323" y="519403"/>
                </a:cubicBezTo>
                <a:cubicBezTo>
                  <a:pt x="347382" y="522690"/>
                  <a:pt x="317887" y="535840"/>
                  <a:pt x="308056" y="552277"/>
                </a:cubicBezTo>
                <a:cubicBezTo>
                  <a:pt x="298224" y="568714"/>
                  <a:pt x="298224" y="598300"/>
                  <a:pt x="304778" y="618024"/>
                </a:cubicBezTo>
                <a:cubicBezTo>
                  <a:pt x="265453" y="618024"/>
                  <a:pt x="226126" y="604874"/>
                  <a:pt x="190077" y="588438"/>
                </a:cubicBezTo>
                <a:cubicBezTo>
                  <a:pt x="193355" y="588438"/>
                  <a:pt x="196632" y="588438"/>
                  <a:pt x="199908" y="588438"/>
                </a:cubicBezTo>
                <a:cubicBezTo>
                  <a:pt x="216295" y="588438"/>
                  <a:pt x="245789" y="588438"/>
                  <a:pt x="245789" y="562139"/>
                </a:cubicBezTo>
                <a:cubicBezTo>
                  <a:pt x="245789" y="548989"/>
                  <a:pt x="239235" y="539128"/>
                  <a:pt x="232681" y="529265"/>
                </a:cubicBezTo>
                <a:cubicBezTo>
                  <a:pt x="229404" y="525978"/>
                  <a:pt x="229404" y="519403"/>
                  <a:pt x="226126" y="519403"/>
                </a:cubicBezTo>
                <a:cubicBezTo>
                  <a:pt x="226126" y="512829"/>
                  <a:pt x="222849" y="506254"/>
                  <a:pt x="222849" y="502967"/>
                </a:cubicBezTo>
                <a:cubicBezTo>
                  <a:pt x="216295" y="486529"/>
                  <a:pt x="216295" y="473380"/>
                  <a:pt x="213017" y="456943"/>
                </a:cubicBezTo>
                <a:cubicBezTo>
                  <a:pt x="213017" y="450369"/>
                  <a:pt x="213017" y="443794"/>
                  <a:pt x="209740" y="437219"/>
                </a:cubicBezTo>
                <a:cubicBezTo>
                  <a:pt x="209740" y="427358"/>
                  <a:pt x="206463" y="420783"/>
                  <a:pt x="206463" y="414208"/>
                </a:cubicBezTo>
                <a:cubicBezTo>
                  <a:pt x="206463" y="407633"/>
                  <a:pt x="209740" y="401058"/>
                  <a:pt x="209740" y="391196"/>
                </a:cubicBezTo>
                <a:cubicBezTo>
                  <a:pt x="209740" y="384621"/>
                  <a:pt x="209740" y="374759"/>
                  <a:pt x="209740" y="368184"/>
                </a:cubicBezTo>
                <a:cubicBezTo>
                  <a:pt x="209740" y="364898"/>
                  <a:pt x="209740" y="364898"/>
                  <a:pt x="209740" y="364898"/>
                </a:cubicBezTo>
                <a:cubicBezTo>
                  <a:pt x="209740" y="355035"/>
                  <a:pt x="209740" y="345173"/>
                  <a:pt x="213017" y="338599"/>
                </a:cubicBezTo>
                <a:cubicBezTo>
                  <a:pt x="213017" y="335310"/>
                  <a:pt x="216295" y="332024"/>
                  <a:pt x="219572" y="328736"/>
                </a:cubicBezTo>
                <a:cubicBezTo>
                  <a:pt x="222849" y="325449"/>
                  <a:pt x="226126" y="322161"/>
                  <a:pt x="229404" y="315587"/>
                </a:cubicBezTo>
                <a:cubicBezTo>
                  <a:pt x="239235" y="299150"/>
                  <a:pt x="239235" y="266276"/>
                  <a:pt x="229404" y="246553"/>
                </a:cubicBezTo>
                <a:cubicBezTo>
                  <a:pt x="222849" y="226828"/>
                  <a:pt x="209740" y="220254"/>
                  <a:pt x="203186" y="220254"/>
                </a:cubicBezTo>
                <a:cubicBezTo>
                  <a:pt x="186800" y="216966"/>
                  <a:pt x="170414" y="216966"/>
                  <a:pt x="157305" y="216966"/>
                </a:cubicBezTo>
                <a:cubicBezTo>
                  <a:pt x="150750" y="216966"/>
                  <a:pt x="144197" y="216966"/>
                  <a:pt x="137643" y="216966"/>
                </a:cubicBezTo>
                <a:cubicBezTo>
                  <a:pt x="111425" y="216966"/>
                  <a:pt x="95039" y="210391"/>
                  <a:pt x="81930" y="193954"/>
                </a:cubicBezTo>
                <a:cubicBezTo>
                  <a:pt x="78652" y="190668"/>
                  <a:pt x="78652" y="190668"/>
                  <a:pt x="78652" y="190668"/>
                </a:cubicBezTo>
                <a:cubicBezTo>
                  <a:pt x="75376" y="187380"/>
                  <a:pt x="68821" y="180805"/>
                  <a:pt x="65543" y="177518"/>
                </a:cubicBezTo>
                <a:cubicBezTo>
                  <a:pt x="91761" y="131495"/>
                  <a:pt x="127810" y="95334"/>
                  <a:pt x="170414" y="69035"/>
                </a:cubicBezTo>
                <a:cubicBezTo>
                  <a:pt x="196632" y="92046"/>
                  <a:pt x="235958" y="101909"/>
                  <a:pt x="278562" y="92046"/>
                </a:cubicBezTo>
                <a:cubicBezTo>
                  <a:pt x="281838" y="92046"/>
                  <a:pt x="281838" y="92046"/>
                  <a:pt x="281838" y="92046"/>
                </a:cubicBezTo>
                <a:cubicBezTo>
                  <a:pt x="281838" y="88759"/>
                  <a:pt x="281838" y="88759"/>
                  <a:pt x="285116" y="88759"/>
                </a:cubicBezTo>
                <a:cubicBezTo>
                  <a:pt x="285116" y="88759"/>
                  <a:pt x="285116" y="88759"/>
                  <a:pt x="285116" y="88759"/>
                </a:cubicBezTo>
                <a:cubicBezTo>
                  <a:pt x="288393" y="95334"/>
                  <a:pt x="288393" y="95334"/>
                  <a:pt x="288393" y="95334"/>
                </a:cubicBezTo>
                <a:cubicBezTo>
                  <a:pt x="294947" y="101909"/>
                  <a:pt x="308056" y="108483"/>
                  <a:pt x="324442" y="115058"/>
                </a:cubicBezTo>
                <a:cubicBezTo>
                  <a:pt x="327720" y="118345"/>
                  <a:pt x="327720" y="118345"/>
                  <a:pt x="327720" y="118345"/>
                </a:cubicBezTo>
                <a:cubicBezTo>
                  <a:pt x="340829" y="124920"/>
                  <a:pt x="353936" y="131495"/>
                  <a:pt x="370323" y="131495"/>
                </a:cubicBezTo>
                <a:cubicBezTo>
                  <a:pt x="376878" y="131495"/>
                  <a:pt x="380154" y="128206"/>
                  <a:pt x="386709" y="124920"/>
                </a:cubicBezTo>
                <a:cubicBezTo>
                  <a:pt x="396540" y="118345"/>
                  <a:pt x="403094" y="108483"/>
                  <a:pt x="406372" y="101909"/>
                </a:cubicBezTo>
                <a:cubicBezTo>
                  <a:pt x="406372" y="95334"/>
                  <a:pt x="409649" y="92046"/>
                  <a:pt x="409649" y="92046"/>
                </a:cubicBezTo>
                <a:cubicBezTo>
                  <a:pt x="416203" y="88759"/>
                  <a:pt x="429312" y="95334"/>
                  <a:pt x="439144" y="95334"/>
                </a:cubicBezTo>
                <a:cubicBezTo>
                  <a:pt x="442421" y="98621"/>
                  <a:pt x="445699" y="98621"/>
                  <a:pt x="448975" y="98621"/>
                </a:cubicBezTo>
                <a:cubicBezTo>
                  <a:pt x="465361" y="105195"/>
                  <a:pt x="481748" y="101909"/>
                  <a:pt x="491579" y="92046"/>
                </a:cubicBezTo>
                <a:cubicBezTo>
                  <a:pt x="491579" y="88759"/>
                  <a:pt x="494857" y="85471"/>
                  <a:pt x="494857" y="85471"/>
                </a:cubicBezTo>
                <a:cubicBezTo>
                  <a:pt x="534182" y="111770"/>
                  <a:pt x="563677" y="147931"/>
                  <a:pt x="586618" y="190668"/>
                </a:cubicBezTo>
                <a:cubicBezTo>
                  <a:pt x="593173" y="187380"/>
                  <a:pt x="603004" y="187380"/>
                  <a:pt x="612835" y="187380"/>
                </a:cubicBezTo>
                <a:cubicBezTo>
                  <a:pt x="612835" y="187380"/>
                  <a:pt x="612835" y="187380"/>
                  <a:pt x="612835" y="187380"/>
                </a:cubicBezTo>
                <a:cubicBezTo>
                  <a:pt x="560400" y="75609"/>
                  <a:pt x="448975" y="0"/>
                  <a:pt x="321165" y="0"/>
                </a:cubicBezTo>
                <a:cubicBezTo>
                  <a:pt x="144197" y="0"/>
                  <a:pt x="0" y="144644"/>
                  <a:pt x="0" y="322161"/>
                </a:cubicBezTo>
                <a:cubicBezTo>
                  <a:pt x="0" y="499679"/>
                  <a:pt x="144197" y="644323"/>
                  <a:pt x="321165" y="644323"/>
                </a:cubicBezTo>
                <a:cubicBezTo>
                  <a:pt x="448975" y="644323"/>
                  <a:pt x="563677" y="572002"/>
                  <a:pt x="612835" y="456943"/>
                </a:cubicBezTo>
                <a:cubicBezTo>
                  <a:pt x="612835" y="456943"/>
                  <a:pt x="609558" y="456943"/>
                  <a:pt x="606280" y="456943"/>
                </a:cubicBezTo>
                <a:close/>
                <a:moveTo>
                  <a:pt x="321165" y="26299"/>
                </a:moveTo>
                <a:cubicBezTo>
                  <a:pt x="376878" y="26299"/>
                  <a:pt x="429312" y="42736"/>
                  <a:pt x="471915" y="69035"/>
                </a:cubicBezTo>
                <a:cubicBezTo>
                  <a:pt x="471915" y="69035"/>
                  <a:pt x="471915" y="69035"/>
                  <a:pt x="471915" y="69035"/>
                </a:cubicBezTo>
                <a:cubicBezTo>
                  <a:pt x="471915" y="72321"/>
                  <a:pt x="471915" y="72321"/>
                  <a:pt x="471915" y="72321"/>
                </a:cubicBezTo>
                <a:cubicBezTo>
                  <a:pt x="468639" y="78896"/>
                  <a:pt x="458807" y="75609"/>
                  <a:pt x="455530" y="75609"/>
                </a:cubicBezTo>
                <a:cubicBezTo>
                  <a:pt x="452252" y="72321"/>
                  <a:pt x="448975" y="72321"/>
                  <a:pt x="448975" y="72321"/>
                </a:cubicBezTo>
                <a:cubicBezTo>
                  <a:pt x="432590" y="65747"/>
                  <a:pt x="416203" y="62460"/>
                  <a:pt x="399818" y="69035"/>
                </a:cubicBezTo>
                <a:cubicBezTo>
                  <a:pt x="386709" y="72321"/>
                  <a:pt x="383432" y="85471"/>
                  <a:pt x="380154" y="92046"/>
                </a:cubicBezTo>
                <a:cubicBezTo>
                  <a:pt x="376878" y="98621"/>
                  <a:pt x="376878" y="101909"/>
                  <a:pt x="373600" y="101909"/>
                </a:cubicBezTo>
                <a:cubicBezTo>
                  <a:pt x="367045" y="108483"/>
                  <a:pt x="350660" y="98621"/>
                  <a:pt x="340829" y="95334"/>
                </a:cubicBezTo>
                <a:cubicBezTo>
                  <a:pt x="334274" y="92046"/>
                  <a:pt x="334274" y="92046"/>
                  <a:pt x="334274" y="92046"/>
                </a:cubicBezTo>
                <a:cubicBezTo>
                  <a:pt x="321165" y="85471"/>
                  <a:pt x="311333" y="82184"/>
                  <a:pt x="304778" y="75609"/>
                </a:cubicBezTo>
                <a:cubicBezTo>
                  <a:pt x="301502" y="72321"/>
                  <a:pt x="301502" y="72321"/>
                  <a:pt x="301502" y="72321"/>
                </a:cubicBezTo>
                <a:cubicBezTo>
                  <a:pt x="291671" y="62460"/>
                  <a:pt x="288393" y="62460"/>
                  <a:pt x="275284" y="65747"/>
                </a:cubicBezTo>
                <a:cubicBezTo>
                  <a:pt x="272007" y="65747"/>
                  <a:pt x="272007" y="65747"/>
                  <a:pt x="272007" y="65747"/>
                </a:cubicBezTo>
                <a:cubicBezTo>
                  <a:pt x="255621" y="69035"/>
                  <a:pt x="219572" y="72321"/>
                  <a:pt x="196632" y="55885"/>
                </a:cubicBezTo>
                <a:cubicBezTo>
                  <a:pt x="232681" y="36161"/>
                  <a:pt x="275284" y="26299"/>
                  <a:pt x="321165" y="26299"/>
                </a:cubicBezTo>
                <a:close/>
                <a:moveTo>
                  <a:pt x="88485" y="502967"/>
                </a:moveTo>
                <a:cubicBezTo>
                  <a:pt x="62267" y="470093"/>
                  <a:pt x="45881" y="433932"/>
                  <a:pt x="36049" y="394484"/>
                </a:cubicBezTo>
                <a:cubicBezTo>
                  <a:pt x="39327" y="394484"/>
                  <a:pt x="39327" y="394484"/>
                  <a:pt x="42603" y="394484"/>
                </a:cubicBezTo>
                <a:cubicBezTo>
                  <a:pt x="52434" y="394484"/>
                  <a:pt x="62267" y="397770"/>
                  <a:pt x="65543" y="401058"/>
                </a:cubicBezTo>
                <a:cubicBezTo>
                  <a:pt x="68821" y="401058"/>
                  <a:pt x="72098" y="407633"/>
                  <a:pt x="75376" y="414208"/>
                </a:cubicBezTo>
                <a:cubicBezTo>
                  <a:pt x="75376" y="417495"/>
                  <a:pt x="78652" y="420783"/>
                  <a:pt x="81930" y="424070"/>
                </a:cubicBezTo>
                <a:cubicBezTo>
                  <a:pt x="85207" y="430644"/>
                  <a:pt x="88485" y="437219"/>
                  <a:pt x="88485" y="443794"/>
                </a:cubicBezTo>
                <a:cubicBezTo>
                  <a:pt x="88485" y="447081"/>
                  <a:pt x="88485" y="447081"/>
                  <a:pt x="85207" y="453655"/>
                </a:cubicBezTo>
                <a:cubicBezTo>
                  <a:pt x="81930" y="456943"/>
                  <a:pt x="78652" y="460230"/>
                  <a:pt x="78652" y="466805"/>
                </a:cubicBezTo>
                <a:cubicBezTo>
                  <a:pt x="72098" y="479955"/>
                  <a:pt x="78652" y="493104"/>
                  <a:pt x="85207" y="496392"/>
                </a:cubicBezTo>
                <a:cubicBezTo>
                  <a:pt x="85207" y="499679"/>
                  <a:pt x="88485" y="502967"/>
                  <a:pt x="88485" y="502967"/>
                </a:cubicBezTo>
                <a:cubicBezTo>
                  <a:pt x="88485" y="502967"/>
                  <a:pt x="88485" y="502967"/>
                  <a:pt x="88485" y="502967"/>
                </a:cubicBezTo>
                <a:close/>
                <a:moveTo>
                  <a:pt x="160583" y="568714"/>
                </a:moveTo>
                <a:cubicBezTo>
                  <a:pt x="137643" y="555564"/>
                  <a:pt x="117979" y="539128"/>
                  <a:pt x="101592" y="522690"/>
                </a:cubicBezTo>
                <a:cubicBezTo>
                  <a:pt x="104870" y="519403"/>
                  <a:pt x="104870" y="519403"/>
                  <a:pt x="104870" y="519403"/>
                </a:cubicBezTo>
                <a:cubicBezTo>
                  <a:pt x="108147" y="522690"/>
                  <a:pt x="108147" y="522690"/>
                  <a:pt x="104870" y="522690"/>
                </a:cubicBezTo>
                <a:cubicBezTo>
                  <a:pt x="108147" y="522690"/>
                  <a:pt x="108147" y="519403"/>
                  <a:pt x="108147" y="519403"/>
                </a:cubicBezTo>
                <a:cubicBezTo>
                  <a:pt x="111425" y="516115"/>
                  <a:pt x="114701" y="512829"/>
                  <a:pt x="114701" y="506254"/>
                </a:cubicBezTo>
                <a:cubicBezTo>
                  <a:pt x="117979" y="493104"/>
                  <a:pt x="108147" y="486529"/>
                  <a:pt x="104870" y="479955"/>
                </a:cubicBezTo>
                <a:cubicBezTo>
                  <a:pt x="104870" y="479955"/>
                  <a:pt x="101592" y="476668"/>
                  <a:pt x="101592" y="473380"/>
                </a:cubicBezTo>
                <a:cubicBezTo>
                  <a:pt x="101592" y="473380"/>
                  <a:pt x="104870" y="470093"/>
                  <a:pt x="104870" y="466805"/>
                </a:cubicBezTo>
                <a:cubicBezTo>
                  <a:pt x="108147" y="463518"/>
                  <a:pt x="114701" y="453655"/>
                  <a:pt x="114701" y="440507"/>
                </a:cubicBezTo>
                <a:cubicBezTo>
                  <a:pt x="111425" y="427358"/>
                  <a:pt x="108147" y="420783"/>
                  <a:pt x="104870" y="410920"/>
                </a:cubicBezTo>
                <a:cubicBezTo>
                  <a:pt x="101592" y="407633"/>
                  <a:pt x="101592" y="404345"/>
                  <a:pt x="98316" y="404345"/>
                </a:cubicBezTo>
                <a:cubicBezTo>
                  <a:pt x="95039" y="394484"/>
                  <a:pt x="91761" y="384621"/>
                  <a:pt x="78652" y="378047"/>
                </a:cubicBezTo>
                <a:cubicBezTo>
                  <a:pt x="68821" y="371472"/>
                  <a:pt x="55712" y="371472"/>
                  <a:pt x="45881" y="368184"/>
                </a:cubicBezTo>
                <a:cubicBezTo>
                  <a:pt x="39327" y="368184"/>
                  <a:pt x="32772" y="368184"/>
                  <a:pt x="29494" y="368184"/>
                </a:cubicBezTo>
                <a:cubicBezTo>
                  <a:pt x="26218" y="351748"/>
                  <a:pt x="26218" y="338599"/>
                  <a:pt x="26218" y="322161"/>
                </a:cubicBezTo>
                <a:cubicBezTo>
                  <a:pt x="26218" y="279425"/>
                  <a:pt x="36049" y="239978"/>
                  <a:pt x="52434" y="203816"/>
                </a:cubicBezTo>
                <a:cubicBezTo>
                  <a:pt x="55712" y="203816"/>
                  <a:pt x="55712" y="207104"/>
                  <a:pt x="58989" y="210391"/>
                </a:cubicBezTo>
                <a:cubicBezTo>
                  <a:pt x="62267" y="213679"/>
                  <a:pt x="62267" y="213679"/>
                  <a:pt x="62267" y="213679"/>
                </a:cubicBezTo>
                <a:cubicBezTo>
                  <a:pt x="85207" y="236690"/>
                  <a:pt x="114701" y="243265"/>
                  <a:pt x="134365" y="243265"/>
                </a:cubicBezTo>
                <a:cubicBezTo>
                  <a:pt x="140919" y="243265"/>
                  <a:pt x="150750" y="243265"/>
                  <a:pt x="157305" y="243265"/>
                </a:cubicBezTo>
                <a:cubicBezTo>
                  <a:pt x="170414" y="243265"/>
                  <a:pt x="183523" y="243265"/>
                  <a:pt x="196632" y="246553"/>
                </a:cubicBezTo>
                <a:cubicBezTo>
                  <a:pt x="199908" y="246553"/>
                  <a:pt x="203186" y="253128"/>
                  <a:pt x="206463" y="256414"/>
                </a:cubicBezTo>
                <a:cubicBezTo>
                  <a:pt x="213017" y="269564"/>
                  <a:pt x="209740" y="295863"/>
                  <a:pt x="206463" y="302438"/>
                </a:cubicBezTo>
                <a:cubicBezTo>
                  <a:pt x="203186" y="305725"/>
                  <a:pt x="203186" y="309013"/>
                  <a:pt x="199908" y="312299"/>
                </a:cubicBezTo>
                <a:cubicBezTo>
                  <a:pt x="193355" y="315587"/>
                  <a:pt x="190077" y="322161"/>
                  <a:pt x="186800" y="332024"/>
                </a:cubicBezTo>
                <a:cubicBezTo>
                  <a:pt x="183523" y="341885"/>
                  <a:pt x="183523" y="355035"/>
                  <a:pt x="183523" y="364898"/>
                </a:cubicBezTo>
                <a:cubicBezTo>
                  <a:pt x="183523" y="368184"/>
                  <a:pt x="183523" y="368184"/>
                  <a:pt x="183523" y="368184"/>
                </a:cubicBezTo>
                <a:cubicBezTo>
                  <a:pt x="183523" y="374759"/>
                  <a:pt x="183523" y="381334"/>
                  <a:pt x="183523" y="387909"/>
                </a:cubicBezTo>
                <a:cubicBezTo>
                  <a:pt x="183523" y="397770"/>
                  <a:pt x="180246" y="407633"/>
                  <a:pt x="180246" y="414208"/>
                </a:cubicBezTo>
                <a:cubicBezTo>
                  <a:pt x="180246" y="424070"/>
                  <a:pt x="183523" y="433932"/>
                  <a:pt x="186800" y="440507"/>
                </a:cubicBezTo>
                <a:cubicBezTo>
                  <a:pt x="186800" y="447081"/>
                  <a:pt x="186800" y="453655"/>
                  <a:pt x="186800" y="460230"/>
                </a:cubicBezTo>
                <a:cubicBezTo>
                  <a:pt x="190077" y="476668"/>
                  <a:pt x="193355" y="493104"/>
                  <a:pt x="196632" y="509542"/>
                </a:cubicBezTo>
                <a:cubicBezTo>
                  <a:pt x="196632" y="516115"/>
                  <a:pt x="199908" y="522690"/>
                  <a:pt x="203186" y="529265"/>
                </a:cubicBezTo>
                <a:cubicBezTo>
                  <a:pt x="203186" y="532553"/>
                  <a:pt x="206463" y="535840"/>
                  <a:pt x="209740" y="542414"/>
                </a:cubicBezTo>
                <a:cubicBezTo>
                  <a:pt x="213017" y="548989"/>
                  <a:pt x="219572" y="555564"/>
                  <a:pt x="219572" y="558852"/>
                </a:cubicBezTo>
                <a:cubicBezTo>
                  <a:pt x="219572" y="562139"/>
                  <a:pt x="206463" y="562139"/>
                  <a:pt x="199908" y="562139"/>
                </a:cubicBezTo>
                <a:cubicBezTo>
                  <a:pt x="196632" y="562139"/>
                  <a:pt x="190077" y="562139"/>
                  <a:pt x="186800" y="562139"/>
                </a:cubicBezTo>
                <a:cubicBezTo>
                  <a:pt x="176968" y="562139"/>
                  <a:pt x="167137" y="568714"/>
                  <a:pt x="160583" y="568714"/>
                </a:cubicBezTo>
                <a:close/>
                <a:moveTo>
                  <a:pt x="334274" y="618024"/>
                </a:moveTo>
                <a:cubicBezTo>
                  <a:pt x="327720" y="604874"/>
                  <a:pt x="324442" y="578575"/>
                  <a:pt x="330996" y="565427"/>
                </a:cubicBezTo>
                <a:cubicBezTo>
                  <a:pt x="334274" y="558852"/>
                  <a:pt x="357214" y="545702"/>
                  <a:pt x="373600" y="545702"/>
                </a:cubicBezTo>
                <a:cubicBezTo>
                  <a:pt x="380154" y="545702"/>
                  <a:pt x="386709" y="545702"/>
                  <a:pt x="386709" y="548989"/>
                </a:cubicBezTo>
                <a:cubicBezTo>
                  <a:pt x="389987" y="552277"/>
                  <a:pt x="389987" y="558852"/>
                  <a:pt x="389987" y="562139"/>
                </a:cubicBezTo>
                <a:cubicBezTo>
                  <a:pt x="389987" y="575288"/>
                  <a:pt x="393263" y="588438"/>
                  <a:pt x="403094" y="598300"/>
                </a:cubicBezTo>
                <a:cubicBezTo>
                  <a:pt x="406372" y="601588"/>
                  <a:pt x="409649" y="604874"/>
                  <a:pt x="412927" y="604874"/>
                </a:cubicBezTo>
                <a:cubicBezTo>
                  <a:pt x="386709" y="611449"/>
                  <a:pt x="360491" y="618024"/>
                  <a:pt x="334274" y="618024"/>
                </a:cubicBezTo>
                <a:close/>
                <a:moveTo>
                  <a:pt x="547291" y="213679"/>
                </a:moveTo>
                <a:cubicBezTo>
                  <a:pt x="550568" y="213679"/>
                  <a:pt x="553846" y="213679"/>
                  <a:pt x="553846" y="210391"/>
                </a:cubicBezTo>
                <a:cubicBezTo>
                  <a:pt x="560400" y="207104"/>
                  <a:pt x="563677" y="200529"/>
                  <a:pt x="560400" y="193954"/>
                </a:cubicBezTo>
                <a:cubicBezTo>
                  <a:pt x="524351" y="138069"/>
                  <a:pt x="524351" y="138069"/>
                  <a:pt x="524351" y="138069"/>
                </a:cubicBezTo>
                <a:cubicBezTo>
                  <a:pt x="521073" y="131495"/>
                  <a:pt x="511242" y="131495"/>
                  <a:pt x="504688" y="134781"/>
                </a:cubicBezTo>
                <a:cubicBezTo>
                  <a:pt x="498133" y="138069"/>
                  <a:pt x="498133" y="147931"/>
                  <a:pt x="501410" y="151219"/>
                </a:cubicBezTo>
                <a:cubicBezTo>
                  <a:pt x="537460" y="207104"/>
                  <a:pt x="537460" y="207104"/>
                  <a:pt x="537460" y="207104"/>
                </a:cubicBezTo>
                <a:cubicBezTo>
                  <a:pt x="540737" y="210391"/>
                  <a:pt x="544015" y="213679"/>
                  <a:pt x="547291" y="213679"/>
                </a:cubicBezTo>
                <a:close/>
                <a:moveTo>
                  <a:pt x="652162" y="170943"/>
                </a:moveTo>
                <a:cubicBezTo>
                  <a:pt x="658716" y="170943"/>
                  <a:pt x="661993" y="170943"/>
                  <a:pt x="665270" y="167655"/>
                </a:cubicBezTo>
                <a:cubicBezTo>
                  <a:pt x="743923" y="72321"/>
                  <a:pt x="743923" y="72321"/>
                  <a:pt x="743923" y="72321"/>
                </a:cubicBezTo>
                <a:cubicBezTo>
                  <a:pt x="747199" y="65747"/>
                  <a:pt x="747199" y="59173"/>
                  <a:pt x="740646" y="55885"/>
                </a:cubicBezTo>
                <a:cubicBezTo>
                  <a:pt x="734092" y="49310"/>
                  <a:pt x="727537" y="49310"/>
                  <a:pt x="720983" y="55885"/>
                </a:cubicBezTo>
                <a:cubicBezTo>
                  <a:pt x="642330" y="151219"/>
                  <a:pt x="642330" y="151219"/>
                  <a:pt x="642330" y="151219"/>
                </a:cubicBezTo>
                <a:cubicBezTo>
                  <a:pt x="639053" y="154506"/>
                  <a:pt x="639053" y="164368"/>
                  <a:pt x="645607" y="167655"/>
                </a:cubicBezTo>
                <a:cubicBezTo>
                  <a:pt x="648884" y="170943"/>
                  <a:pt x="652162" y="170943"/>
                  <a:pt x="652162" y="170943"/>
                </a:cubicBezTo>
                <a:close/>
                <a:moveTo>
                  <a:pt x="665270" y="463518"/>
                </a:moveTo>
                <a:cubicBezTo>
                  <a:pt x="658716" y="456943"/>
                  <a:pt x="652162" y="456943"/>
                  <a:pt x="645607" y="463518"/>
                </a:cubicBezTo>
                <a:cubicBezTo>
                  <a:pt x="639053" y="466805"/>
                  <a:pt x="639053" y="473380"/>
                  <a:pt x="642330" y="479955"/>
                </a:cubicBezTo>
                <a:cubicBezTo>
                  <a:pt x="720983" y="575288"/>
                  <a:pt x="720983" y="575288"/>
                  <a:pt x="720983" y="575288"/>
                </a:cubicBezTo>
                <a:cubicBezTo>
                  <a:pt x="724259" y="578575"/>
                  <a:pt x="727537" y="578575"/>
                  <a:pt x="730814" y="578575"/>
                </a:cubicBezTo>
                <a:cubicBezTo>
                  <a:pt x="734092" y="578575"/>
                  <a:pt x="737368" y="578575"/>
                  <a:pt x="740646" y="575288"/>
                </a:cubicBezTo>
                <a:cubicBezTo>
                  <a:pt x="747199" y="572002"/>
                  <a:pt x="747199" y="562139"/>
                  <a:pt x="743923" y="558852"/>
                </a:cubicBezTo>
                <a:lnTo>
                  <a:pt x="665270" y="463518"/>
                </a:lnTo>
                <a:close/>
                <a:moveTo>
                  <a:pt x="435867" y="193954"/>
                </a:moveTo>
                <a:cubicBezTo>
                  <a:pt x="429312" y="197241"/>
                  <a:pt x="429312" y="207104"/>
                  <a:pt x="435867" y="210391"/>
                </a:cubicBezTo>
                <a:cubicBezTo>
                  <a:pt x="485024" y="256414"/>
                  <a:pt x="485024" y="256414"/>
                  <a:pt x="485024" y="256414"/>
                </a:cubicBezTo>
                <a:cubicBezTo>
                  <a:pt x="488302" y="259701"/>
                  <a:pt x="491579" y="259701"/>
                  <a:pt x="494857" y="259701"/>
                </a:cubicBezTo>
                <a:cubicBezTo>
                  <a:pt x="498133" y="259701"/>
                  <a:pt x="501410" y="259701"/>
                  <a:pt x="504688" y="256414"/>
                </a:cubicBezTo>
                <a:cubicBezTo>
                  <a:pt x="507964" y="249839"/>
                  <a:pt x="507964" y="243265"/>
                  <a:pt x="501410" y="236690"/>
                </a:cubicBezTo>
                <a:cubicBezTo>
                  <a:pt x="452252" y="190668"/>
                  <a:pt x="452252" y="190668"/>
                  <a:pt x="452252" y="190668"/>
                </a:cubicBezTo>
                <a:cubicBezTo>
                  <a:pt x="448975" y="187380"/>
                  <a:pt x="439144" y="187380"/>
                  <a:pt x="435867" y="193954"/>
                </a:cubicBezTo>
                <a:close/>
                <a:moveTo>
                  <a:pt x="393263" y="315587"/>
                </a:moveTo>
                <a:cubicBezTo>
                  <a:pt x="393263" y="325449"/>
                  <a:pt x="399818" y="328736"/>
                  <a:pt x="406372" y="328736"/>
                </a:cubicBezTo>
                <a:cubicBezTo>
                  <a:pt x="471915" y="328736"/>
                  <a:pt x="471915" y="328736"/>
                  <a:pt x="471915" y="328736"/>
                </a:cubicBezTo>
                <a:cubicBezTo>
                  <a:pt x="478470" y="328736"/>
                  <a:pt x="485024" y="325449"/>
                  <a:pt x="485024" y="315587"/>
                </a:cubicBezTo>
                <a:cubicBezTo>
                  <a:pt x="485024" y="309013"/>
                  <a:pt x="478470" y="302438"/>
                  <a:pt x="471915" y="302438"/>
                </a:cubicBezTo>
                <a:cubicBezTo>
                  <a:pt x="406372" y="302438"/>
                  <a:pt x="406372" y="302438"/>
                  <a:pt x="406372" y="302438"/>
                </a:cubicBezTo>
                <a:cubicBezTo>
                  <a:pt x="399818" y="302438"/>
                  <a:pt x="393263" y="309013"/>
                  <a:pt x="393263" y="315587"/>
                </a:cubicBezTo>
                <a:close/>
                <a:moveTo>
                  <a:pt x="439144" y="443794"/>
                </a:moveTo>
                <a:cubicBezTo>
                  <a:pt x="442421" y="443794"/>
                  <a:pt x="445699" y="440507"/>
                  <a:pt x="448975" y="440507"/>
                </a:cubicBezTo>
                <a:cubicBezTo>
                  <a:pt x="501410" y="397770"/>
                  <a:pt x="501410" y="397770"/>
                  <a:pt x="501410" y="397770"/>
                </a:cubicBezTo>
                <a:cubicBezTo>
                  <a:pt x="504688" y="394484"/>
                  <a:pt x="507964" y="384621"/>
                  <a:pt x="501410" y="381334"/>
                </a:cubicBezTo>
                <a:cubicBezTo>
                  <a:pt x="498133" y="374759"/>
                  <a:pt x="488302" y="374759"/>
                  <a:pt x="485024" y="378047"/>
                </a:cubicBezTo>
                <a:cubicBezTo>
                  <a:pt x="432590" y="420783"/>
                  <a:pt x="432590" y="420783"/>
                  <a:pt x="432590" y="420783"/>
                </a:cubicBezTo>
                <a:cubicBezTo>
                  <a:pt x="426035" y="424070"/>
                  <a:pt x="426035" y="430644"/>
                  <a:pt x="429312" y="437219"/>
                </a:cubicBezTo>
                <a:cubicBezTo>
                  <a:pt x="432590" y="440507"/>
                  <a:pt x="435867" y="443794"/>
                  <a:pt x="439144" y="443794"/>
                </a:cubicBezTo>
                <a:close/>
                <a:moveTo>
                  <a:pt x="504688" y="499679"/>
                </a:moveTo>
                <a:cubicBezTo>
                  <a:pt x="507964" y="499679"/>
                  <a:pt x="511242" y="499679"/>
                  <a:pt x="511242" y="499679"/>
                </a:cubicBezTo>
                <a:cubicBezTo>
                  <a:pt x="517797" y="499679"/>
                  <a:pt x="521073" y="499679"/>
                  <a:pt x="524351" y="493104"/>
                </a:cubicBezTo>
                <a:cubicBezTo>
                  <a:pt x="550568" y="440507"/>
                  <a:pt x="550568" y="440507"/>
                  <a:pt x="550568" y="440507"/>
                </a:cubicBezTo>
                <a:cubicBezTo>
                  <a:pt x="553846" y="433932"/>
                  <a:pt x="550568" y="427358"/>
                  <a:pt x="544015" y="424070"/>
                </a:cubicBezTo>
                <a:cubicBezTo>
                  <a:pt x="537460" y="420783"/>
                  <a:pt x="530906" y="424070"/>
                  <a:pt x="527628" y="430644"/>
                </a:cubicBezTo>
                <a:cubicBezTo>
                  <a:pt x="501410" y="483243"/>
                  <a:pt x="501410" y="483243"/>
                  <a:pt x="501410" y="483243"/>
                </a:cubicBezTo>
                <a:cubicBezTo>
                  <a:pt x="498133" y="489817"/>
                  <a:pt x="501410" y="496392"/>
                  <a:pt x="504688" y="499679"/>
                </a:cubicBezTo>
                <a:close/>
                <a:moveTo>
                  <a:pt x="616113" y="131495"/>
                </a:moveTo>
                <a:cubicBezTo>
                  <a:pt x="642330" y="131495"/>
                  <a:pt x="642330" y="92046"/>
                  <a:pt x="616113" y="92046"/>
                </a:cubicBezTo>
                <a:cubicBezTo>
                  <a:pt x="589895" y="92046"/>
                  <a:pt x="589895" y="131495"/>
                  <a:pt x="616113" y="131495"/>
                </a:cubicBezTo>
                <a:close/>
                <a:moveTo>
                  <a:pt x="612835" y="516115"/>
                </a:moveTo>
                <a:cubicBezTo>
                  <a:pt x="589895" y="516115"/>
                  <a:pt x="589895" y="555564"/>
                  <a:pt x="612835" y="555564"/>
                </a:cubicBezTo>
                <a:cubicBezTo>
                  <a:pt x="639053" y="555564"/>
                  <a:pt x="639053" y="516115"/>
                  <a:pt x="612835" y="516115"/>
                </a:cubicBezTo>
                <a:close/>
                <a:moveTo>
                  <a:pt x="665270" y="565427"/>
                </a:moveTo>
                <a:cubicBezTo>
                  <a:pt x="639053" y="565427"/>
                  <a:pt x="639053" y="604874"/>
                  <a:pt x="665270" y="604874"/>
                </a:cubicBezTo>
                <a:cubicBezTo>
                  <a:pt x="691488" y="604874"/>
                  <a:pt x="691488" y="565427"/>
                  <a:pt x="665270" y="565427"/>
                </a:cubicBezTo>
                <a:close/>
                <a:moveTo>
                  <a:pt x="580064" y="598300"/>
                </a:moveTo>
                <a:cubicBezTo>
                  <a:pt x="553846" y="598300"/>
                  <a:pt x="553846" y="637748"/>
                  <a:pt x="580064" y="637748"/>
                </a:cubicBezTo>
                <a:cubicBezTo>
                  <a:pt x="606280" y="637748"/>
                  <a:pt x="606280" y="598300"/>
                  <a:pt x="580064" y="598300"/>
                </a:cubicBezTo>
                <a:close/>
                <a:moveTo>
                  <a:pt x="698042" y="170943"/>
                </a:moveTo>
                <a:cubicBezTo>
                  <a:pt x="675102" y="170943"/>
                  <a:pt x="675102" y="210391"/>
                  <a:pt x="698042" y="210391"/>
                </a:cubicBezTo>
                <a:cubicBezTo>
                  <a:pt x="724259" y="210391"/>
                  <a:pt x="724259" y="170943"/>
                  <a:pt x="698042" y="170943"/>
                </a:cubicBezTo>
                <a:close/>
                <a:moveTo>
                  <a:pt x="658716" y="88759"/>
                </a:moveTo>
                <a:cubicBezTo>
                  <a:pt x="684934" y="88759"/>
                  <a:pt x="684934" y="49310"/>
                  <a:pt x="658716" y="49310"/>
                </a:cubicBezTo>
                <a:cubicBezTo>
                  <a:pt x="635776" y="49310"/>
                  <a:pt x="635776" y="88759"/>
                  <a:pt x="658716" y="88759"/>
                </a:cubicBezTo>
                <a:close/>
              </a:path>
            </a:pathLst>
          </a:custGeom>
          <a:solidFill>
            <a:srgbClr val="FCFC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3556000" y="647700"/>
            <a:ext cx="508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AI赋能“教-学-管”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15">
            <a:off x="5791200" y="660401"/>
            <a:ext cx="60973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20202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5207000" y="292100"/>
            <a:ext cx="1016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1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MED AI SOLUTION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10771822">
            <a:off x="5346674" y="539750"/>
            <a:ext cx="1549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C9C9">
                <a:alpha val="28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36" name="Connector 36"/>
          <p:cNvCxnSpPr/>
          <p:nvPr/>
        </p:nvCxnSpPr>
        <p:spPr>
          <a:xfrm rot="10473027">
            <a:off x="5346398" y="546107"/>
            <a:ext cx="26700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CDD6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 rot="10800000" flipV="1">
            <a:off x="6794500" y="368300"/>
            <a:ext cx="101600" cy="101600"/>
          </a:xfrm>
          <a:prstGeom prst="plus">
            <a:avLst>
              <a:gd name="adj" fmla="val 37500"/>
            </a:avLst>
          </a:prstGeom>
          <a:solidFill>
            <a:srgbClr val="27CDD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2921000" y="1282700"/>
            <a:ext cx="6350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BACE3"/>
                </a:solidFill>
                <a:latin typeface="微软雅黑"/>
                <a:ea typeface="微软雅黑"/>
                <a:cs typeface="微软雅黑"/>
                <a:sym typeface="微软雅黑"/>
              </a:rPr>
              <a:t>从模拟实训到决策支撑，重构医学人才培养的全流程价值体系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2700"/>
            <a:ext cx="7442200" cy="419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518400" y="2959100"/>
            <a:ext cx="3810000" cy="39116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27CDD6">
                  <a:alpha val="80000"/>
                </a:srgbClr>
              </a:gs>
              <a:gs pos="100000">
                <a:srgbClr val="2080C3">
                  <a:alpha val="8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908800" y="2032000"/>
            <a:ext cx="1384300" cy="1219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E5672">
                  <a:alpha val="100000"/>
                </a:srgbClr>
              </a:gs>
              <a:gs pos="100000">
                <a:srgbClr val="1BACE3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251700" y="2717800"/>
            <a:ext cx="644387" cy="215323"/>
          </a:xfrm>
          <a:custGeom>
            <a:avLst/>
            <a:gdLst/>
            <a:ahLst/>
            <a:cxnLst/>
            <a:rect l="l" t="t" r="r" b="b"/>
            <a:pathLst>
              <a:path w="644387" h="215323">
                <a:moveTo>
                  <a:pt x="0" y="156571"/>
                </a:moveTo>
                <a:lnTo>
                  <a:pt x="0" y="156571"/>
                </a:lnTo>
                <a:lnTo>
                  <a:pt x="7283" y="155618"/>
                </a:lnTo>
                <a:lnTo>
                  <a:pt x="15833" y="155301"/>
                </a:lnTo>
                <a:lnTo>
                  <a:pt x="27549" y="154982"/>
                </a:lnTo>
                <a:lnTo>
                  <a:pt x="42114" y="155301"/>
                </a:lnTo>
                <a:lnTo>
                  <a:pt x="60164" y="156571"/>
                </a:lnTo>
                <a:lnTo>
                  <a:pt x="69980" y="157523"/>
                </a:lnTo>
                <a:lnTo>
                  <a:pt x="80429" y="159111"/>
                </a:lnTo>
                <a:lnTo>
                  <a:pt x="91829" y="160382"/>
                </a:lnTo>
                <a:lnTo>
                  <a:pt x="103546" y="162604"/>
                </a:lnTo>
                <a:lnTo>
                  <a:pt x="103546" y="162604"/>
                </a:lnTo>
                <a:lnTo>
                  <a:pt x="117795" y="165146"/>
                </a:lnTo>
                <a:lnTo>
                  <a:pt x="132994" y="168321"/>
                </a:lnTo>
                <a:lnTo>
                  <a:pt x="164342" y="175626"/>
                </a:lnTo>
                <a:lnTo>
                  <a:pt x="196324" y="182930"/>
                </a:lnTo>
                <a:lnTo>
                  <a:pt x="228307" y="191187"/>
                </a:lnTo>
                <a:lnTo>
                  <a:pt x="283721" y="205478"/>
                </a:lnTo>
                <a:lnTo>
                  <a:pt x="304302" y="210877"/>
                </a:lnTo>
                <a:lnTo>
                  <a:pt x="318235" y="214371"/>
                </a:lnTo>
                <a:lnTo>
                  <a:pt x="318235" y="214371"/>
                </a:lnTo>
                <a:lnTo>
                  <a:pt x="323301" y="215006"/>
                </a:lnTo>
                <a:lnTo>
                  <a:pt x="328369" y="215323"/>
                </a:lnTo>
                <a:lnTo>
                  <a:pt x="333118" y="215323"/>
                </a:lnTo>
                <a:lnTo>
                  <a:pt x="337868" y="214688"/>
                </a:lnTo>
                <a:lnTo>
                  <a:pt x="342301" y="213736"/>
                </a:lnTo>
                <a:lnTo>
                  <a:pt x="346734" y="212783"/>
                </a:lnTo>
                <a:lnTo>
                  <a:pt x="351168" y="211513"/>
                </a:lnTo>
                <a:lnTo>
                  <a:pt x="355284" y="209607"/>
                </a:lnTo>
                <a:lnTo>
                  <a:pt x="363517" y="206113"/>
                </a:lnTo>
                <a:lnTo>
                  <a:pt x="371749" y="202303"/>
                </a:lnTo>
                <a:lnTo>
                  <a:pt x="379665" y="198492"/>
                </a:lnTo>
                <a:lnTo>
                  <a:pt x="387265" y="195633"/>
                </a:lnTo>
                <a:lnTo>
                  <a:pt x="387265" y="195633"/>
                </a:lnTo>
                <a:lnTo>
                  <a:pt x="395498" y="193093"/>
                </a:lnTo>
                <a:lnTo>
                  <a:pt x="405314" y="190552"/>
                </a:lnTo>
                <a:lnTo>
                  <a:pt x="429063" y="185471"/>
                </a:lnTo>
                <a:lnTo>
                  <a:pt x="441413" y="182612"/>
                </a:lnTo>
                <a:lnTo>
                  <a:pt x="454712" y="178802"/>
                </a:lnTo>
                <a:lnTo>
                  <a:pt x="461046" y="176578"/>
                </a:lnTo>
                <a:lnTo>
                  <a:pt x="467695" y="174038"/>
                </a:lnTo>
                <a:lnTo>
                  <a:pt x="474029" y="171179"/>
                </a:lnTo>
                <a:lnTo>
                  <a:pt x="480045" y="168321"/>
                </a:lnTo>
                <a:lnTo>
                  <a:pt x="480045" y="168321"/>
                </a:lnTo>
                <a:lnTo>
                  <a:pt x="496827" y="159111"/>
                </a:lnTo>
                <a:lnTo>
                  <a:pt x="519626" y="145454"/>
                </a:lnTo>
                <a:lnTo>
                  <a:pt x="546542" y="128941"/>
                </a:lnTo>
                <a:lnTo>
                  <a:pt x="574723" y="111155"/>
                </a:lnTo>
                <a:lnTo>
                  <a:pt x="623171" y="80667"/>
                </a:lnTo>
                <a:lnTo>
                  <a:pt x="644387" y="67647"/>
                </a:lnTo>
                <a:lnTo>
                  <a:pt x="644387" y="67647"/>
                </a:lnTo>
                <a:lnTo>
                  <a:pt x="643754" y="66693"/>
                </a:lnTo>
                <a:lnTo>
                  <a:pt x="641537" y="65105"/>
                </a:lnTo>
                <a:lnTo>
                  <a:pt x="639954" y="63835"/>
                </a:lnTo>
                <a:lnTo>
                  <a:pt x="638371" y="63200"/>
                </a:lnTo>
                <a:lnTo>
                  <a:pt x="635837" y="62564"/>
                </a:lnTo>
                <a:lnTo>
                  <a:pt x="633305" y="62247"/>
                </a:lnTo>
                <a:lnTo>
                  <a:pt x="633305" y="62247"/>
                </a:lnTo>
                <a:lnTo>
                  <a:pt x="632037" y="61612"/>
                </a:lnTo>
                <a:lnTo>
                  <a:pt x="630455" y="61294"/>
                </a:lnTo>
                <a:lnTo>
                  <a:pt x="628555" y="60342"/>
                </a:lnTo>
                <a:lnTo>
                  <a:pt x="627921" y="59707"/>
                </a:lnTo>
                <a:lnTo>
                  <a:pt x="627605" y="59389"/>
                </a:lnTo>
                <a:lnTo>
                  <a:pt x="628555" y="55895"/>
                </a:lnTo>
                <a:lnTo>
                  <a:pt x="628555" y="55895"/>
                </a:lnTo>
                <a:lnTo>
                  <a:pt x="625387" y="53990"/>
                </a:lnTo>
                <a:lnTo>
                  <a:pt x="621588" y="52084"/>
                </a:lnTo>
                <a:lnTo>
                  <a:pt x="616838" y="49544"/>
                </a:lnTo>
                <a:lnTo>
                  <a:pt x="611455" y="47003"/>
                </a:lnTo>
                <a:lnTo>
                  <a:pt x="605756" y="45098"/>
                </a:lnTo>
                <a:lnTo>
                  <a:pt x="600056" y="43826"/>
                </a:lnTo>
                <a:lnTo>
                  <a:pt x="597206" y="43191"/>
                </a:lnTo>
                <a:lnTo>
                  <a:pt x="594356" y="43191"/>
                </a:lnTo>
                <a:lnTo>
                  <a:pt x="594356" y="43191"/>
                </a:lnTo>
                <a:lnTo>
                  <a:pt x="590873" y="43191"/>
                </a:lnTo>
                <a:lnTo>
                  <a:pt x="587706" y="43509"/>
                </a:lnTo>
                <a:lnTo>
                  <a:pt x="584223" y="44145"/>
                </a:lnTo>
                <a:lnTo>
                  <a:pt x="581373" y="44780"/>
                </a:lnTo>
                <a:lnTo>
                  <a:pt x="575357" y="46685"/>
                </a:lnTo>
                <a:lnTo>
                  <a:pt x="569657" y="49226"/>
                </a:lnTo>
                <a:lnTo>
                  <a:pt x="563641" y="52401"/>
                </a:lnTo>
                <a:lnTo>
                  <a:pt x="557308" y="55578"/>
                </a:lnTo>
                <a:lnTo>
                  <a:pt x="550342" y="59707"/>
                </a:lnTo>
                <a:lnTo>
                  <a:pt x="543058" y="63200"/>
                </a:lnTo>
                <a:lnTo>
                  <a:pt x="543058" y="63200"/>
                </a:lnTo>
                <a:lnTo>
                  <a:pt x="534509" y="67010"/>
                </a:lnTo>
                <a:lnTo>
                  <a:pt x="524693" y="71139"/>
                </a:lnTo>
                <a:lnTo>
                  <a:pt x="505694" y="79397"/>
                </a:lnTo>
                <a:lnTo>
                  <a:pt x="497144" y="83208"/>
                </a:lnTo>
                <a:lnTo>
                  <a:pt x="490494" y="87019"/>
                </a:lnTo>
                <a:lnTo>
                  <a:pt x="487961" y="88607"/>
                </a:lnTo>
                <a:lnTo>
                  <a:pt x="486061" y="90513"/>
                </a:lnTo>
                <a:lnTo>
                  <a:pt x="485111" y="92100"/>
                </a:lnTo>
                <a:lnTo>
                  <a:pt x="484478" y="93688"/>
                </a:lnTo>
                <a:lnTo>
                  <a:pt x="484478" y="93688"/>
                </a:lnTo>
                <a:lnTo>
                  <a:pt x="484478" y="98134"/>
                </a:lnTo>
                <a:lnTo>
                  <a:pt x="483528" y="101945"/>
                </a:lnTo>
                <a:lnTo>
                  <a:pt x="482578" y="105439"/>
                </a:lnTo>
                <a:lnTo>
                  <a:pt x="480995" y="108614"/>
                </a:lnTo>
                <a:lnTo>
                  <a:pt x="479411" y="111473"/>
                </a:lnTo>
                <a:lnTo>
                  <a:pt x="476879" y="114014"/>
                </a:lnTo>
                <a:lnTo>
                  <a:pt x="474345" y="116237"/>
                </a:lnTo>
                <a:lnTo>
                  <a:pt x="471179" y="118142"/>
                </a:lnTo>
                <a:lnTo>
                  <a:pt x="468012" y="119731"/>
                </a:lnTo>
                <a:lnTo>
                  <a:pt x="463895" y="121636"/>
                </a:lnTo>
                <a:lnTo>
                  <a:pt x="460096" y="122907"/>
                </a:lnTo>
                <a:lnTo>
                  <a:pt x="455346" y="124177"/>
                </a:lnTo>
                <a:lnTo>
                  <a:pt x="445530" y="126082"/>
                </a:lnTo>
                <a:lnTo>
                  <a:pt x="434447" y="127671"/>
                </a:lnTo>
                <a:lnTo>
                  <a:pt x="434447" y="127671"/>
                </a:lnTo>
                <a:lnTo>
                  <a:pt x="428431" y="128623"/>
                </a:lnTo>
                <a:lnTo>
                  <a:pt x="422097" y="128623"/>
                </a:lnTo>
                <a:lnTo>
                  <a:pt x="415764" y="128623"/>
                </a:lnTo>
                <a:lnTo>
                  <a:pt x="409431" y="127988"/>
                </a:lnTo>
                <a:lnTo>
                  <a:pt x="396132" y="126399"/>
                </a:lnTo>
                <a:lnTo>
                  <a:pt x="382515" y="123859"/>
                </a:lnTo>
                <a:lnTo>
                  <a:pt x="354018" y="118778"/>
                </a:lnTo>
                <a:lnTo>
                  <a:pt x="339451" y="116237"/>
                </a:lnTo>
                <a:lnTo>
                  <a:pt x="331851" y="115602"/>
                </a:lnTo>
                <a:lnTo>
                  <a:pt x="324251" y="114967"/>
                </a:lnTo>
                <a:lnTo>
                  <a:pt x="324251" y="114967"/>
                </a:lnTo>
                <a:lnTo>
                  <a:pt x="316969" y="114649"/>
                </a:lnTo>
                <a:lnTo>
                  <a:pt x="309369" y="114649"/>
                </a:lnTo>
                <a:lnTo>
                  <a:pt x="301770" y="114967"/>
                </a:lnTo>
                <a:lnTo>
                  <a:pt x="294803" y="115284"/>
                </a:lnTo>
                <a:lnTo>
                  <a:pt x="280871" y="116872"/>
                </a:lnTo>
                <a:lnTo>
                  <a:pt x="268205" y="118778"/>
                </a:lnTo>
                <a:lnTo>
                  <a:pt x="257755" y="121318"/>
                </a:lnTo>
                <a:lnTo>
                  <a:pt x="249838" y="123224"/>
                </a:lnTo>
                <a:lnTo>
                  <a:pt x="242556" y="125129"/>
                </a:lnTo>
                <a:lnTo>
                  <a:pt x="242556" y="125129"/>
                </a:lnTo>
                <a:lnTo>
                  <a:pt x="247938" y="121318"/>
                </a:lnTo>
                <a:lnTo>
                  <a:pt x="254588" y="117507"/>
                </a:lnTo>
                <a:lnTo>
                  <a:pt x="263138" y="112743"/>
                </a:lnTo>
                <a:lnTo>
                  <a:pt x="268205" y="110520"/>
                </a:lnTo>
                <a:lnTo>
                  <a:pt x="273903" y="108297"/>
                </a:lnTo>
                <a:lnTo>
                  <a:pt x="279921" y="106392"/>
                </a:lnTo>
                <a:lnTo>
                  <a:pt x="286253" y="104487"/>
                </a:lnTo>
                <a:lnTo>
                  <a:pt x="292903" y="102580"/>
                </a:lnTo>
                <a:lnTo>
                  <a:pt x="299552" y="101628"/>
                </a:lnTo>
                <a:lnTo>
                  <a:pt x="306836" y="100993"/>
                </a:lnTo>
                <a:lnTo>
                  <a:pt x="314435" y="100358"/>
                </a:lnTo>
                <a:lnTo>
                  <a:pt x="314435" y="100358"/>
                </a:lnTo>
                <a:lnTo>
                  <a:pt x="322351" y="100358"/>
                </a:lnTo>
                <a:lnTo>
                  <a:pt x="329635" y="101310"/>
                </a:lnTo>
                <a:lnTo>
                  <a:pt x="337235" y="101945"/>
                </a:lnTo>
                <a:lnTo>
                  <a:pt x="344834" y="102580"/>
                </a:lnTo>
                <a:lnTo>
                  <a:pt x="359400" y="105122"/>
                </a:lnTo>
                <a:lnTo>
                  <a:pt x="373649" y="107662"/>
                </a:lnTo>
                <a:lnTo>
                  <a:pt x="387582" y="110203"/>
                </a:lnTo>
                <a:lnTo>
                  <a:pt x="400882" y="112743"/>
                </a:lnTo>
                <a:lnTo>
                  <a:pt x="413548" y="114014"/>
                </a:lnTo>
                <a:lnTo>
                  <a:pt x="419564" y="114967"/>
                </a:lnTo>
                <a:lnTo>
                  <a:pt x="425897" y="114967"/>
                </a:lnTo>
                <a:lnTo>
                  <a:pt x="425897" y="114967"/>
                </a:lnTo>
                <a:lnTo>
                  <a:pt x="430013" y="114967"/>
                </a:lnTo>
                <a:lnTo>
                  <a:pt x="434447" y="114014"/>
                </a:lnTo>
                <a:lnTo>
                  <a:pt x="438563" y="113378"/>
                </a:lnTo>
                <a:lnTo>
                  <a:pt x="442996" y="112425"/>
                </a:lnTo>
                <a:lnTo>
                  <a:pt x="447112" y="110838"/>
                </a:lnTo>
                <a:lnTo>
                  <a:pt x="451230" y="109250"/>
                </a:lnTo>
                <a:lnTo>
                  <a:pt x="455030" y="107344"/>
                </a:lnTo>
                <a:lnTo>
                  <a:pt x="458512" y="105122"/>
                </a:lnTo>
                <a:lnTo>
                  <a:pt x="461996" y="102898"/>
                </a:lnTo>
                <a:lnTo>
                  <a:pt x="464845" y="100358"/>
                </a:lnTo>
                <a:lnTo>
                  <a:pt x="466745" y="97499"/>
                </a:lnTo>
                <a:lnTo>
                  <a:pt x="468961" y="94640"/>
                </a:lnTo>
                <a:lnTo>
                  <a:pt x="470545" y="91465"/>
                </a:lnTo>
                <a:lnTo>
                  <a:pt x="471495" y="88607"/>
                </a:lnTo>
                <a:lnTo>
                  <a:pt x="471811" y="85113"/>
                </a:lnTo>
                <a:lnTo>
                  <a:pt x="471495" y="81938"/>
                </a:lnTo>
                <a:lnTo>
                  <a:pt x="471495" y="81938"/>
                </a:lnTo>
                <a:lnTo>
                  <a:pt x="470861" y="79079"/>
                </a:lnTo>
                <a:lnTo>
                  <a:pt x="469595" y="76220"/>
                </a:lnTo>
                <a:lnTo>
                  <a:pt x="468012" y="73680"/>
                </a:lnTo>
                <a:lnTo>
                  <a:pt x="466112" y="71139"/>
                </a:lnTo>
                <a:lnTo>
                  <a:pt x="463579" y="68917"/>
                </a:lnTo>
                <a:lnTo>
                  <a:pt x="460729" y="67010"/>
                </a:lnTo>
                <a:lnTo>
                  <a:pt x="457562" y="65423"/>
                </a:lnTo>
                <a:lnTo>
                  <a:pt x="454396" y="63518"/>
                </a:lnTo>
                <a:lnTo>
                  <a:pt x="450280" y="62247"/>
                </a:lnTo>
                <a:lnTo>
                  <a:pt x="446162" y="60977"/>
                </a:lnTo>
                <a:lnTo>
                  <a:pt x="441413" y="60024"/>
                </a:lnTo>
                <a:lnTo>
                  <a:pt x="436980" y="58754"/>
                </a:lnTo>
                <a:lnTo>
                  <a:pt x="431597" y="58119"/>
                </a:lnTo>
                <a:lnTo>
                  <a:pt x="426213" y="57800"/>
                </a:lnTo>
                <a:lnTo>
                  <a:pt x="414498" y="57483"/>
                </a:lnTo>
                <a:lnTo>
                  <a:pt x="414498" y="57483"/>
                </a:lnTo>
                <a:lnTo>
                  <a:pt x="407848" y="57483"/>
                </a:lnTo>
                <a:lnTo>
                  <a:pt x="400882" y="56848"/>
                </a:lnTo>
                <a:lnTo>
                  <a:pt x="385682" y="55260"/>
                </a:lnTo>
                <a:lnTo>
                  <a:pt x="369217" y="52719"/>
                </a:lnTo>
                <a:lnTo>
                  <a:pt x="353384" y="50179"/>
                </a:lnTo>
                <a:lnTo>
                  <a:pt x="323301" y="44780"/>
                </a:lnTo>
                <a:lnTo>
                  <a:pt x="311586" y="43191"/>
                </a:lnTo>
                <a:lnTo>
                  <a:pt x="302402" y="41921"/>
                </a:lnTo>
                <a:lnTo>
                  <a:pt x="302402" y="41921"/>
                </a:lnTo>
                <a:lnTo>
                  <a:pt x="298920" y="41286"/>
                </a:lnTo>
                <a:lnTo>
                  <a:pt x="294803" y="40016"/>
                </a:lnTo>
                <a:lnTo>
                  <a:pt x="290053" y="37793"/>
                </a:lnTo>
                <a:lnTo>
                  <a:pt x="284670" y="34935"/>
                </a:lnTo>
                <a:lnTo>
                  <a:pt x="272953" y="27948"/>
                </a:lnTo>
                <a:lnTo>
                  <a:pt x="259972" y="20008"/>
                </a:lnTo>
                <a:lnTo>
                  <a:pt x="253322" y="16196"/>
                </a:lnTo>
                <a:lnTo>
                  <a:pt x="246038" y="12704"/>
                </a:lnTo>
                <a:lnTo>
                  <a:pt x="239072" y="8893"/>
                </a:lnTo>
                <a:lnTo>
                  <a:pt x="231789" y="5716"/>
                </a:lnTo>
                <a:lnTo>
                  <a:pt x="224189" y="3176"/>
                </a:lnTo>
                <a:lnTo>
                  <a:pt x="217223" y="1588"/>
                </a:lnTo>
                <a:lnTo>
                  <a:pt x="209940" y="318"/>
                </a:lnTo>
                <a:lnTo>
                  <a:pt x="206458" y="0"/>
                </a:lnTo>
                <a:lnTo>
                  <a:pt x="202974" y="0"/>
                </a:lnTo>
                <a:lnTo>
                  <a:pt x="202974" y="0"/>
                </a:lnTo>
                <a:lnTo>
                  <a:pt x="195690" y="318"/>
                </a:lnTo>
                <a:lnTo>
                  <a:pt x="188725" y="952"/>
                </a:lnTo>
                <a:lnTo>
                  <a:pt x="174791" y="2541"/>
                </a:lnTo>
                <a:lnTo>
                  <a:pt x="161809" y="5081"/>
                </a:lnTo>
                <a:lnTo>
                  <a:pt x="149776" y="7940"/>
                </a:lnTo>
                <a:lnTo>
                  <a:pt x="138694" y="11115"/>
                </a:lnTo>
                <a:lnTo>
                  <a:pt x="127927" y="15244"/>
                </a:lnTo>
                <a:lnTo>
                  <a:pt x="118111" y="19055"/>
                </a:lnTo>
                <a:lnTo>
                  <a:pt x="109245" y="22866"/>
                </a:lnTo>
                <a:lnTo>
                  <a:pt x="101012" y="26995"/>
                </a:lnTo>
                <a:lnTo>
                  <a:pt x="94046" y="31124"/>
                </a:lnTo>
                <a:lnTo>
                  <a:pt x="81379" y="38428"/>
                </a:lnTo>
                <a:lnTo>
                  <a:pt x="72829" y="44145"/>
                </a:lnTo>
                <a:lnTo>
                  <a:pt x="69663" y="46050"/>
                </a:lnTo>
                <a:lnTo>
                  <a:pt x="67130" y="47320"/>
                </a:lnTo>
                <a:lnTo>
                  <a:pt x="67130" y="47320"/>
                </a:lnTo>
                <a:lnTo>
                  <a:pt x="62380" y="49226"/>
                </a:lnTo>
                <a:lnTo>
                  <a:pt x="57630" y="50179"/>
                </a:lnTo>
                <a:lnTo>
                  <a:pt x="52248" y="51449"/>
                </a:lnTo>
                <a:lnTo>
                  <a:pt x="46864" y="51766"/>
                </a:lnTo>
                <a:lnTo>
                  <a:pt x="41165" y="51766"/>
                </a:lnTo>
                <a:lnTo>
                  <a:pt x="35782" y="51766"/>
                </a:lnTo>
                <a:lnTo>
                  <a:pt x="24699" y="50496"/>
                </a:lnTo>
                <a:lnTo>
                  <a:pt x="14883" y="49226"/>
                </a:lnTo>
                <a:lnTo>
                  <a:pt x="7283" y="47638"/>
                </a:lnTo>
                <a:lnTo>
                  <a:pt x="0" y="46050"/>
                </a:lnTo>
                <a:lnTo>
                  <a:pt x="0" y="156571"/>
                </a:lnTo>
                <a:close/>
              </a:path>
            </a:pathLst>
          </a:custGeom>
          <a:solidFill>
            <a:srgbClr val="FCFC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7416800" y="2362200"/>
            <a:ext cx="422731" cy="383150"/>
          </a:xfrm>
          <a:custGeom>
            <a:avLst/>
            <a:gdLst/>
            <a:ahLst/>
            <a:cxnLst/>
            <a:rect l="l" t="t" r="r" b="b"/>
            <a:pathLst>
              <a:path w="422731" h="383150">
                <a:moveTo>
                  <a:pt x="347311" y="3171"/>
                </a:moveTo>
                <a:lnTo>
                  <a:pt x="347311" y="3171"/>
                </a:lnTo>
                <a:lnTo>
                  <a:pt x="340973" y="1902"/>
                </a:lnTo>
                <a:lnTo>
                  <a:pt x="335270" y="634"/>
                </a:lnTo>
                <a:lnTo>
                  <a:pt x="329565" y="318"/>
                </a:lnTo>
                <a:lnTo>
                  <a:pt x="323861" y="0"/>
                </a:lnTo>
                <a:lnTo>
                  <a:pt x="318474" y="0"/>
                </a:lnTo>
                <a:lnTo>
                  <a:pt x="313087" y="318"/>
                </a:lnTo>
                <a:lnTo>
                  <a:pt x="307699" y="951"/>
                </a:lnTo>
                <a:lnTo>
                  <a:pt x="302630" y="1902"/>
                </a:lnTo>
                <a:lnTo>
                  <a:pt x="298193" y="2855"/>
                </a:lnTo>
                <a:lnTo>
                  <a:pt x="293124" y="4440"/>
                </a:lnTo>
                <a:lnTo>
                  <a:pt x="288686" y="5709"/>
                </a:lnTo>
                <a:lnTo>
                  <a:pt x="284250" y="7612"/>
                </a:lnTo>
                <a:lnTo>
                  <a:pt x="275694" y="11736"/>
                </a:lnTo>
                <a:lnTo>
                  <a:pt x="267454" y="16493"/>
                </a:lnTo>
                <a:lnTo>
                  <a:pt x="259532" y="21885"/>
                </a:lnTo>
                <a:lnTo>
                  <a:pt x="251927" y="27277"/>
                </a:lnTo>
                <a:lnTo>
                  <a:pt x="244956" y="33303"/>
                </a:lnTo>
                <a:lnTo>
                  <a:pt x="237984" y="39329"/>
                </a:lnTo>
                <a:lnTo>
                  <a:pt x="224358" y="51383"/>
                </a:lnTo>
                <a:lnTo>
                  <a:pt x="218020" y="57092"/>
                </a:lnTo>
                <a:lnTo>
                  <a:pt x="211682" y="62484"/>
                </a:lnTo>
                <a:lnTo>
                  <a:pt x="211682" y="62484"/>
                </a:lnTo>
                <a:lnTo>
                  <a:pt x="204711" y="57092"/>
                </a:lnTo>
                <a:lnTo>
                  <a:pt x="198373" y="51700"/>
                </a:lnTo>
                <a:lnTo>
                  <a:pt x="185381" y="40282"/>
                </a:lnTo>
                <a:lnTo>
                  <a:pt x="179043" y="34889"/>
                </a:lnTo>
                <a:lnTo>
                  <a:pt x="172705" y="29181"/>
                </a:lnTo>
                <a:lnTo>
                  <a:pt x="165734" y="24106"/>
                </a:lnTo>
                <a:lnTo>
                  <a:pt x="158761" y="19031"/>
                </a:lnTo>
                <a:lnTo>
                  <a:pt x="151157" y="14274"/>
                </a:lnTo>
                <a:lnTo>
                  <a:pt x="143551" y="10467"/>
                </a:lnTo>
                <a:lnTo>
                  <a:pt x="134995" y="7295"/>
                </a:lnTo>
                <a:lnTo>
                  <a:pt x="130876" y="5709"/>
                </a:lnTo>
                <a:lnTo>
                  <a:pt x="126439" y="4440"/>
                </a:lnTo>
                <a:lnTo>
                  <a:pt x="122003" y="3171"/>
                </a:lnTo>
                <a:lnTo>
                  <a:pt x="116933" y="2220"/>
                </a:lnTo>
                <a:lnTo>
                  <a:pt x="111862" y="1902"/>
                </a:lnTo>
                <a:lnTo>
                  <a:pt x="106792" y="951"/>
                </a:lnTo>
                <a:lnTo>
                  <a:pt x="101404" y="951"/>
                </a:lnTo>
                <a:lnTo>
                  <a:pt x="95701" y="951"/>
                </a:lnTo>
                <a:lnTo>
                  <a:pt x="89997" y="1586"/>
                </a:lnTo>
                <a:lnTo>
                  <a:pt x="83976" y="1902"/>
                </a:lnTo>
                <a:lnTo>
                  <a:pt x="83976" y="1902"/>
                </a:lnTo>
                <a:lnTo>
                  <a:pt x="77638" y="2855"/>
                </a:lnTo>
                <a:lnTo>
                  <a:pt x="70983" y="4757"/>
                </a:lnTo>
                <a:lnTo>
                  <a:pt x="64963" y="6661"/>
                </a:lnTo>
                <a:lnTo>
                  <a:pt x="58942" y="9199"/>
                </a:lnTo>
                <a:lnTo>
                  <a:pt x="53237" y="12687"/>
                </a:lnTo>
                <a:lnTo>
                  <a:pt x="47534" y="16176"/>
                </a:lnTo>
                <a:lnTo>
                  <a:pt x="42146" y="20300"/>
                </a:lnTo>
                <a:lnTo>
                  <a:pt x="36759" y="24740"/>
                </a:lnTo>
                <a:lnTo>
                  <a:pt x="32005" y="29181"/>
                </a:lnTo>
                <a:lnTo>
                  <a:pt x="27569" y="33938"/>
                </a:lnTo>
                <a:lnTo>
                  <a:pt x="23133" y="39013"/>
                </a:lnTo>
                <a:lnTo>
                  <a:pt x="19331" y="44088"/>
                </a:lnTo>
                <a:lnTo>
                  <a:pt x="15845" y="49479"/>
                </a:lnTo>
                <a:lnTo>
                  <a:pt x="12358" y="54554"/>
                </a:lnTo>
                <a:lnTo>
                  <a:pt x="9507" y="59947"/>
                </a:lnTo>
                <a:lnTo>
                  <a:pt x="7605" y="65339"/>
                </a:lnTo>
                <a:lnTo>
                  <a:pt x="7605" y="65339"/>
                </a:lnTo>
                <a:lnTo>
                  <a:pt x="4120" y="73585"/>
                </a:lnTo>
                <a:lnTo>
                  <a:pt x="2219" y="82466"/>
                </a:lnTo>
                <a:lnTo>
                  <a:pt x="634" y="91030"/>
                </a:lnTo>
                <a:lnTo>
                  <a:pt x="0" y="99911"/>
                </a:lnTo>
                <a:lnTo>
                  <a:pt x="0" y="108475"/>
                </a:lnTo>
                <a:lnTo>
                  <a:pt x="318" y="117673"/>
                </a:lnTo>
                <a:lnTo>
                  <a:pt x="1267" y="126237"/>
                </a:lnTo>
                <a:lnTo>
                  <a:pt x="2852" y="135118"/>
                </a:lnTo>
                <a:lnTo>
                  <a:pt x="5070" y="143681"/>
                </a:lnTo>
                <a:lnTo>
                  <a:pt x="7289" y="151928"/>
                </a:lnTo>
                <a:lnTo>
                  <a:pt x="10141" y="160175"/>
                </a:lnTo>
                <a:lnTo>
                  <a:pt x="12992" y="168104"/>
                </a:lnTo>
                <a:lnTo>
                  <a:pt x="16161" y="176033"/>
                </a:lnTo>
                <a:lnTo>
                  <a:pt x="19331" y="183328"/>
                </a:lnTo>
                <a:lnTo>
                  <a:pt x="22816" y="190306"/>
                </a:lnTo>
                <a:lnTo>
                  <a:pt x="25985" y="196967"/>
                </a:lnTo>
                <a:lnTo>
                  <a:pt x="25985" y="196967"/>
                </a:lnTo>
                <a:lnTo>
                  <a:pt x="31372" y="206799"/>
                </a:lnTo>
                <a:lnTo>
                  <a:pt x="37076" y="215680"/>
                </a:lnTo>
                <a:lnTo>
                  <a:pt x="43097" y="224561"/>
                </a:lnTo>
                <a:lnTo>
                  <a:pt x="49752" y="233443"/>
                </a:lnTo>
                <a:lnTo>
                  <a:pt x="56406" y="242006"/>
                </a:lnTo>
                <a:lnTo>
                  <a:pt x="63694" y="250570"/>
                </a:lnTo>
                <a:lnTo>
                  <a:pt x="78589" y="268332"/>
                </a:lnTo>
                <a:lnTo>
                  <a:pt x="78589" y="268332"/>
                </a:lnTo>
                <a:lnTo>
                  <a:pt x="89046" y="280384"/>
                </a:lnTo>
                <a:lnTo>
                  <a:pt x="99821" y="292120"/>
                </a:lnTo>
                <a:lnTo>
                  <a:pt x="111545" y="303539"/>
                </a:lnTo>
                <a:lnTo>
                  <a:pt x="123270" y="314957"/>
                </a:lnTo>
                <a:lnTo>
                  <a:pt x="135312" y="326375"/>
                </a:lnTo>
                <a:lnTo>
                  <a:pt x="148304" y="337477"/>
                </a:lnTo>
                <a:lnTo>
                  <a:pt x="160980" y="348261"/>
                </a:lnTo>
                <a:lnTo>
                  <a:pt x="173972" y="358727"/>
                </a:lnTo>
                <a:lnTo>
                  <a:pt x="173972" y="358727"/>
                </a:lnTo>
                <a:lnTo>
                  <a:pt x="183479" y="366657"/>
                </a:lnTo>
                <a:lnTo>
                  <a:pt x="188233" y="370463"/>
                </a:lnTo>
                <a:lnTo>
                  <a:pt x="193303" y="374586"/>
                </a:lnTo>
                <a:lnTo>
                  <a:pt x="198373" y="377758"/>
                </a:lnTo>
                <a:lnTo>
                  <a:pt x="203126" y="380613"/>
                </a:lnTo>
                <a:lnTo>
                  <a:pt x="205028" y="381564"/>
                </a:lnTo>
                <a:lnTo>
                  <a:pt x="207562" y="382515"/>
                </a:lnTo>
                <a:lnTo>
                  <a:pt x="209464" y="382833"/>
                </a:lnTo>
                <a:lnTo>
                  <a:pt x="211682" y="383150"/>
                </a:lnTo>
                <a:lnTo>
                  <a:pt x="211682" y="383150"/>
                </a:lnTo>
                <a:lnTo>
                  <a:pt x="213267" y="382833"/>
                </a:lnTo>
                <a:lnTo>
                  <a:pt x="215168" y="382515"/>
                </a:lnTo>
                <a:lnTo>
                  <a:pt x="219605" y="380613"/>
                </a:lnTo>
                <a:lnTo>
                  <a:pt x="224041" y="378075"/>
                </a:lnTo>
                <a:lnTo>
                  <a:pt x="228794" y="374904"/>
                </a:lnTo>
                <a:lnTo>
                  <a:pt x="238618" y="367292"/>
                </a:lnTo>
                <a:lnTo>
                  <a:pt x="247807" y="359995"/>
                </a:lnTo>
                <a:lnTo>
                  <a:pt x="247807" y="359995"/>
                </a:lnTo>
                <a:lnTo>
                  <a:pt x="260167" y="349847"/>
                </a:lnTo>
                <a:lnTo>
                  <a:pt x="272842" y="339380"/>
                </a:lnTo>
                <a:lnTo>
                  <a:pt x="284884" y="328596"/>
                </a:lnTo>
                <a:lnTo>
                  <a:pt x="296608" y="317811"/>
                </a:lnTo>
                <a:lnTo>
                  <a:pt x="308017" y="306710"/>
                </a:lnTo>
                <a:lnTo>
                  <a:pt x="319108" y="295609"/>
                </a:lnTo>
                <a:lnTo>
                  <a:pt x="329565" y="284825"/>
                </a:lnTo>
                <a:lnTo>
                  <a:pt x="339072" y="273724"/>
                </a:lnTo>
                <a:lnTo>
                  <a:pt x="339072" y="273724"/>
                </a:lnTo>
                <a:lnTo>
                  <a:pt x="352698" y="257865"/>
                </a:lnTo>
                <a:lnTo>
                  <a:pt x="366641" y="241055"/>
                </a:lnTo>
                <a:lnTo>
                  <a:pt x="373614" y="232491"/>
                </a:lnTo>
                <a:lnTo>
                  <a:pt x="379951" y="223610"/>
                </a:lnTo>
                <a:lnTo>
                  <a:pt x="386288" y="214729"/>
                </a:lnTo>
                <a:lnTo>
                  <a:pt x="392627" y="205214"/>
                </a:lnTo>
                <a:lnTo>
                  <a:pt x="398330" y="195698"/>
                </a:lnTo>
                <a:lnTo>
                  <a:pt x="403084" y="185548"/>
                </a:lnTo>
                <a:lnTo>
                  <a:pt x="408154" y="175082"/>
                </a:lnTo>
                <a:lnTo>
                  <a:pt x="412590" y="164932"/>
                </a:lnTo>
                <a:lnTo>
                  <a:pt x="416076" y="153831"/>
                </a:lnTo>
                <a:lnTo>
                  <a:pt x="418929" y="142730"/>
                </a:lnTo>
                <a:lnTo>
                  <a:pt x="421146" y="130677"/>
                </a:lnTo>
                <a:lnTo>
                  <a:pt x="421780" y="124968"/>
                </a:lnTo>
                <a:lnTo>
                  <a:pt x="422415" y="118942"/>
                </a:lnTo>
                <a:lnTo>
                  <a:pt x="422415" y="118942"/>
                </a:lnTo>
                <a:lnTo>
                  <a:pt x="422731" y="113549"/>
                </a:lnTo>
                <a:lnTo>
                  <a:pt x="422731" y="108157"/>
                </a:lnTo>
                <a:lnTo>
                  <a:pt x="422731" y="102766"/>
                </a:lnTo>
                <a:lnTo>
                  <a:pt x="422415" y="97691"/>
                </a:lnTo>
                <a:lnTo>
                  <a:pt x="421780" y="92934"/>
                </a:lnTo>
                <a:lnTo>
                  <a:pt x="421146" y="87859"/>
                </a:lnTo>
                <a:lnTo>
                  <a:pt x="419879" y="82784"/>
                </a:lnTo>
                <a:lnTo>
                  <a:pt x="418611" y="77709"/>
                </a:lnTo>
                <a:lnTo>
                  <a:pt x="415760" y="68510"/>
                </a:lnTo>
                <a:lnTo>
                  <a:pt x="411640" y="59629"/>
                </a:lnTo>
                <a:lnTo>
                  <a:pt x="407520" y="51383"/>
                </a:lnTo>
                <a:lnTo>
                  <a:pt x="402133" y="43136"/>
                </a:lnTo>
                <a:lnTo>
                  <a:pt x="396745" y="35841"/>
                </a:lnTo>
                <a:lnTo>
                  <a:pt x="390726" y="29181"/>
                </a:lnTo>
                <a:lnTo>
                  <a:pt x="384387" y="22837"/>
                </a:lnTo>
                <a:lnTo>
                  <a:pt x="377099" y="17127"/>
                </a:lnTo>
                <a:lnTo>
                  <a:pt x="369810" y="12687"/>
                </a:lnTo>
                <a:lnTo>
                  <a:pt x="362839" y="8564"/>
                </a:lnTo>
                <a:lnTo>
                  <a:pt x="354917" y="5392"/>
                </a:lnTo>
                <a:lnTo>
                  <a:pt x="351431" y="4440"/>
                </a:lnTo>
                <a:lnTo>
                  <a:pt x="347311" y="3171"/>
                </a:lnTo>
                <a:lnTo>
                  <a:pt x="347311" y="3171"/>
                </a:lnTo>
                <a:close/>
                <a:moveTo>
                  <a:pt x="360938" y="123064"/>
                </a:moveTo>
                <a:lnTo>
                  <a:pt x="224674" y="259451"/>
                </a:lnTo>
                <a:lnTo>
                  <a:pt x="214217" y="270234"/>
                </a:lnTo>
                <a:lnTo>
                  <a:pt x="198373" y="286094"/>
                </a:lnTo>
                <a:lnTo>
                  <a:pt x="198373" y="286094"/>
                </a:lnTo>
                <a:lnTo>
                  <a:pt x="195522" y="287997"/>
                </a:lnTo>
                <a:lnTo>
                  <a:pt x="192669" y="289900"/>
                </a:lnTo>
                <a:lnTo>
                  <a:pt x="189817" y="290534"/>
                </a:lnTo>
                <a:lnTo>
                  <a:pt x="186648" y="290852"/>
                </a:lnTo>
                <a:lnTo>
                  <a:pt x="183479" y="290534"/>
                </a:lnTo>
                <a:lnTo>
                  <a:pt x="179993" y="289900"/>
                </a:lnTo>
                <a:lnTo>
                  <a:pt x="177141" y="287997"/>
                </a:lnTo>
                <a:lnTo>
                  <a:pt x="174923" y="286094"/>
                </a:lnTo>
                <a:lnTo>
                  <a:pt x="89997" y="201724"/>
                </a:lnTo>
                <a:lnTo>
                  <a:pt x="89997" y="201724"/>
                </a:lnTo>
                <a:lnTo>
                  <a:pt x="87779" y="199187"/>
                </a:lnTo>
                <a:lnTo>
                  <a:pt x="86511" y="196016"/>
                </a:lnTo>
                <a:lnTo>
                  <a:pt x="85877" y="193161"/>
                </a:lnTo>
                <a:lnTo>
                  <a:pt x="85560" y="189989"/>
                </a:lnTo>
                <a:lnTo>
                  <a:pt x="85877" y="186817"/>
                </a:lnTo>
                <a:lnTo>
                  <a:pt x="86511" y="183328"/>
                </a:lnTo>
                <a:lnTo>
                  <a:pt x="87779" y="180473"/>
                </a:lnTo>
                <a:lnTo>
                  <a:pt x="89997" y="178253"/>
                </a:lnTo>
                <a:lnTo>
                  <a:pt x="116933" y="151294"/>
                </a:lnTo>
                <a:lnTo>
                  <a:pt x="116933" y="151294"/>
                </a:lnTo>
                <a:lnTo>
                  <a:pt x="119468" y="149390"/>
                </a:lnTo>
                <a:lnTo>
                  <a:pt x="122320" y="147488"/>
                </a:lnTo>
                <a:lnTo>
                  <a:pt x="125489" y="146853"/>
                </a:lnTo>
                <a:lnTo>
                  <a:pt x="128657" y="146536"/>
                </a:lnTo>
                <a:lnTo>
                  <a:pt x="131826" y="146853"/>
                </a:lnTo>
                <a:lnTo>
                  <a:pt x="134678" y="147488"/>
                </a:lnTo>
                <a:lnTo>
                  <a:pt x="137847" y="149390"/>
                </a:lnTo>
                <a:lnTo>
                  <a:pt x="140382" y="151294"/>
                </a:lnTo>
                <a:lnTo>
                  <a:pt x="186648" y="197602"/>
                </a:lnTo>
                <a:lnTo>
                  <a:pt x="310869" y="72634"/>
                </a:lnTo>
                <a:lnTo>
                  <a:pt x="310869" y="72634"/>
                </a:lnTo>
                <a:lnTo>
                  <a:pt x="313404" y="70730"/>
                </a:lnTo>
                <a:lnTo>
                  <a:pt x="316255" y="68828"/>
                </a:lnTo>
                <a:lnTo>
                  <a:pt x="319425" y="68193"/>
                </a:lnTo>
                <a:lnTo>
                  <a:pt x="322910" y="67876"/>
                </a:lnTo>
                <a:lnTo>
                  <a:pt x="325763" y="68193"/>
                </a:lnTo>
                <a:lnTo>
                  <a:pt x="328931" y="68828"/>
                </a:lnTo>
                <a:lnTo>
                  <a:pt x="331784" y="70730"/>
                </a:lnTo>
                <a:lnTo>
                  <a:pt x="334636" y="72634"/>
                </a:lnTo>
                <a:lnTo>
                  <a:pt x="360938" y="99276"/>
                </a:lnTo>
                <a:lnTo>
                  <a:pt x="360938" y="99276"/>
                </a:lnTo>
                <a:lnTo>
                  <a:pt x="363155" y="102131"/>
                </a:lnTo>
                <a:lnTo>
                  <a:pt x="364740" y="104986"/>
                </a:lnTo>
                <a:lnTo>
                  <a:pt x="365691" y="107841"/>
                </a:lnTo>
                <a:lnTo>
                  <a:pt x="366008" y="111012"/>
                </a:lnTo>
                <a:lnTo>
                  <a:pt x="365691" y="114183"/>
                </a:lnTo>
                <a:lnTo>
                  <a:pt x="364740" y="117673"/>
                </a:lnTo>
                <a:lnTo>
                  <a:pt x="363155" y="120527"/>
                </a:lnTo>
                <a:lnTo>
                  <a:pt x="360938" y="123064"/>
                </a:lnTo>
                <a:lnTo>
                  <a:pt x="360938" y="123064"/>
                </a:lnTo>
                <a:close/>
              </a:path>
            </a:pathLst>
          </a:custGeom>
          <a:solidFill>
            <a:srgbClr val="FCFC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96200" y="3467100"/>
            <a:ext cx="1041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FCFCFC"/>
                </a:solidFill>
                <a:latin typeface="等线"/>
                <a:ea typeface="等线"/>
                <a:cs typeface="等线"/>
                <a:sym typeface="等线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96200" y="5194300"/>
            <a:ext cx="10795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FCFCFC"/>
                </a:solidFill>
                <a:latin typeface="等线"/>
                <a:ea typeface="等线"/>
                <a:cs typeface="等线"/>
                <a:sym typeface="等线"/>
              </a:rPr>
              <a:t>03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636000" y="33782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技术创新：RAG教材级溯源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636000" y="4203700"/>
            <a:ext cx="2616200" cy="774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11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独创医学教材RAG知识库，AI的每一次纠错都能精准溯源至教材章节页码，彻底终结“AI幻觉”，确保医学教育内容的绝对严谨与权威。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636000" y="51181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模式创新：动态博弈式教学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636000" y="5956300"/>
            <a:ext cx="2616200" cy="774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11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摒弃传统“死脚本”，采用多智能体编排技术，AI病人可做出真实病理反馈，支持“苏格拉底式”逐级启发，引导学员自主探索诊疗方案。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87400" y="4521200"/>
            <a:ext cx="571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20202"/>
                </a:solidFill>
                <a:latin typeface="微软雅黑"/>
                <a:ea typeface="微软雅黑"/>
                <a:cs typeface="微软雅黑"/>
                <a:sym typeface="微软雅黑"/>
              </a:rPr>
              <a:t>01 理念创新：卫生经济学与人文关怀融合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07300" y="622300"/>
            <a:ext cx="4546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0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核心创新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759700" y="457200"/>
            <a:ext cx="8001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1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INNOVATION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0799999">
            <a:off x="7797748" y="698500"/>
            <a:ext cx="154945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C9C9">
                <a:alpha val="28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7" name="Connector 17"/>
          <p:cNvCxnSpPr/>
          <p:nvPr/>
        </p:nvCxnSpPr>
        <p:spPr>
          <a:xfrm rot="10473027">
            <a:off x="7797498" y="711207"/>
            <a:ext cx="26700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CDD6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 rot="10800000" flipV="1">
            <a:off x="9245600" y="520700"/>
            <a:ext cx="101600" cy="101600"/>
          </a:xfrm>
          <a:prstGeom prst="plus">
            <a:avLst>
              <a:gd name="adj" fmla="val 37500"/>
            </a:avLst>
          </a:prstGeom>
          <a:solidFill>
            <a:srgbClr val="27CDD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747000" y="1524000"/>
            <a:ext cx="35814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BACE3"/>
                </a:solidFill>
                <a:latin typeface="微软雅黑"/>
                <a:ea typeface="微软雅黑"/>
                <a:cs typeface="微软雅黑"/>
                <a:sym typeface="微软雅黑"/>
              </a:rPr>
              <a:t>实现“严谨、启发、降本”的完美平衡，重塑AI医疗教育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155700" y="5038404"/>
            <a:ext cx="5321300" cy="11591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打破传统医学教育“唯诊断论”的局限，在AI问诊训练中深度植入检查成本核算与DRG控费意识，将人文关怀贯穿诊疗全程。不仅培养学员的专业诊疗能力，更塑造其“会治病、懂算账、有温度”的综合素养，打造符合现代医疗需求的卓越医生人才。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 rot="10800000" flipV="1">
            <a:off x="927100" y="4673600"/>
            <a:ext cx="50800" cy="1524000"/>
          </a:xfrm>
          <a:prstGeom prst="roundRect">
            <a:avLst>
              <a:gd name="adj" fmla="val 0"/>
            </a:avLst>
          </a:prstGeom>
          <a:solidFill>
            <a:srgbClr val="1BAC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-241300"/>
            <a:ext cx="12192000" cy="812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-4380000">
            <a:off x="3810000" y="63500"/>
            <a:ext cx="3225800" cy="322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-6359999">
            <a:off x="5308600" y="3263900"/>
            <a:ext cx="4254500" cy="3314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235700" y="3390900"/>
            <a:ext cx="44577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市场与商业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24600" y="3924300"/>
            <a:ext cx="4445000" cy="279400"/>
          </a:xfrm>
          <a:prstGeom prst="rect">
            <a:avLst/>
          </a:prstGeom>
          <a:solidFill>
            <a:srgbClr val="020202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latin typeface="微软雅黑"/>
                <a:ea typeface="微软雅黑"/>
                <a:cs typeface="微软雅黑"/>
                <a:sym typeface="微软雅黑"/>
              </a:rPr>
              <a:t>市场有多大 &amp; 怎么赚钱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35700" y="2400300"/>
            <a:ext cx="5880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7200" b="1" i="0" u="none" strike="noStrike" spc="30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PART 03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90500" y="1054100"/>
            <a:ext cx="5943600" cy="538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10019999">
            <a:off x="3911600" y="3403600"/>
            <a:ext cx="2908300" cy="2908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9300000">
            <a:off x="-647700" y="-635000"/>
            <a:ext cx="4508500" cy="4279900"/>
          </a:xfrm>
          <a:prstGeom prst="roundRect">
            <a:avLst>
              <a:gd name="adj" fmla="val 0"/>
            </a:avLst>
          </a:prstGeom>
          <a:blipFill rotWithShape="1">
            <a:blip r:embed="rId3">
              <a:alphaModFix amt="22000"/>
            </a:blip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9300" y="2959100"/>
            <a:ext cx="10680700" cy="327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49300" y="2959100"/>
            <a:ext cx="10680700" cy="3276600"/>
          </a:xfrm>
          <a:prstGeom prst="roundRect">
            <a:avLst>
              <a:gd name="adj" fmla="val 0"/>
            </a:avLst>
          </a:prstGeom>
          <a:solidFill>
            <a:srgbClr val="05151D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194415" y="2565400"/>
            <a:ext cx="1929023" cy="132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BACE3">
                  <a:alpha val="100000"/>
                </a:srgbClr>
              </a:gs>
              <a:gs pos="98000">
                <a:srgbClr val="1481AA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448300" y="2567488"/>
            <a:ext cx="9906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50800" rIns="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000" b="1" i="0" u="none" strike="noStrike" dirty="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506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158049" y="3502835"/>
            <a:ext cx="871772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所 </a:t>
            </a:r>
            <a:r>
              <a:rPr lang="en-US" sz="1200" b="0" i="0" u="none" strike="noStrike" dirty="0" err="1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医学高校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401018" y="2546350"/>
            <a:ext cx="1805455" cy="13208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2080C3">
                  <a:alpha val="100000"/>
                </a:srgbClr>
              </a:gs>
              <a:gs pos="98000">
                <a:srgbClr val="27CDD6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78597" y="2565400"/>
            <a:ext cx="164217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000" b="1" i="0" u="none" strike="noStrike" dirty="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1k+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8247623" y="3532688"/>
            <a:ext cx="101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规培基地数量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9484052" y="2551421"/>
            <a:ext cx="1958648" cy="13208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8DD6C1">
                  <a:alpha val="100000"/>
                </a:srgbClr>
              </a:gs>
              <a:gs pos="98000">
                <a:srgbClr val="5E9F9B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754511" y="2559050"/>
            <a:ext cx="9906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50800" rIns="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600" b="1" i="0" u="none" strike="noStrike" dirty="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487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10394949" y="3532688"/>
            <a:ext cx="101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亿元</a:t>
            </a:r>
            <a:r>
              <a:rPr lang="en-US" sz="1200" b="0" i="0" u="none" strike="noStrike" dirty="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en-US" sz="1200" b="0" i="0" u="none" strike="noStrike" dirty="0" err="1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市场规模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104900" y="5219700"/>
            <a:ext cx="165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50800" rIns="254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核心客群覆盖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C8C8C8"/>
                </a:solidFill>
                <a:latin typeface="微软雅黑"/>
                <a:ea typeface="微软雅黑"/>
                <a:cs typeface="微软雅黑"/>
                <a:sym typeface="微软雅黑"/>
              </a:rPr>
              <a:t>覆盖数千家附属医院及教学医院，构建完整医学教育生态闭环。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3111500" y="5219700"/>
            <a:ext cx="165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50800" rIns="254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规培体系渗透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C8C8C8"/>
                </a:solidFill>
                <a:latin typeface="微软雅黑"/>
                <a:ea typeface="微软雅黑"/>
                <a:cs typeface="微软雅黑"/>
                <a:sym typeface="微软雅黑"/>
              </a:rPr>
              <a:t>深耕1100+国家级住培基地，解决临床教学标准化与规范化难题。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118100" y="5219700"/>
            <a:ext cx="165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50800" rIns="254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政策红利驱动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 dirty="0">
                <a:solidFill>
                  <a:srgbClr val="C8C8C8"/>
                </a:solidFill>
                <a:latin typeface="微软雅黑"/>
                <a:ea typeface="微软雅黑"/>
                <a:cs typeface="微软雅黑"/>
                <a:sym typeface="微软雅黑"/>
              </a:rPr>
              <a:t>“</a:t>
            </a:r>
            <a:r>
              <a:rPr lang="en-US" sz="1100" b="0" i="0" u="none" strike="noStrike" dirty="0" err="1">
                <a:solidFill>
                  <a:srgbClr val="C8C8C8"/>
                </a:solidFill>
                <a:latin typeface="微软雅黑"/>
                <a:ea typeface="微软雅黑"/>
                <a:cs typeface="微软雅黑"/>
                <a:sym typeface="微软雅黑"/>
              </a:rPr>
              <a:t>虚拟仿真金课”建设推动高校采购预算落地，市场刚需属性凸显</a:t>
            </a:r>
            <a:r>
              <a:rPr lang="en-US" sz="1100" b="0" i="0" u="none" strike="noStrike" dirty="0">
                <a:solidFill>
                  <a:srgbClr val="C8C8C8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17" name="Freeform 17"/>
          <p:cNvSpPr/>
          <p:nvPr/>
        </p:nvSpPr>
        <p:spPr>
          <a:xfrm>
            <a:off x="1104900" y="4762500"/>
            <a:ext cx="338969" cy="338943"/>
          </a:xfrm>
          <a:custGeom>
            <a:avLst/>
            <a:gdLst/>
            <a:ahLst/>
            <a:cxnLst/>
            <a:rect l="l" t="t" r="r" b="b"/>
            <a:pathLst>
              <a:path w="338969" h="338943">
                <a:moveTo>
                  <a:pt x="192726" y="311419"/>
                </a:moveTo>
                <a:lnTo>
                  <a:pt x="147719" y="202142"/>
                </a:lnTo>
                <a:lnTo>
                  <a:pt x="308446" y="41426"/>
                </a:lnTo>
                <a:cubicBezTo>
                  <a:pt x="308446" y="41426"/>
                  <a:pt x="192726" y="311419"/>
                  <a:pt x="192726" y="311419"/>
                </a:cubicBezTo>
                <a:close/>
                <a:moveTo>
                  <a:pt x="27541" y="146248"/>
                </a:moveTo>
                <a:lnTo>
                  <a:pt x="297539" y="30521"/>
                </a:lnTo>
                <a:lnTo>
                  <a:pt x="136827" y="191237"/>
                </a:lnTo>
                <a:cubicBezTo>
                  <a:pt x="136827" y="191237"/>
                  <a:pt x="27541" y="146248"/>
                  <a:pt x="27541" y="146248"/>
                </a:cubicBezTo>
                <a:close/>
                <a:moveTo>
                  <a:pt x="338969" y="7705"/>
                </a:moveTo>
                <a:cubicBezTo>
                  <a:pt x="338969" y="3452"/>
                  <a:pt x="335516" y="0"/>
                  <a:pt x="331264" y="0"/>
                </a:cubicBezTo>
                <a:cubicBezTo>
                  <a:pt x="330087" y="0"/>
                  <a:pt x="328988" y="314"/>
                  <a:pt x="327984" y="815"/>
                </a:cubicBezTo>
                <a:lnTo>
                  <a:pt x="327952" y="753"/>
                </a:lnTo>
                <a:lnTo>
                  <a:pt x="4740" y="139264"/>
                </a:lnTo>
                <a:cubicBezTo>
                  <a:pt x="4723" y="139264"/>
                  <a:pt x="4693" y="139281"/>
                  <a:pt x="4661" y="139296"/>
                </a:cubicBezTo>
                <a:lnTo>
                  <a:pt x="4394" y="139422"/>
                </a:lnTo>
                <a:lnTo>
                  <a:pt x="4409" y="139454"/>
                </a:lnTo>
                <a:cubicBezTo>
                  <a:pt x="1820" y="140708"/>
                  <a:pt x="0" y="143298"/>
                  <a:pt x="0" y="146357"/>
                </a:cubicBezTo>
                <a:cubicBezTo>
                  <a:pt x="0" y="149856"/>
                  <a:pt x="2370" y="152697"/>
                  <a:pt x="5571" y="153638"/>
                </a:cubicBezTo>
                <a:lnTo>
                  <a:pt x="5540" y="153764"/>
                </a:lnTo>
                <a:lnTo>
                  <a:pt x="132794" y="206159"/>
                </a:lnTo>
                <a:lnTo>
                  <a:pt x="185193" y="333419"/>
                </a:lnTo>
                <a:lnTo>
                  <a:pt x="185318" y="333372"/>
                </a:lnTo>
                <a:cubicBezTo>
                  <a:pt x="186261" y="336574"/>
                  <a:pt x="189100" y="338943"/>
                  <a:pt x="192601" y="338943"/>
                </a:cubicBezTo>
                <a:cubicBezTo>
                  <a:pt x="195660" y="338943"/>
                  <a:pt x="198266" y="337123"/>
                  <a:pt x="199506" y="334533"/>
                </a:cubicBezTo>
                <a:lnTo>
                  <a:pt x="199553" y="334550"/>
                </a:lnTo>
                <a:lnTo>
                  <a:pt x="199662" y="334283"/>
                </a:lnTo>
                <a:cubicBezTo>
                  <a:pt x="199678" y="334251"/>
                  <a:pt x="199694" y="334236"/>
                  <a:pt x="199694" y="334204"/>
                </a:cubicBezTo>
                <a:lnTo>
                  <a:pt x="338231" y="11016"/>
                </a:lnTo>
                <a:lnTo>
                  <a:pt x="338138" y="10969"/>
                </a:lnTo>
                <a:cubicBezTo>
                  <a:pt x="338624" y="9980"/>
                  <a:pt x="338969" y="8898"/>
                  <a:pt x="338969" y="7705"/>
                </a:cubicBezTo>
                <a:moveTo>
                  <a:pt x="123269" y="254207"/>
                </a:moveTo>
                <a:cubicBezTo>
                  <a:pt x="121134" y="254207"/>
                  <a:pt x="119203" y="255071"/>
                  <a:pt x="117808" y="256466"/>
                </a:cubicBezTo>
                <a:lnTo>
                  <a:pt x="94708" y="279580"/>
                </a:lnTo>
                <a:cubicBezTo>
                  <a:pt x="93311" y="280962"/>
                  <a:pt x="92447" y="282908"/>
                  <a:pt x="92447" y="285026"/>
                </a:cubicBezTo>
                <a:cubicBezTo>
                  <a:pt x="92447" y="289278"/>
                  <a:pt x="95900" y="292731"/>
                  <a:pt x="100152" y="292731"/>
                </a:cubicBezTo>
                <a:cubicBezTo>
                  <a:pt x="102272" y="292731"/>
                  <a:pt x="104201" y="291868"/>
                  <a:pt x="105598" y="290471"/>
                </a:cubicBezTo>
                <a:lnTo>
                  <a:pt x="128714" y="267357"/>
                </a:lnTo>
                <a:cubicBezTo>
                  <a:pt x="130110" y="265976"/>
                  <a:pt x="130959" y="264046"/>
                  <a:pt x="130959" y="261912"/>
                </a:cubicBezTo>
                <a:cubicBezTo>
                  <a:pt x="130959" y="257659"/>
                  <a:pt x="127522" y="254207"/>
                  <a:pt x="123269" y="254207"/>
                </a:cubicBezTo>
                <a:moveTo>
                  <a:pt x="123269" y="223404"/>
                </a:moveTo>
                <a:cubicBezTo>
                  <a:pt x="123269" y="219151"/>
                  <a:pt x="119816" y="215684"/>
                  <a:pt x="115564" y="215684"/>
                </a:cubicBezTo>
                <a:cubicBezTo>
                  <a:pt x="113429" y="215684"/>
                  <a:pt x="111498" y="216563"/>
                  <a:pt x="110118" y="217943"/>
                </a:cubicBezTo>
                <a:lnTo>
                  <a:pt x="33066" y="294974"/>
                </a:lnTo>
                <a:cubicBezTo>
                  <a:pt x="31684" y="296386"/>
                  <a:pt x="30822" y="298317"/>
                  <a:pt x="30822" y="300420"/>
                </a:cubicBezTo>
                <a:cubicBezTo>
                  <a:pt x="30822" y="304688"/>
                  <a:pt x="34273" y="308125"/>
                  <a:pt x="38527" y="308125"/>
                </a:cubicBezTo>
                <a:cubicBezTo>
                  <a:pt x="40645" y="308125"/>
                  <a:pt x="42575" y="307276"/>
                  <a:pt x="43971" y="305881"/>
                </a:cubicBezTo>
                <a:lnTo>
                  <a:pt x="121009" y="228834"/>
                </a:lnTo>
                <a:cubicBezTo>
                  <a:pt x="122405" y="227453"/>
                  <a:pt x="123269" y="225523"/>
                  <a:pt x="123269" y="223404"/>
                </a:cubicBezTo>
                <a:moveTo>
                  <a:pt x="74778" y="228834"/>
                </a:moveTo>
                <a:lnTo>
                  <a:pt x="82483" y="221145"/>
                </a:lnTo>
                <a:cubicBezTo>
                  <a:pt x="83880" y="219748"/>
                  <a:pt x="84742" y="217818"/>
                  <a:pt x="84742" y="215684"/>
                </a:cubicBezTo>
                <a:cubicBezTo>
                  <a:pt x="84742" y="211447"/>
                  <a:pt x="81290" y="207994"/>
                  <a:pt x="77037" y="207994"/>
                </a:cubicBezTo>
                <a:cubicBezTo>
                  <a:pt x="74919" y="207994"/>
                  <a:pt x="72988" y="208858"/>
                  <a:pt x="71591" y="210238"/>
                </a:cubicBezTo>
                <a:lnTo>
                  <a:pt x="63886" y="217943"/>
                </a:lnTo>
                <a:cubicBezTo>
                  <a:pt x="62489" y="219356"/>
                  <a:pt x="61627" y="221270"/>
                  <a:pt x="61627" y="223404"/>
                </a:cubicBezTo>
                <a:cubicBezTo>
                  <a:pt x="61627" y="227641"/>
                  <a:pt x="65079" y="231093"/>
                  <a:pt x="69332" y="231093"/>
                </a:cubicBezTo>
                <a:cubicBezTo>
                  <a:pt x="71465" y="231093"/>
                  <a:pt x="73381" y="230246"/>
                  <a:pt x="74778" y="228834"/>
                </a:cubicBezTo>
              </a:path>
            </a:pathLst>
          </a:custGeom>
          <a:gradFill rotWithShape="0">
            <a:gsLst>
              <a:gs pos="0">
                <a:srgbClr val="5E9F9B">
                  <a:alpha val="100000"/>
                </a:srgbClr>
              </a:gs>
              <a:gs pos="100000">
                <a:srgbClr val="42BA97">
                  <a:alpha val="100000"/>
                </a:srgbClr>
              </a:gs>
            </a:gsLst>
            <a:lin ang="1776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5118100" y="4787900"/>
            <a:ext cx="338971" cy="308145"/>
          </a:xfrm>
          <a:custGeom>
            <a:avLst/>
            <a:gdLst/>
            <a:ahLst/>
            <a:cxnLst/>
            <a:rect l="l" t="t" r="r" b="b"/>
            <a:pathLst>
              <a:path w="338971" h="308145">
                <a:moveTo>
                  <a:pt x="269638" y="177183"/>
                </a:moveTo>
                <a:cubicBezTo>
                  <a:pt x="256864" y="177183"/>
                  <a:pt x="246522" y="166826"/>
                  <a:pt x="246522" y="154073"/>
                </a:cubicBezTo>
                <a:cubicBezTo>
                  <a:pt x="246522" y="141319"/>
                  <a:pt x="256864" y="130961"/>
                  <a:pt x="269638" y="130961"/>
                </a:cubicBezTo>
                <a:cubicBezTo>
                  <a:pt x="282396" y="130961"/>
                  <a:pt x="292754" y="141319"/>
                  <a:pt x="292754" y="154073"/>
                </a:cubicBezTo>
                <a:cubicBezTo>
                  <a:pt x="292754" y="166826"/>
                  <a:pt x="282396" y="177183"/>
                  <a:pt x="269638" y="177183"/>
                </a:cubicBezTo>
                <a:moveTo>
                  <a:pt x="331264" y="146369"/>
                </a:moveTo>
                <a:lnTo>
                  <a:pt x="307379" y="146369"/>
                </a:lnTo>
                <a:cubicBezTo>
                  <a:pt x="303817" y="128793"/>
                  <a:pt x="288266" y="115555"/>
                  <a:pt x="269638" y="115555"/>
                </a:cubicBezTo>
                <a:cubicBezTo>
                  <a:pt x="250995" y="115555"/>
                  <a:pt x="235458" y="128793"/>
                  <a:pt x="231896" y="146369"/>
                </a:cubicBezTo>
                <a:lnTo>
                  <a:pt x="7705" y="146369"/>
                </a:lnTo>
                <a:cubicBezTo>
                  <a:pt x="3452" y="146369"/>
                  <a:pt x="0" y="149821"/>
                  <a:pt x="0" y="154073"/>
                </a:cubicBezTo>
                <a:cubicBezTo>
                  <a:pt x="0" y="158323"/>
                  <a:pt x="3452" y="161776"/>
                  <a:pt x="7705" y="161776"/>
                </a:cubicBezTo>
                <a:lnTo>
                  <a:pt x="231896" y="161776"/>
                </a:lnTo>
                <a:cubicBezTo>
                  <a:pt x="235458" y="179352"/>
                  <a:pt x="250995" y="192590"/>
                  <a:pt x="269638" y="192590"/>
                </a:cubicBezTo>
                <a:cubicBezTo>
                  <a:pt x="288266" y="192590"/>
                  <a:pt x="303817" y="179352"/>
                  <a:pt x="307379" y="161776"/>
                </a:cubicBezTo>
                <a:lnTo>
                  <a:pt x="331264" y="161776"/>
                </a:lnTo>
                <a:cubicBezTo>
                  <a:pt x="335517" y="161776"/>
                  <a:pt x="338971" y="158323"/>
                  <a:pt x="338971" y="154073"/>
                </a:cubicBezTo>
                <a:cubicBezTo>
                  <a:pt x="338971" y="149821"/>
                  <a:pt x="335517" y="146369"/>
                  <a:pt x="331264" y="146369"/>
                </a:cubicBezTo>
                <a:moveTo>
                  <a:pt x="84742" y="15408"/>
                </a:moveTo>
                <a:cubicBezTo>
                  <a:pt x="97517" y="15408"/>
                  <a:pt x="107859" y="25764"/>
                  <a:pt x="107859" y="38518"/>
                </a:cubicBezTo>
                <a:cubicBezTo>
                  <a:pt x="107859" y="51286"/>
                  <a:pt x="97517" y="61629"/>
                  <a:pt x="84742" y="61629"/>
                </a:cubicBezTo>
                <a:cubicBezTo>
                  <a:pt x="71968" y="61629"/>
                  <a:pt x="61627" y="51286"/>
                  <a:pt x="61627" y="38518"/>
                </a:cubicBezTo>
                <a:cubicBezTo>
                  <a:pt x="61627" y="25764"/>
                  <a:pt x="71968" y="15408"/>
                  <a:pt x="84742" y="15408"/>
                </a:cubicBezTo>
                <a:moveTo>
                  <a:pt x="7705" y="46222"/>
                </a:moveTo>
                <a:lnTo>
                  <a:pt x="47000" y="46222"/>
                </a:lnTo>
                <a:cubicBezTo>
                  <a:pt x="50563" y="63797"/>
                  <a:pt x="66115" y="77036"/>
                  <a:pt x="84742" y="77036"/>
                </a:cubicBezTo>
                <a:cubicBezTo>
                  <a:pt x="103370" y="77036"/>
                  <a:pt x="118922" y="63797"/>
                  <a:pt x="122484" y="46222"/>
                </a:cubicBezTo>
                <a:lnTo>
                  <a:pt x="331264" y="46222"/>
                </a:lnTo>
                <a:cubicBezTo>
                  <a:pt x="335517" y="46222"/>
                  <a:pt x="338971" y="42784"/>
                  <a:pt x="338971" y="38518"/>
                </a:cubicBezTo>
                <a:cubicBezTo>
                  <a:pt x="338971" y="34267"/>
                  <a:pt x="335517" y="30814"/>
                  <a:pt x="331264" y="30814"/>
                </a:cubicBezTo>
                <a:lnTo>
                  <a:pt x="122484" y="30814"/>
                </a:lnTo>
                <a:cubicBezTo>
                  <a:pt x="118922" y="13238"/>
                  <a:pt x="103370" y="0"/>
                  <a:pt x="84742" y="0"/>
                </a:cubicBezTo>
                <a:cubicBezTo>
                  <a:pt x="66115" y="0"/>
                  <a:pt x="50563" y="13238"/>
                  <a:pt x="47000" y="30814"/>
                </a:cubicBezTo>
                <a:lnTo>
                  <a:pt x="7705" y="30814"/>
                </a:lnTo>
                <a:cubicBezTo>
                  <a:pt x="3452" y="30814"/>
                  <a:pt x="0" y="34267"/>
                  <a:pt x="0" y="38518"/>
                </a:cubicBezTo>
                <a:cubicBezTo>
                  <a:pt x="0" y="42784"/>
                  <a:pt x="3452" y="46222"/>
                  <a:pt x="7705" y="46222"/>
                </a:cubicBezTo>
                <a:moveTo>
                  <a:pt x="146369" y="292724"/>
                </a:moveTo>
                <a:cubicBezTo>
                  <a:pt x="133610" y="292724"/>
                  <a:pt x="123269" y="282381"/>
                  <a:pt x="123269" y="269612"/>
                </a:cubicBezTo>
                <a:cubicBezTo>
                  <a:pt x="123269" y="256859"/>
                  <a:pt x="133610" y="246502"/>
                  <a:pt x="146369" y="246502"/>
                </a:cubicBezTo>
                <a:cubicBezTo>
                  <a:pt x="159144" y="246502"/>
                  <a:pt x="169485" y="256859"/>
                  <a:pt x="169485" y="269612"/>
                </a:cubicBezTo>
                <a:cubicBezTo>
                  <a:pt x="169485" y="282381"/>
                  <a:pt x="159144" y="292724"/>
                  <a:pt x="146369" y="292724"/>
                </a:cubicBezTo>
                <a:moveTo>
                  <a:pt x="331264" y="261910"/>
                </a:moveTo>
                <a:lnTo>
                  <a:pt x="184111" y="261910"/>
                </a:lnTo>
                <a:cubicBezTo>
                  <a:pt x="180548" y="244333"/>
                  <a:pt x="165012" y="231094"/>
                  <a:pt x="146369" y="231094"/>
                </a:cubicBezTo>
                <a:cubicBezTo>
                  <a:pt x="127742" y="231094"/>
                  <a:pt x="112206" y="244333"/>
                  <a:pt x="108627" y="261910"/>
                </a:cubicBezTo>
                <a:lnTo>
                  <a:pt x="7705" y="261910"/>
                </a:lnTo>
                <a:cubicBezTo>
                  <a:pt x="3452" y="261910"/>
                  <a:pt x="0" y="265361"/>
                  <a:pt x="0" y="269612"/>
                </a:cubicBezTo>
                <a:cubicBezTo>
                  <a:pt x="0" y="273878"/>
                  <a:pt x="3452" y="277316"/>
                  <a:pt x="7705" y="277316"/>
                </a:cubicBezTo>
                <a:lnTo>
                  <a:pt x="108627" y="277316"/>
                </a:lnTo>
                <a:cubicBezTo>
                  <a:pt x="112206" y="294907"/>
                  <a:pt x="127742" y="308145"/>
                  <a:pt x="146369" y="308145"/>
                </a:cubicBezTo>
                <a:cubicBezTo>
                  <a:pt x="165012" y="308145"/>
                  <a:pt x="180548" y="294907"/>
                  <a:pt x="184111" y="277316"/>
                </a:cubicBezTo>
                <a:lnTo>
                  <a:pt x="331264" y="277316"/>
                </a:lnTo>
                <a:cubicBezTo>
                  <a:pt x="335517" y="277316"/>
                  <a:pt x="338971" y="273878"/>
                  <a:pt x="338971" y="269612"/>
                </a:cubicBezTo>
                <a:cubicBezTo>
                  <a:pt x="338971" y="265361"/>
                  <a:pt x="335517" y="261910"/>
                  <a:pt x="331264" y="261910"/>
                </a:cubicBezTo>
              </a:path>
            </a:pathLst>
          </a:custGeom>
          <a:gradFill rotWithShape="0">
            <a:gsLst>
              <a:gs pos="0">
                <a:srgbClr val="5E9F9B">
                  <a:alpha val="100000"/>
                </a:srgbClr>
              </a:gs>
              <a:gs pos="100000">
                <a:srgbClr val="42BA97">
                  <a:alpha val="100000"/>
                </a:srgbClr>
              </a:gs>
            </a:gsLst>
            <a:lin ang="1776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3111500" y="4762500"/>
            <a:ext cx="338969" cy="338943"/>
          </a:xfrm>
          <a:custGeom>
            <a:avLst/>
            <a:gdLst/>
            <a:ahLst/>
            <a:cxnLst/>
            <a:rect l="l" t="t" r="r" b="b"/>
            <a:pathLst>
              <a:path w="338969" h="338943">
                <a:moveTo>
                  <a:pt x="169484" y="231093"/>
                </a:moveTo>
                <a:cubicBezTo>
                  <a:pt x="135447" y="231093"/>
                  <a:pt x="107859" y="203507"/>
                  <a:pt x="107859" y="169471"/>
                </a:cubicBezTo>
                <a:cubicBezTo>
                  <a:pt x="107859" y="135435"/>
                  <a:pt x="135447" y="107850"/>
                  <a:pt x="169484" y="107850"/>
                </a:cubicBezTo>
                <a:cubicBezTo>
                  <a:pt x="203523" y="107850"/>
                  <a:pt x="231111" y="135435"/>
                  <a:pt x="231111" y="169471"/>
                </a:cubicBezTo>
                <a:cubicBezTo>
                  <a:pt x="231111" y="203507"/>
                  <a:pt x="203523" y="231093"/>
                  <a:pt x="169484" y="231093"/>
                </a:cubicBezTo>
                <a:moveTo>
                  <a:pt x="169484" y="92441"/>
                </a:moveTo>
                <a:cubicBezTo>
                  <a:pt x="126925" y="92441"/>
                  <a:pt x="92447" y="126931"/>
                  <a:pt x="92447" y="169471"/>
                </a:cubicBezTo>
                <a:cubicBezTo>
                  <a:pt x="92447" y="212028"/>
                  <a:pt x="126925" y="246503"/>
                  <a:pt x="169484" y="246503"/>
                </a:cubicBezTo>
                <a:cubicBezTo>
                  <a:pt x="212044" y="246503"/>
                  <a:pt x="246521" y="212028"/>
                  <a:pt x="246521" y="169471"/>
                </a:cubicBezTo>
                <a:cubicBezTo>
                  <a:pt x="246521" y="126931"/>
                  <a:pt x="212044" y="92441"/>
                  <a:pt x="169484" y="92441"/>
                </a:cubicBezTo>
                <a:moveTo>
                  <a:pt x="323558" y="188506"/>
                </a:moveTo>
                <a:cubicBezTo>
                  <a:pt x="323496" y="188521"/>
                  <a:pt x="323449" y="188553"/>
                  <a:pt x="323386" y="188553"/>
                </a:cubicBezTo>
                <a:lnTo>
                  <a:pt x="307614" y="192507"/>
                </a:lnTo>
                <a:cubicBezTo>
                  <a:pt x="302185" y="193857"/>
                  <a:pt x="297917" y="198062"/>
                  <a:pt x="296473" y="203460"/>
                </a:cubicBezTo>
                <a:cubicBezTo>
                  <a:pt x="293506" y="214539"/>
                  <a:pt x="289081" y="225193"/>
                  <a:pt x="283307" y="235157"/>
                </a:cubicBezTo>
                <a:cubicBezTo>
                  <a:pt x="280481" y="240006"/>
                  <a:pt x="280528" y="246000"/>
                  <a:pt x="283416" y="250817"/>
                </a:cubicBezTo>
                <a:lnTo>
                  <a:pt x="291906" y="264956"/>
                </a:lnTo>
                <a:lnTo>
                  <a:pt x="264992" y="291868"/>
                </a:lnTo>
                <a:cubicBezTo>
                  <a:pt x="264930" y="291852"/>
                  <a:pt x="264866" y="291821"/>
                  <a:pt x="264819" y="291789"/>
                </a:cubicBezTo>
                <a:lnTo>
                  <a:pt x="250742" y="283347"/>
                </a:lnTo>
                <a:cubicBezTo>
                  <a:pt x="248295" y="281888"/>
                  <a:pt x="245565" y="281150"/>
                  <a:pt x="242818" y="281150"/>
                </a:cubicBezTo>
                <a:cubicBezTo>
                  <a:pt x="240166" y="281150"/>
                  <a:pt x="237498" y="281841"/>
                  <a:pt x="235113" y="283221"/>
                </a:cubicBezTo>
                <a:cubicBezTo>
                  <a:pt x="225163" y="288964"/>
                  <a:pt x="214539" y="293374"/>
                  <a:pt x="203507" y="296324"/>
                </a:cubicBezTo>
                <a:cubicBezTo>
                  <a:pt x="198109" y="297768"/>
                  <a:pt x="193902" y="302036"/>
                  <a:pt x="192537" y="307466"/>
                </a:cubicBezTo>
                <a:lnTo>
                  <a:pt x="188567" y="323361"/>
                </a:lnTo>
                <a:cubicBezTo>
                  <a:pt x="188552" y="323423"/>
                  <a:pt x="188535" y="323470"/>
                  <a:pt x="188505" y="323549"/>
                </a:cubicBezTo>
                <a:lnTo>
                  <a:pt x="150449" y="323549"/>
                </a:lnTo>
                <a:lnTo>
                  <a:pt x="146431" y="307466"/>
                </a:lnTo>
                <a:cubicBezTo>
                  <a:pt x="145066" y="302036"/>
                  <a:pt x="140861" y="297768"/>
                  <a:pt x="135462" y="296324"/>
                </a:cubicBezTo>
                <a:cubicBezTo>
                  <a:pt x="124430" y="293374"/>
                  <a:pt x="113789" y="288964"/>
                  <a:pt x="103840" y="283221"/>
                </a:cubicBezTo>
                <a:cubicBezTo>
                  <a:pt x="101455" y="281841"/>
                  <a:pt x="98803" y="281150"/>
                  <a:pt x="96152" y="281150"/>
                </a:cubicBezTo>
                <a:cubicBezTo>
                  <a:pt x="93389" y="281150"/>
                  <a:pt x="90659" y="281888"/>
                  <a:pt x="88210" y="283347"/>
                </a:cubicBezTo>
                <a:lnTo>
                  <a:pt x="74149" y="291789"/>
                </a:lnTo>
                <a:cubicBezTo>
                  <a:pt x="74102" y="291821"/>
                  <a:pt x="74040" y="291852"/>
                  <a:pt x="73976" y="291868"/>
                </a:cubicBezTo>
                <a:lnTo>
                  <a:pt x="47079" y="264956"/>
                </a:lnTo>
                <a:lnTo>
                  <a:pt x="55554" y="250817"/>
                </a:lnTo>
                <a:cubicBezTo>
                  <a:pt x="58440" y="246000"/>
                  <a:pt x="58487" y="240006"/>
                  <a:pt x="55679" y="235157"/>
                </a:cubicBezTo>
                <a:cubicBezTo>
                  <a:pt x="49888" y="225193"/>
                  <a:pt x="45462" y="214539"/>
                  <a:pt x="42497" y="203460"/>
                </a:cubicBezTo>
                <a:cubicBezTo>
                  <a:pt x="41053" y="198062"/>
                  <a:pt x="36769" y="193857"/>
                  <a:pt x="31355" y="192507"/>
                </a:cubicBezTo>
                <a:lnTo>
                  <a:pt x="15583" y="188553"/>
                </a:lnTo>
                <a:cubicBezTo>
                  <a:pt x="15521" y="188553"/>
                  <a:pt x="15474" y="188521"/>
                  <a:pt x="15410" y="188506"/>
                </a:cubicBezTo>
                <a:lnTo>
                  <a:pt x="15410" y="150438"/>
                </a:lnTo>
                <a:lnTo>
                  <a:pt x="31355" y="146451"/>
                </a:lnTo>
                <a:cubicBezTo>
                  <a:pt x="36769" y="145086"/>
                  <a:pt x="41053" y="140896"/>
                  <a:pt x="42497" y="135484"/>
                </a:cubicBezTo>
                <a:cubicBezTo>
                  <a:pt x="45462" y="124404"/>
                  <a:pt x="49888" y="113750"/>
                  <a:pt x="55679" y="103801"/>
                </a:cubicBezTo>
                <a:cubicBezTo>
                  <a:pt x="58487" y="98937"/>
                  <a:pt x="58440" y="92942"/>
                  <a:pt x="55554" y="88141"/>
                </a:cubicBezTo>
                <a:lnTo>
                  <a:pt x="47158" y="74144"/>
                </a:lnTo>
                <a:cubicBezTo>
                  <a:pt x="47142" y="74097"/>
                  <a:pt x="47111" y="74033"/>
                  <a:pt x="47079" y="73986"/>
                </a:cubicBezTo>
                <a:lnTo>
                  <a:pt x="73993" y="47075"/>
                </a:lnTo>
                <a:lnTo>
                  <a:pt x="88210" y="55612"/>
                </a:lnTo>
                <a:cubicBezTo>
                  <a:pt x="90659" y="57056"/>
                  <a:pt x="93389" y="57793"/>
                  <a:pt x="96152" y="57793"/>
                </a:cubicBezTo>
                <a:cubicBezTo>
                  <a:pt x="98803" y="57793"/>
                  <a:pt x="101455" y="57103"/>
                  <a:pt x="103857" y="55721"/>
                </a:cubicBezTo>
                <a:cubicBezTo>
                  <a:pt x="113789" y="49978"/>
                  <a:pt x="124430" y="45569"/>
                  <a:pt x="135462" y="42635"/>
                </a:cubicBezTo>
                <a:cubicBezTo>
                  <a:pt x="140861" y="41175"/>
                  <a:pt x="145066" y="36923"/>
                  <a:pt x="146431" y="31493"/>
                </a:cubicBezTo>
                <a:lnTo>
                  <a:pt x="150449" y="15409"/>
                </a:lnTo>
                <a:lnTo>
                  <a:pt x="188505" y="15409"/>
                </a:lnTo>
                <a:cubicBezTo>
                  <a:pt x="188535" y="15472"/>
                  <a:pt x="188552" y="15519"/>
                  <a:pt x="188567" y="15582"/>
                </a:cubicBezTo>
                <a:lnTo>
                  <a:pt x="192537" y="31493"/>
                </a:lnTo>
                <a:cubicBezTo>
                  <a:pt x="193902" y="36923"/>
                  <a:pt x="198109" y="41175"/>
                  <a:pt x="203507" y="42635"/>
                </a:cubicBezTo>
                <a:cubicBezTo>
                  <a:pt x="214539" y="45569"/>
                  <a:pt x="225163" y="49978"/>
                  <a:pt x="235113" y="55721"/>
                </a:cubicBezTo>
                <a:cubicBezTo>
                  <a:pt x="237498" y="57103"/>
                  <a:pt x="240166" y="57793"/>
                  <a:pt x="242818" y="57793"/>
                </a:cubicBezTo>
                <a:cubicBezTo>
                  <a:pt x="245565" y="57793"/>
                  <a:pt x="248295" y="57056"/>
                  <a:pt x="250742" y="55612"/>
                </a:cubicBezTo>
                <a:lnTo>
                  <a:pt x="264961" y="47075"/>
                </a:lnTo>
                <a:lnTo>
                  <a:pt x="291890" y="73986"/>
                </a:lnTo>
                <a:cubicBezTo>
                  <a:pt x="291859" y="74033"/>
                  <a:pt x="291843" y="74097"/>
                  <a:pt x="291812" y="74159"/>
                </a:cubicBezTo>
                <a:lnTo>
                  <a:pt x="283416" y="88125"/>
                </a:lnTo>
                <a:cubicBezTo>
                  <a:pt x="280528" y="92942"/>
                  <a:pt x="280481" y="98937"/>
                  <a:pt x="283307" y="103801"/>
                </a:cubicBezTo>
                <a:cubicBezTo>
                  <a:pt x="289081" y="113750"/>
                  <a:pt x="293506" y="124404"/>
                  <a:pt x="296473" y="135484"/>
                </a:cubicBezTo>
                <a:cubicBezTo>
                  <a:pt x="297917" y="140896"/>
                  <a:pt x="302185" y="145086"/>
                  <a:pt x="307614" y="146451"/>
                </a:cubicBezTo>
                <a:lnTo>
                  <a:pt x="323558" y="150438"/>
                </a:lnTo>
                <a:cubicBezTo>
                  <a:pt x="323558" y="150438"/>
                  <a:pt x="323558" y="188506"/>
                  <a:pt x="323558" y="188506"/>
                </a:cubicBezTo>
                <a:close/>
                <a:moveTo>
                  <a:pt x="327670" y="135593"/>
                </a:moveTo>
                <a:lnTo>
                  <a:pt x="311365" y="131497"/>
                </a:lnTo>
                <a:cubicBezTo>
                  <a:pt x="307992" y="118944"/>
                  <a:pt x="303000" y="107050"/>
                  <a:pt x="296629" y="96065"/>
                </a:cubicBezTo>
                <a:lnTo>
                  <a:pt x="305308" y="81598"/>
                </a:lnTo>
                <a:cubicBezTo>
                  <a:pt x="307975" y="76435"/>
                  <a:pt x="309717" y="70033"/>
                  <a:pt x="305308" y="65623"/>
                </a:cubicBezTo>
                <a:lnTo>
                  <a:pt x="273356" y="33659"/>
                </a:lnTo>
                <a:cubicBezTo>
                  <a:pt x="271363" y="31666"/>
                  <a:pt x="268915" y="30897"/>
                  <a:pt x="266389" y="30897"/>
                </a:cubicBezTo>
                <a:cubicBezTo>
                  <a:pt x="263298" y="30897"/>
                  <a:pt x="260064" y="32059"/>
                  <a:pt x="257366" y="33659"/>
                </a:cubicBezTo>
                <a:lnTo>
                  <a:pt x="242818" y="42399"/>
                </a:lnTo>
                <a:cubicBezTo>
                  <a:pt x="231864" y="36060"/>
                  <a:pt x="220016" y="31101"/>
                  <a:pt x="207493" y="27743"/>
                </a:cubicBezTo>
                <a:lnTo>
                  <a:pt x="203382" y="11298"/>
                </a:lnTo>
                <a:cubicBezTo>
                  <a:pt x="201624" y="5759"/>
                  <a:pt x="198328" y="0"/>
                  <a:pt x="192082" y="0"/>
                </a:cubicBezTo>
                <a:lnTo>
                  <a:pt x="146887" y="0"/>
                </a:lnTo>
                <a:cubicBezTo>
                  <a:pt x="140641" y="0"/>
                  <a:pt x="137000" y="5759"/>
                  <a:pt x="135588" y="11298"/>
                </a:cubicBezTo>
                <a:lnTo>
                  <a:pt x="131475" y="27743"/>
                </a:lnTo>
                <a:cubicBezTo>
                  <a:pt x="118953" y="31101"/>
                  <a:pt x="107104" y="36060"/>
                  <a:pt x="96152" y="42399"/>
                </a:cubicBezTo>
                <a:lnTo>
                  <a:pt x="81604" y="33659"/>
                </a:lnTo>
                <a:cubicBezTo>
                  <a:pt x="78904" y="32059"/>
                  <a:pt x="75672" y="30897"/>
                  <a:pt x="72580" y="30897"/>
                </a:cubicBezTo>
                <a:cubicBezTo>
                  <a:pt x="70053" y="30897"/>
                  <a:pt x="67606" y="31666"/>
                  <a:pt x="65612" y="33659"/>
                </a:cubicBezTo>
                <a:lnTo>
                  <a:pt x="33661" y="65623"/>
                </a:lnTo>
                <a:cubicBezTo>
                  <a:pt x="29252" y="70033"/>
                  <a:pt x="30993" y="76435"/>
                  <a:pt x="33661" y="81598"/>
                </a:cubicBezTo>
                <a:lnTo>
                  <a:pt x="42339" y="96065"/>
                </a:lnTo>
                <a:cubicBezTo>
                  <a:pt x="35969" y="107050"/>
                  <a:pt x="30963" y="118944"/>
                  <a:pt x="27603" y="131497"/>
                </a:cubicBezTo>
                <a:lnTo>
                  <a:pt x="11299" y="135593"/>
                </a:lnTo>
                <a:cubicBezTo>
                  <a:pt x="5759" y="136990"/>
                  <a:pt x="0" y="140646"/>
                  <a:pt x="0" y="146876"/>
                </a:cubicBezTo>
                <a:lnTo>
                  <a:pt x="0" y="192067"/>
                </a:lnTo>
                <a:cubicBezTo>
                  <a:pt x="0" y="198313"/>
                  <a:pt x="5759" y="201609"/>
                  <a:pt x="11299" y="203366"/>
                </a:cubicBezTo>
                <a:lnTo>
                  <a:pt x="27603" y="207446"/>
                </a:lnTo>
                <a:cubicBezTo>
                  <a:pt x="30963" y="220015"/>
                  <a:pt x="35969" y="231893"/>
                  <a:pt x="42339" y="242877"/>
                </a:cubicBezTo>
                <a:lnTo>
                  <a:pt x="33661" y="257345"/>
                </a:lnTo>
                <a:cubicBezTo>
                  <a:pt x="30743" y="262273"/>
                  <a:pt x="29252" y="268911"/>
                  <a:pt x="33661" y="273336"/>
                </a:cubicBezTo>
                <a:lnTo>
                  <a:pt x="65612" y="305284"/>
                </a:lnTo>
                <a:cubicBezTo>
                  <a:pt x="67559" y="307230"/>
                  <a:pt x="69897" y="307983"/>
                  <a:pt x="72344" y="307983"/>
                </a:cubicBezTo>
                <a:cubicBezTo>
                  <a:pt x="75437" y="307983"/>
                  <a:pt x="78716" y="306775"/>
                  <a:pt x="81604" y="305284"/>
                </a:cubicBezTo>
                <a:lnTo>
                  <a:pt x="96152" y="296559"/>
                </a:lnTo>
                <a:cubicBezTo>
                  <a:pt x="107104" y="302884"/>
                  <a:pt x="118953" y="307858"/>
                  <a:pt x="131475" y="311200"/>
                </a:cubicBezTo>
                <a:lnTo>
                  <a:pt x="135588" y="327645"/>
                </a:lnTo>
                <a:cubicBezTo>
                  <a:pt x="137000" y="333184"/>
                  <a:pt x="140641" y="338943"/>
                  <a:pt x="146887" y="338943"/>
                </a:cubicBezTo>
                <a:lnTo>
                  <a:pt x="192082" y="338943"/>
                </a:lnTo>
                <a:cubicBezTo>
                  <a:pt x="198328" y="338943"/>
                  <a:pt x="201624" y="333184"/>
                  <a:pt x="203382" y="327645"/>
                </a:cubicBezTo>
                <a:lnTo>
                  <a:pt x="207493" y="311200"/>
                </a:lnTo>
                <a:cubicBezTo>
                  <a:pt x="220016" y="307858"/>
                  <a:pt x="231864" y="302884"/>
                  <a:pt x="242818" y="296559"/>
                </a:cubicBezTo>
                <a:lnTo>
                  <a:pt x="257366" y="305284"/>
                </a:lnTo>
                <a:cubicBezTo>
                  <a:pt x="260253" y="306775"/>
                  <a:pt x="263533" y="307983"/>
                  <a:pt x="266624" y="307983"/>
                </a:cubicBezTo>
                <a:cubicBezTo>
                  <a:pt x="269072" y="307983"/>
                  <a:pt x="271395" y="307230"/>
                  <a:pt x="273356" y="305284"/>
                </a:cubicBezTo>
                <a:lnTo>
                  <a:pt x="305308" y="273336"/>
                </a:lnTo>
                <a:cubicBezTo>
                  <a:pt x="309717" y="268911"/>
                  <a:pt x="308226" y="262273"/>
                  <a:pt x="305308" y="257345"/>
                </a:cubicBezTo>
                <a:lnTo>
                  <a:pt x="296629" y="242877"/>
                </a:lnTo>
                <a:cubicBezTo>
                  <a:pt x="303000" y="231893"/>
                  <a:pt x="307992" y="220015"/>
                  <a:pt x="311365" y="207446"/>
                </a:cubicBezTo>
                <a:lnTo>
                  <a:pt x="327670" y="203366"/>
                </a:lnTo>
                <a:cubicBezTo>
                  <a:pt x="333210" y="201609"/>
                  <a:pt x="338969" y="198313"/>
                  <a:pt x="338969" y="192067"/>
                </a:cubicBezTo>
                <a:lnTo>
                  <a:pt x="338969" y="146876"/>
                </a:lnTo>
                <a:cubicBezTo>
                  <a:pt x="338969" y="140646"/>
                  <a:pt x="333210" y="136990"/>
                  <a:pt x="327670" y="135593"/>
                </a:cubicBezTo>
              </a:path>
            </a:pathLst>
          </a:custGeom>
          <a:gradFill rotWithShape="0">
            <a:gsLst>
              <a:gs pos="0">
                <a:srgbClr val="5E9F9B">
                  <a:alpha val="100000"/>
                </a:srgbClr>
              </a:gs>
              <a:gs pos="100000">
                <a:srgbClr val="42BA97">
                  <a:alpha val="100000"/>
                </a:srgbClr>
              </a:gs>
            </a:gsLst>
            <a:lin ang="1776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0"/>
          <p:cNvCxnSpPr/>
          <p:nvPr/>
        </p:nvCxnSpPr>
        <p:spPr>
          <a:xfrm rot="-5510856">
            <a:off x="2660650" y="5448198"/>
            <a:ext cx="3937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9C6D1">
                <a:alpha val="64000"/>
              </a:srgbClr>
            </a:solidFill>
            <a:prstDash val="solid"/>
            <a:miter lim="4000000"/>
            <a:headEnd type="none" w="med" len="med"/>
            <a:tailEnd type="none" w="med" len="med"/>
          </a:ln>
        </p:spPr>
      </p:cxnSp>
      <p:cxnSp>
        <p:nvCxnSpPr>
          <p:cNvPr id="21" name="Connector 21"/>
          <p:cNvCxnSpPr/>
          <p:nvPr/>
        </p:nvCxnSpPr>
        <p:spPr>
          <a:xfrm rot="-5510856">
            <a:off x="4692650" y="5448198"/>
            <a:ext cx="3937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9C6D1">
                <a:alpha val="64000"/>
              </a:srgbClr>
            </a:solidFill>
            <a:prstDash val="solid"/>
            <a:miter lim="4000000"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1028700" y="1041400"/>
            <a:ext cx="4546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6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市场洞察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181100" y="876300"/>
            <a:ext cx="1524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1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MEDICAL EDUCATION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0799999">
            <a:off x="1219148" y="1117600"/>
            <a:ext cx="154945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C9C9">
                <a:alpha val="28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5" name="Connector 25"/>
          <p:cNvCxnSpPr/>
          <p:nvPr/>
        </p:nvCxnSpPr>
        <p:spPr>
          <a:xfrm rot="10473027">
            <a:off x="1218898" y="1130307"/>
            <a:ext cx="26700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CDD6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 rot="10800000" flipV="1">
            <a:off x="2654300" y="939800"/>
            <a:ext cx="101600" cy="101600"/>
          </a:xfrm>
          <a:prstGeom prst="plus">
            <a:avLst>
              <a:gd name="adj" fmla="val 37500"/>
            </a:avLst>
          </a:prstGeom>
          <a:solidFill>
            <a:srgbClr val="27CDD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168400" y="18542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1BACE3"/>
                </a:solidFill>
                <a:latin typeface="微软雅黑"/>
                <a:ea typeface="微软雅黑"/>
                <a:cs typeface="微软雅黑"/>
                <a:sym typeface="微软雅黑"/>
              </a:rPr>
              <a:t>百亿级医学教育信息化蓝海，政策与刚需双轮驱动的黄金赛道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096000" y="1130300"/>
            <a:ext cx="55372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中国医学教育信息化正处于爆发前夜，国家政策大力扶持“虚拟仿真金课”建设，高校与规培基地预算充足。从506所医学高校到1100+国家级规培基地，庞大的专业机构网络构成了坚实的市场基础，行业需求呈现刚性增长态势。</a:t>
            </a:r>
            <a:endParaRPr lang="en-US" sz="1100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6350" y="-676275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00100" y="3784600"/>
            <a:ext cx="368300" cy="368300"/>
          </a:xfrm>
          <a:prstGeom prst="ellipse">
            <a:avLst/>
          </a:prstGeom>
          <a:solidFill>
            <a:srgbClr val="42BA97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01700" y="3886200"/>
            <a:ext cx="152400" cy="152400"/>
          </a:xfrm>
          <a:prstGeom prst="ellipse">
            <a:avLst/>
          </a:prstGeom>
          <a:solidFill>
            <a:srgbClr val="42BA9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3660000" rotWithShape="0">
              <a:srgbClr val="000000">
                <a:alpha val="419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01700" y="4775200"/>
            <a:ext cx="152400" cy="152400"/>
          </a:xfrm>
          <a:prstGeom prst="ellipse">
            <a:avLst/>
          </a:prstGeom>
          <a:gradFill rotWithShape="0">
            <a:gsLst>
              <a:gs pos="0">
                <a:srgbClr val="414A57">
                  <a:alpha val="100000"/>
                </a:srgbClr>
              </a:gs>
              <a:gs pos="100000">
                <a:srgbClr val="353740">
                  <a:alpha val="100000"/>
                </a:srgbClr>
              </a:gs>
            </a:gsLst>
            <a:lin ang="2460000"/>
          </a:gradFill>
          <a:ln w="25400" cap="flat" cmpd="sng">
            <a:noFill/>
            <a:prstDash val="solid"/>
            <a:round/>
          </a:ln>
          <a:effectLst>
            <a:outerShdw blurRad="127000" dist="25400" dir="3660000" rotWithShape="0">
              <a:srgbClr val="000000">
                <a:alpha val="419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01700" y="5664200"/>
            <a:ext cx="152400" cy="152400"/>
          </a:xfrm>
          <a:prstGeom prst="ellipse">
            <a:avLst/>
          </a:prstGeom>
          <a:gradFill rotWithShape="0">
            <a:gsLst>
              <a:gs pos="0">
                <a:srgbClr val="414A57">
                  <a:alpha val="100000"/>
                </a:srgbClr>
              </a:gs>
              <a:gs pos="100000">
                <a:srgbClr val="353740">
                  <a:alpha val="100000"/>
                </a:srgbClr>
              </a:gs>
            </a:gsLst>
            <a:lin ang="2460000"/>
          </a:gradFill>
          <a:ln w="25400" cap="flat" cmpd="sng">
            <a:noFill/>
            <a:prstDash val="solid"/>
            <a:round/>
          </a:ln>
          <a:effectLst>
            <a:outerShdw blurRad="127000" dist="25400" dir="3660000" rotWithShape="0">
              <a:srgbClr val="000000">
                <a:alpha val="419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6" name="Connector 6"/>
          <p:cNvCxnSpPr/>
          <p:nvPr/>
        </p:nvCxnSpPr>
        <p:spPr>
          <a:xfrm rot="-5549373">
            <a:off x="857250" y="4457562"/>
            <a:ext cx="292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9C6D1">
                <a:alpha val="33000"/>
              </a:srgbClr>
            </a:solidFill>
            <a:prstDash val="solid"/>
            <a:miter lim="4000000"/>
            <a:headEnd type="oval" w="med" len="med"/>
            <a:tailEnd type="oval" w="med" len="med"/>
          </a:ln>
        </p:spPr>
      </p:cxnSp>
      <p:cxnSp>
        <p:nvCxnSpPr>
          <p:cNvPr id="7" name="Connector 7"/>
          <p:cNvCxnSpPr/>
          <p:nvPr/>
        </p:nvCxnSpPr>
        <p:spPr>
          <a:xfrm rot="-5543156">
            <a:off x="825500" y="5289418"/>
            <a:ext cx="304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9C6D1">
                <a:alpha val="33000"/>
              </a:srgbClr>
            </a:solidFill>
            <a:prstDash val="solid"/>
            <a:miter lim="4000000"/>
            <a:headEnd type="oval" w="med" len="med"/>
            <a:tailEnd type="oval" w="med" len="med"/>
          </a:ln>
        </p:spPr>
      </p:cxnSp>
      <p:sp>
        <p:nvSpPr>
          <p:cNvPr id="8" name="AutoShape 8"/>
          <p:cNvSpPr/>
          <p:nvPr/>
        </p:nvSpPr>
        <p:spPr>
          <a:xfrm>
            <a:off x="1346200" y="38100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25400" tIns="50800" rIns="254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42BA97"/>
                </a:solidFill>
                <a:latin typeface="微软雅黑"/>
                <a:ea typeface="微软雅黑"/>
                <a:cs typeface="微软雅黑"/>
                <a:sym typeface="微软雅黑"/>
              </a:rPr>
              <a:t>VS 真人标准化病人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C8C8C8"/>
                </a:solidFill>
                <a:latin typeface="微软雅黑"/>
                <a:ea typeface="微软雅黑"/>
                <a:cs typeface="微软雅黑"/>
                <a:sym typeface="微软雅黑"/>
              </a:rPr>
              <a:t>成本与效率的双重革新</a:t>
            </a:r>
          </a:p>
        </p:txBody>
      </p:sp>
      <p:sp>
        <p:nvSpPr>
          <p:cNvPr id="9" name="AutoShape 9"/>
          <p:cNvSpPr/>
          <p:nvPr/>
        </p:nvSpPr>
        <p:spPr>
          <a:xfrm>
            <a:off x="1346200" y="4686300"/>
            <a:ext cx="190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50800" rIns="254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训练成本大幅降低90%，支持7x24小时全天候无限次重复训练，突破时空限制。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346200" y="5575300"/>
            <a:ext cx="190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50800" rIns="254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案例库不受现实限制，可完美模拟各类罕见病、疑难杂症场景，丰富教学维度。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111500" y="3784600"/>
            <a:ext cx="368300" cy="368300"/>
          </a:xfrm>
          <a:prstGeom prst="ellipse">
            <a:avLst/>
          </a:prstGeom>
          <a:solidFill>
            <a:srgbClr val="27CDD6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213100" y="3886200"/>
            <a:ext cx="152400" cy="152400"/>
          </a:xfrm>
          <a:prstGeom prst="ellipse">
            <a:avLst/>
          </a:prstGeom>
          <a:solidFill>
            <a:srgbClr val="27CDD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3660000" rotWithShape="0">
              <a:srgbClr val="000000">
                <a:alpha val="419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213100" y="4775200"/>
            <a:ext cx="152400" cy="152400"/>
          </a:xfrm>
          <a:prstGeom prst="ellipse">
            <a:avLst/>
          </a:prstGeom>
          <a:gradFill rotWithShape="0">
            <a:gsLst>
              <a:gs pos="0">
                <a:srgbClr val="414A57">
                  <a:alpha val="100000"/>
                </a:srgbClr>
              </a:gs>
              <a:gs pos="100000">
                <a:srgbClr val="353740">
                  <a:alpha val="100000"/>
                </a:srgbClr>
              </a:gs>
            </a:gsLst>
            <a:lin ang="2460000"/>
          </a:gradFill>
          <a:ln w="25400" cap="flat" cmpd="sng">
            <a:noFill/>
            <a:prstDash val="solid"/>
            <a:round/>
          </a:ln>
          <a:effectLst>
            <a:outerShdw blurRad="127000" dist="25400" dir="3660000" rotWithShape="0">
              <a:srgbClr val="000000">
                <a:alpha val="419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213100" y="5664200"/>
            <a:ext cx="152400" cy="152400"/>
          </a:xfrm>
          <a:prstGeom prst="ellipse">
            <a:avLst/>
          </a:prstGeom>
          <a:gradFill rotWithShape="0">
            <a:gsLst>
              <a:gs pos="0">
                <a:srgbClr val="414A57">
                  <a:alpha val="100000"/>
                </a:srgbClr>
              </a:gs>
              <a:gs pos="100000">
                <a:srgbClr val="353740">
                  <a:alpha val="100000"/>
                </a:srgbClr>
              </a:gs>
            </a:gsLst>
            <a:lin ang="2460000"/>
          </a:gradFill>
          <a:ln w="25400" cap="flat" cmpd="sng">
            <a:noFill/>
            <a:prstDash val="solid"/>
            <a:round/>
          </a:ln>
          <a:effectLst>
            <a:outerShdw blurRad="127000" dist="25400" dir="3660000" rotWithShape="0">
              <a:srgbClr val="000000">
                <a:alpha val="419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5" name="Connector 15"/>
          <p:cNvCxnSpPr/>
          <p:nvPr/>
        </p:nvCxnSpPr>
        <p:spPr>
          <a:xfrm rot="-5549373">
            <a:off x="3168650" y="4457562"/>
            <a:ext cx="292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9C6D1">
                <a:alpha val="33000"/>
              </a:srgbClr>
            </a:solidFill>
            <a:prstDash val="solid"/>
            <a:miter lim="4000000"/>
            <a:headEnd type="oval" w="med" len="med"/>
            <a:tailEnd type="oval" w="med" len="med"/>
          </a:ln>
        </p:spPr>
      </p:cxnSp>
      <p:cxnSp>
        <p:nvCxnSpPr>
          <p:cNvPr id="16" name="Connector 16"/>
          <p:cNvCxnSpPr/>
          <p:nvPr/>
        </p:nvCxnSpPr>
        <p:spPr>
          <a:xfrm rot="-5543156">
            <a:off x="3136900" y="5289418"/>
            <a:ext cx="304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9C6D1">
                <a:alpha val="33000"/>
              </a:srgbClr>
            </a:solidFill>
            <a:prstDash val="solid"/>
            <a:miter lim="4000000"/>
            <a:headEnd type="oval" w="med" len="med"/>
            <a:tailEnd type="oval" w="med" len="med"/>
          </a:ln>
        </p:spPr>
      </p:cxnSp>
      <p:sp>
        <p:nvSpPr>
          <p:cNvPr id="17" name="AutoShape 17"/>
          <p:cNvSpPr/>
          <p:nvPr/>
        </p:nvSpPr>
        <p:spPr>
          <a:xfrm>
            <a:off x="3657600" y="38100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25400" tIns="50800" rIns="254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7CDD6"/>
                </a:solidFill>
                <a:latin typeface="微软雅黑"/>
                <a:ea typeface="微软雅黑"/>
                <a:cs typeface="微软雅黑"/>
                <a:sym typeface="微软雅黑"/>
              </a:rPr>
              <a:t>VS 传统虚仿软件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C8C8C8"/>
                </a:solidFill>
                <a:latin typeface="微软雅黑"/>
                <a:ea typeface="微软雅黑"/>
                <a:cs typeface="微软雅黑"/>
                <a:sym typeface="微软雅黑"/>
              </a:rPr>
              <a:t>从僵化脚本到动态交互</a:t>
            </a:r>
          </a:p>
        </p:txBody>
      </p:sp>
      <p:sp>
        <p:nvSpPr>
          <p:cNvPr id="18" name="AutoShape 18"/>
          <p:cNvSpPr/>
          <p:nvPr/>
        </p:nvSpPr>
        <p:spPr>
          <a:xfrm>
            <a:off x="3657600" y="4686300"/>
            <a:ext cx="190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50800" rIns="254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彻底告别固定“死脚本”，实现自然语言的实时动态交互，专注临床问诊思维训练。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657600" y="5575300"/>
            <a:ext cx="190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50800" rIns="254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基于云端架构持续更新迭代，紧跟医学进展，内容更新速度远超传统本地软件。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588000" y="3784600"/>
            <a:ext cx="368300" cy="368300"/>
          </a:xfrm>
          <a:prstGeom prst="ellipse">
            <a:avLst/>
          </a:prstGeom>
          <a:solidFill>
            <a:srgbClr val="1BACE3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5689600" y="3886200"/>
            <a:ext cx="152400" cy="152400"/>
          </a:xfrm>
          <a:prstGeom prst="ellipse">
            <a:avLst/>
          </a:prstGeom>
          <a:solidFill>
            <a:srgbClr val="1BACE3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3660000" rotWithShape="0">
              <a:srgbClr val="000000">
                <a:alpha val="419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5689600" y="4775200"/>
            <a:ext cx="152400" cy="152400"/>
          </a:xfrm>
          <a:prstGeom prst="ellipse">
            <a:avLst/>
          </a:prstGeom>
          <a:gradFill rotWithShape="0">
            <a:gsLst>
              <a:gs pos="0">
                <a:srgbClr val="414A57">
                  <a:alpha val="100000"/>
                </a:srgbClr>
              </a:gs>
              <a:gs pos="100000">
                <a:srgbClr val="353740">
                  <a:alpha val="100000"/>
                </a:srgbClr>
              </a:gs>
            </a:gsLst>
            <a:lin ang="2460000"/>
          </a:gradFill>
          <a:ln w="25400" cap="flat" cmpd="sng">
            <a:noFill/>
            <a:prstDash val="solid"/>
            <a:round/>
          </a:ln>
          <a:effectLst>
            <a:outerShdw blurRad="127000" dist="25400" dir="3660000" rotWithShape="0">
              <a:srgbClr val="000000">
                <a:alpha val="419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5689600" y="5664200"/>
            <a:ext cx="152400" cy="152400"/>
          </a:xfrm>
          <a:prstGeom prst="ellipse">
            <a:avLst/>
          </a:prstGeom>
          <a:gradFill rotWithShape="0">
            <a:gsLst>
              <a:gs pos="0">
                <a:srgbClr val="414A57">
                  <a:alpha val="100000"/>
                </a:srgbClr>
              </a:gs>
              <a:gs pos="100000">
                <a:srgbClr val="353740">
                  <a:alpha val="100000"/>
                </a:srgbClr>
              </a:gs>
            </a:gsLst>
            <a:lin ang="2460000"/>
          </a:gradFill>
          <a:ln w="25400" cap="flat" cmpd="sng">
            <a:noFill/>
            <a:prstDash val="solid"/>
            <a:round/>
          </a:ln>
          <a:effectLst>
            <a:outerShdw blurRad="127000" dist="25400" dir="3660000" rotWithShape="0">
              <a:srgbClr val="000000">
                <a:alpha val="419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4" name="Connector 24"/>
          <p:cNvCxnSpPr/>
          <p:nvPr/>
        </p:nvCxnSpPr>
        <p:spPr>
          <a:xfrm rot="-5549373">
            <a:off x="5645150" y="4457562"/>
            <a:ext cx="292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9C6D1">
                <a:alpha val="33000"/>
              </a:srgbClr>
            </a:solidFill>
            <a:prstDash val="solid"/>
            <a:miter lim="4000000"/>
            <a:headEnd type="oval" w="med" len="med"/>
            <a:tailEnd type="oval" w="med" len="med"/>
          </a:ln>
        </p:spPr>
      </p:cxnSp>
      <p:cxnSp>
        <p:nvCxnSpPr>
          <p:cNvPr id="25" name="Connector 25"/>
          <p:cNvCxnSpPr/>
          <p:nvPr/>
        </p:nvCxnSpPr>
        <p:spPr>
          <a:xfrm rot="-5543156">
            <a:off x="5613400" y="5289418"/>
            <a:ext cx="304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B9C6D1">
                <a:alpha val="33000"/>
              </a:srgbClr>
            </a:solidFill>
            <a:prstDash val="solid"/>
            <a:miter lim="4000000"/>
            <a:headEnd type="oval" w="med" len="med"/>
            <a:tailEnd type="oval" w="med" len="med"/>
          </a:ln>
        </p:spPr>
      </p:cxnSp>
      <p:sp>
        <p:nvSpPr>
          <p:cNvPr id="26" name="AutoShape 26"/>
          <p:cNvSpPr/>
          <p:nvPr/>
        </p:nvSpPr>
        <p:spPr>
          <a:xfrm>
            <a:off x="6134100" y="3810000"/>
            <a:ext cx="1905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25400" tIns="50800" rIns="254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BACE3"/>
                </a:solidFill>
                <a:latin typeface="微软雅黑"/>
                <a:ea typeface="微软雅黑"/>
                <a:cs typeface="微软雅黑"/>
                <a:sym typeface="微软雅黑"/>
              </a:rPr>
              <a:t>VS 通用大模型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C8C8C8"/>
                </a:solidFill>
                <a:latin typeface="微软雅黑"/>
                <a:ea typeface="微软雅黑"/>
                <a:cs typeface="微软雅黑"/>
                <a:sym typeface="微软雅黑"/>
              </a:rPr>
              <a:t>严谨医疗与AI幻觉的壁垒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134100" y="4686300"/>
            <a:ext cx="190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50800" rIns="254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基于医疗知识库约束，杜绝“AI幻觉”，确保回答精准可靠，符合临床诊疗规范。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134100" y="5575300"/>
            <a:ext cx="190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50800" rIns="254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逻辑可溯源，紧密贴合教学大纲，有效培养学员的循证医学思维与临床决策能力。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521700" y="5918200"/>
            <a:ext cx="1625600" cy="3556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BACE3">
                  <a:alpha val="100000"/>
                </a:srgbClr>
              </a:gs>
              <a:gs pos="100000">
                <a:srgbClr val="0E5672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核心价值总结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 rot="1799999">
            <a:off x="7620000" y="1701800"/>
            <a:ext cx="393700" cy="34290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A9D8B7">
                  <a:alpha val="100000"/>
                </a:srgbClr>
              </a:gs>
              <a:gs pos="69000">
                <a:srgbClr val="1BACE3">
                  <a:alpha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88900" cap="flat" cmpd="sng">
            <a:solidFill>
              <a:srgbClr val="020202">
                <a:alpha val="5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 rot="-2700000">
            <a:off x="2413000" y="1016000"/>
            <a:ext cx="355600" cy="355600"/>
          </a:xfrm>
          <a:prstGeom prst="roundRect">
            <a:avLst>
              <a:gd name="adj" fmla="val 17857"/>
            </a:avLst>
          </a:prstGeom>
          <a:gradFill rotWithShape="0">
            <a:gsLst>
              <a:gs pos="0">
                <a:srgbClr val="A9D8B7">
                  <a:alpha val="100000"/>
                </a:srgbClr>
              </a:gs>
              <a:gs pos="69000">
                <a:srgbClr val="1BACE3">
                  <a:alpha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88900" cap="flat" cmpd="sng">
            <a:solidFill>
              <a:srgbClr val="020202">
                <a:alpha val="5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8318500" y="1625600"/>
            <a:ext cx="4546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0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降维打击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470900" y="1460500"/>
            <a:ext cx="1270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1" u="none" strike="noStrike">
                <a:solidFill>
                  <a:srgbClr val="FCFCFC">
                    <a:alpha val="80000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竞品分析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-10799999">
            <a:off x="8508948" y="1701800"/>
            <a:ext cx="154945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C9C9">
                <a:alpha val="28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38" name="Connector 38"/>
          <p:cNvCxnSpPr/>
          <p:nvPr/>
        </p:nvCxnSpPr>
        <p:spPr>
          <a:xfrm rot="10473027">
            <a:off x="8508698" y="1714507"/>
            <a:ext cx="26700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CDD6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 rot="10800000" flipV="1">
            <a:off x="9944100" y="1524000"/>
            <a:ext cx="101600" cy="101600"/>
          </a:xfrm>
          <a:prstGeom prst="plus">
            <a:avLst>
              <a:gd name="adj" fmla="val 37500"/>
            </a:avLst>
          </a:prstGeom>
          <a:solidFill>
            <a:srgbClr val="27CDD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8318500" y="2959100"/>
            <a:ext cx="2514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1" u="none" strike="noStrike" dirty="0">
                <a:solidFill>
                  <a:srgbClr val="FCFCFC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相较于市场上的真人SP、传统虚仿软件及通用大模型，我们的方案在成本控制、交互体验与医学专业性上实现了全方位的超越，彻底打破传统医学教育的桎梏，重塑教学训练的核心模式。</a:t>
            </a:r>
            <a:endParaRPr lang="en-US" sz="1100" dirty="0"/>
          </a:p>
        </p:txBody>
      </p:sp>
      <p:sp>
        <p:nvSpPr>
          <p:cNvPr id="41" name="Freeform 41"/>
          <p:cNvSpPr/>
          <p:nvPr/>
        </p:nvSpPr>
        <p:spPr>
          <a:xfrm>
            <a:off x="8597900" y="4432300"/>
            <a:ext cx="200928" cy="200928"/>
          </a:xfrm>
          <a:custGeom>
            <a:avLst/>
            <a:gdLst/>
            <a:ahLst/>
            <a:cxnLst/>
            <a:rect l="l" t="t" r="r" b="b"/>
            <a:pathLst>
              <a:path w="200928" h="200928">
                <a:moveTo>
                  <a:pt x="98637" y="200928"/>
                </a:moveTo>
                <a:cubicBezTo>
                  <a:pt x="43839" y="200928"/>
                  <a:pt x="0" y="153436"/>
                  <a:pt x="0" y="98637"/>
                </a:cubicBezTo>
                <a:cubicBezTo>
                  <a:pt x="0" y="43839"/>
                  <a:pt x="43839" y="0"/>
                  <a:pt x="98637" y="0"/>
                </a:cubicBezTo>
                <a:cubicBezTo>
                  <a:pt x="153436" y="0"/>
                  <a:pt x="200928" y="43839"/>
                  <a:pt x="200928" y="98637"/>
                </a:cubicBezTo>
                <a:cubicBezTo>
                  <a:pt x="200928" y="153436"/>
                  <a:pt x="153436" y="200928"/>
                  <a:pt x="98637" y="200928"/>
                </a:cubicBezTo>
                <a:close/>
                <a:moveTo>
                  <a:pt x="164395" y="73064"/>
                </a:moveTo>
                <a:cubicBezTo>
                  <a:pt x="153436" y="62106"/>
                  <a:pt x="153436" y="62106"/>
                  <a:pt x="153436" y="62106"/>
                </a:cubicBezTo>
                <a:cubicBezTo>
                  <a:pt x="149783" y="58452"/>
                  <a:pt x="149783" y="58452"/>
                  <a:pt x="146130" y="58452"/>
                </a:cubicBezTo>
                <a:cubicBezTo>
                  <a:pt x="142476" y="58452"/>
                  <a:pt x="142476" y="58452"/>
                  <a:pt x="138822" y="62106"/>
                </a:cubicBezTo>
                <a:cubicBezTo>
                  <a:pt x="87678" y="113250"/>
                  <a:pt x="87678" y="113250"/>
                  <a:pt x="87678" y="113250"/>
                </a:cubicBezTo>
                <a:cubicBezTo>
                  <a:pt x="58452" y="84024"/>
                  <a:pt x="58452" y="84024"/>
                  <a:pt x="58452" y="84024"/>
                </a:cubicBezTo>
                <a:cubicBezTo>
                  <a:pt x="54798" y="84024"/>
                  <a:pt x="54798" y="80371"/>
                  <a:pt x="51145" y="80371"/>
                </a:cubicBezTo>
                <a:cubicBezTo>
                  <a:pt x="51145" y="80371"/>
                  <a:pt x="47492" y="84024"/>
                  <a:pt x="47492" y="84024"/>
                </a:cubicBezTo>
                <a:cubicBezTo>
                  <a:pt x="32879" y="94985"/>
                  <a:pt x="32879" y="94985"/>
                  <a:pt x="32879" y="94985"/>
                </a:cubicBezTo>
                <a:cubicBezTo>
                  <a:pt x="32879" y="98637"/>
                  <a:pt x="32879" y="98637"/>
                  <a:pt x="32879" y="102291"/>
                </a:cubicBezTo>
                <a:cubicBezTo>
                  <a:pt x="32879" y="105943"/>
                  <a:pt x="32879" y="105943"/>
                  <a:pt x="32879" y="109597"/>
                </a:cubicBezTo>
                <a:cubicBezTo>
                  <a:pt x="80371" y="157089"/>
                  <a:pt x="80371" y="157089"/>
                  <a:pt x="80371" y="157089"/>
                </a:cubicBezTo>
                <a:cubicBezTo>
                  <a:pt x="84024" y="157089"/>
                  <a:pt x="84024" y="157089"/>
                  <a:pt x="87678" y="157089"/>
                </a:cubicBezTo>
                <a:cubicBezTo>
                  <a:pt x="91331" y="157089"/>
                  <a:pt x="91331" y="157089"/>
                  <a:pt x="94985" y="157089"/>
                </a:cubicBezTo>
                <a:cubicBezTo>
                  <a:pt x="164395" y="84024"/>
                  <a:pt x="164395" y="84024"/>
                  <a:pt x="164395" y="84024"/>
                </a:cubicBezTo>
                <a:cubicBezTo>
                  <a:pt x="164395" y="84024"/>
                  <a:pt x="168049" y="80371"/>
                  <a:pt x="168049" y="80371"/>
                </a:cubicBezTo>
                <a:cubicBezTo>
                  <a:pt x="168049" y="76718"/>
                  <a:pt x="164395" y="73064"/>
                  <a:pt x="164395" y="73064"/>
                </a:cubicBezTo>
                <a:close/>
              </a:path>
            </a:pathLst>
          </a:custGeom>
          <a:solidFill>
            <a:srgbClr val="42BA9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8902700" y="4406900"/>
            <a:ext cx="30226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FCFCFC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极致性价比：以10%的成本实现全天候、无边界训练。</a:t>
            </a:r>
            <a:endParaRPr lang="en-US" sz="1100"/>
          </a:p>
        </p:txBody>
      </p:sp>
      <p:sp>
        <p:nvSpPr>
          <p:cNvPr id="43" name="Freeform 43"/>
          <p:cNvSpPr/>
          <p:nvPr/>
        </p:nvSpPr>
        <p:spPr>
          <a:xfrm>
            <a:off x="8597900" y="4876800"/>
            <a:ext cx="200928" cy="200928"/>
          </a:xfrm>
          <a:custGeom>
            <a:avLst/>
            <a:gdLst/>
            <a:ahLst/>
            <a:cxnLst/>
            <a:rect l="l" t="t" r="r" b="b"/>
            <a:pathLst>
              <a:path w="200928" h="200928">
                <a:moveTo>
                  <a:pt x="98637" y="200928"/>
                </a:moveTo>
                <a:cubicBezTo>
                  <a:pt x="43839" y="200928"/>
                  <a:pt x="0" y="153436"/>
                  <a:pt x="0" y="98637"/>
                </a:cubicBezTo>
                <a:cubicBezTo>
                  <a:pt x="0" y="43839"/>
                  <a:pt x="43839" y="0"/>
                  <a:pt x="98637" y="0"/>
                </a:cubicBezTo>
                <a:cubicBezTo>
                  <a:pt x="153436" y="0"/>
                  <a:pt x="200928" y="43839"/>
                  <a:pt x="200928" y="98637"/>
                </a:cubicBezTo>
                <a:cubicBezTo>
                  <a:pt x="200928" y="153436"/>
                  <a:pt x="153436" y="200928"/>
                  <a:pt x="98637" y="200928"/>
                </a:cubicBezTo>
                <a:close/>
                <a:moveTo>
                  <a:pt x="164395" y="73064"/>
                </a:moveTo>
                <a:cubicBezTo>
                  <a:pt x="153436" y="62106"/>
                  <a:pt x="153436" y="62106"/>
                  <a:pt x="153436" y="62106"/>
                </a:cubicBezTo>
                <a:cubicBezTo>
                  <a:pt x="149783" y="58452"/>
                  <a:pt x="149783" y="58452"/>
                  <a:pt x="146130" y="58452"/>
                </a:cubicBezTo>
                <a:cubicBezTo>
                  <a:pt x="142476" y="58452"/>
                  <a:pt x="142476" y="58452"/>
                  <a:pt x="138822" y="62106"/>
                </a:cubicBezTo>
                <a:cubicBezTo>
                  <a:pt x="87678" y="113250"/>
                  <a:pt x="87678" y="113250"/>
                  <a:pt x="87678" y="113250"/>
                </a:cubicBezTo>
                <a:cubicBezTo>
                  <a:pt x="58452" y="84024"/>
                  <a:pt x="58452" y="84024"/>
                  <a:pt x="58452" y="84024"/>
                </a:cubicBezTo>
                <a:cubicBezTo>
                  <a:pt x="54798" y="84024"/>
                  <a:pt x="54798" y="80371"/>
                  <a:pt x="51145" y="80371"/>
                </a:cubicBezTo>
                <a:cubicBezTo>
                  <a:pt x="51145" y="80371"/>
                  <a:pt x="47492" y="84024"/>
                  <a:pt x="47492" y="84024"/>
                </a:cubicBezTo>
                <a:cubicBezTo>
                  <a:pt x="32879" y="94985"/>
                  <a:pt x="32879" y="94985"/>
                  <a:pt x="32879" y="94985"/>
                </a:cubicBezTo>
                <a:cubicBezTo>
                  <a:pt x="32879" y="98637"/>
                  <a:pt x="32879" y="98637"/>
                  <a:pt x="32879" y="102291"/>
                </a:cubicBezTo>
                <a:cubicBezTo>
                  <a:pt x="32879" y="105943"/>
                  <a:pt x="32879" y="105943"/>
                  <a:pt x="32879" y="109597"/>
                </a:cubicBezTo>
                <a:cubicBezTo>
                  <a:pt x="80371" y="157089"/>
                  <a:pt x="80371" y="157089"/>
                  <a:pt x="80371" y="157089"/>
                </a:cubicBezTo>
                <a:cubicBezTo>
                  <a:pt x="84024" y="157089"/>
                  <a:pt x="84024" y="157089"/>
                  <a:pt x="87678" y="157089"/>
                </a:cubicBezTo>
                <a:cubicBezTo>
                  <a:pt x="91331" y="157089"/>
                  <a:pt x="91331" y="157089"/>
                  <a:pt x="94985" y="157089"/>
                </a:cubicBezTo>
                <a:cubicBezTo>
                  <a:pt x="164395" y="84024"/>
                  <a:pt x="164395" y="84024"/>
                  <a:pt x="164395" y="84024"/>
                </a:cubicBezTo>
                <a:cubicBezTo>
                  <a:pt x="164395" y="84024"/>
                  <a:pt x="168049" y="80371"/>
                  <a:pt x="168049" y="80371"/>
                </a:cubicBezTo>
                <a:cubicBezTo>
                  <a:pt x="168049" y="76718"/>
                  <a:pt x="164395" y="73064"/>
                  <a:pt x="164395" y="73064"/>
                </a:cubicBezTo>
                <a:close/>
              </a:path>
            </a:pathLst>
          </a:custGeom>
          <a:solidFill>
            <a:srgbClr val="27CDD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44"/>
          <p:cNvSpPr/>
          <p:nvPr/>
        </p:nvSpPr>
        <p:spPr>
          <a:xfrm>
            <a:off x="8902700" y="4851400"/>
            <a:ext cx="30226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FCFCFC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深度交互：自然语言驱动，专注培养真实临床思维能力。</a:t>
            </a:r>
            <a:endParaRPr lang="en-US" sz="1100"/>
          </a:p>
        </p:txBody>
      </p:sp>
      <p:sp>
        <p:nvSpPr>
          <p:cNvPr id="45" name="Freeform 45"/>
          <p:cNvSpPr/>
          <p:nvPr/>
        </p:nvSpPr>
        <p:spPr>
          <a:xfrm>
            <a:off x="8597900" y="5321300"/>
            <a:ext cx="200928" cy="200928"/>
          </a:xfrm>
          <a:custGeom>
            <a:avLst/>
            <a:gdLst/>
            <a:ahLst/>
            <a:cxnLst/>
            <a:rect l="l" t="t" r="r" b="b"/>
            <a:pathLst>
              <a:path w="200928" h="200928">
                <a:moveTo>
                  <a:pt x="98637" y="200928"/>
                </a:moveTo>
                <a:cubicBezTo>
                  <a:pt x="43839" y="200928"/>
                  <a:pt x="0" y="153436"/>
                  <a:pt x="0" y="98637"/>
                </a:cubicBezTo>
                <a:cubicBezTo>
                  <a:pt x="0" y="43839"/>
                  <a:pt x="43839" y="0"/>
                  <a:pt x="98637" y="0"/>
                </a:cubicBezTo>
                <a:cubicBezTo>
                  <a:pt x="153436" y="0"/>
                  <a:pt x="200928" y="43839"/>
                  <a:pt x="200928" y="98637"/>
                </a:cubicBezTo>
                <a:cubicBezTo>
                  <a:pt x="200928" y="153436"/>
                  <a:pt x="153436" y="200928"/>
                  <a:pt x="98637" y="200928"/>
                </a:cubicBezTo>
                <a:close/>
                <a:moveTo>
                  <a:pt x="164395" y="73064"/>
                </a:moveTo>
                <a:cubicBezTo>
                  <a:pt x="153436" y="62106"/>
                  <a:pt x="153436" y="62106"/>
                  <a:pt x="153436" y="62106"/>
                </a:cubicBezTo>
                <a:cubicBezTo>
                  <a:pt x="149783" y="58452"/>
                  <a:pt x="149783" y="58452"/>
                  <a:pt x="146130" y="58452"/>
                </a:cubicBezTo>
                <a:cubicBezTo>
                  <a:pt x="142476" y="58452"/>
                  <a:pt x="142476" y="58452"/>
                  <a:pt x="138822" y="62106"/>
                </a:cubicBezTo>
                <a:cubicBezTo>
                  <a:pt x="87678" y="113250"/>
                  <a:pt x="87678" y="113250"/>
                  <a:pt x="87678" y="113250"/>
                </a:cubicBezTo>
                <a:cubicBezTo>
                  <a:pt x="58452" y="84024"/>
                  <a:pt x="58452" y="84024"/>
                  <a:pt x="58452" y="84024"/>
                </a:cubicBezTo>
                <a:cubicBezTo>
                  <a:pt x="54798" y="84024"/>
                  <a:pt x="54798" y="80371"/>
                  <a:pt x="51145" y="80371"/>
                </a:cubicBezTo>
                <a:cubicBezTo>
                  <a:pt x="51145" y="80371"/>
                  <a:pt x="47492" y="84024"/>
                  <a:pt x="47492" y="84024"/>
                </a:cubicBezTo>
                <a:cubicBezTo>
                  <a:pt x="32879" y="94985"/>
                  <a:pt x="32879" y="94985"/>
                  <a:pt x="32879" y="94985"/>
                </a:cubicBezTo>
                <a:cubicBezTo>
                  <a:pt x="32879" y="98637"/>
                  <a:pt x="32879" y="98637"/>
                  <a:pt x="32879" y="102291"/>
                </a:cubicBezTo>
                <a:cubicBezTo>
                  <a:pt x="32879" y="105943"/>
                  <a:pt x="32879" y="105943"/>
                  <a:pt x="32879" y="109597"/>
                </a:cubicBezTo>
                <a:cubicBezTo>
                  <a:pt x="80371" y="157089"/>
                  <a:pt x="80371" y="157089"/>
                  <a:pt x="80371" y="157089"/>
                </a:cubicBezTo>
                <a:cubicBezTo>
                  <a:pt x="84024" y="157089"/>
                  <a:pt x="84024" y="157089"/>
                  <a:pt x="87678" y="157089"/>
                </a:cubicBezTo>
                <a:cubicBezTo>
                  <a:pt x="91331" y="157089"/>
                  <a:pt x="91331" y="157089"/>
                  <a:pt x="94985" y="157089"/>
                </a:cubicBezTo>
                <a:cubicBezTo>
                  <a:pt x="164395" y="84024"/>
                  <a:pt x="164395" y="84024"/>
                  <a:pt x="164395" y="84024"/>
                </a:cubicBezTo>
                <a:cubicBezTo>
                  <a:pt x="164395" y="84024"/>
                  <a:pt x="168049" y="80371"/>
                  <a:pt x="168049" y="80371"/>
                </a:cubicBezTo>
                <a:cubicBezTo>
                  <a:pt x="168049" y="76718"/>
                  <a:pt x="164395" y="73064"/>
                  <a:pt x="164395" y="73064"/>
                </a:cubicBezTo>
                <a:close/>
              </a:path>
            </a:pathLst>
          </a:custGeom>
          <a:solidFill>
            <a:srgbClr val="1BAC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AutoShape 46"/>
          <p:cNvSpPr/>
          <p:nvPr/>
        </p:nvSpPr>
        <p:spPr>
          <a:xfrm>
            <a:off x="8902700" y="5295900"/>
            <a:ext cx="30226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FCFCFC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专业严谨：强约束杜绝幻觉，保障医学知识的准确性。</a:t>
            </a:r>
            <a:endParaRPr lang="en-US" sz="1100"/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9A6CA5FF-53CD-937A-B902-8CC50BB23781}"/>
              </a:ext>
            </a:extLst>
          </p:cNvPr>
          <p:cNvPicPr>
            <a:picLocks/>
          </p:cNvPicPr>
          <p:nvPr/>
        </p:nvPicPr>
        <p:blipFill>
          <a:blip r:embed="rId3"/>
          <a:srcRect l="21175"/>
          <a:stretch>
            <a:fillRect/>
          </a:stretch>
        </p:blipFill>
        <p:spPr>
          <a:xfrm>
            <a:off x="910602" y="1199685"/>
            <a:ext cx="2200898" cy="1988015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6E6D566B-D598-AA79-6824-749058A0F3CC}"/>
              </a:ext>
            </a:extLst>
          </p:cNvPr>
          <p:cNvPicPr>
            <a:picLocks/>
          </p:cNvPicPr>
          <p:nvPr/>
        </p:nvPicPr>
        <p:blipFill>
          <a:blip r:embed="rId4"/>
          <a:srcRect r="22863"/>
          <a:stretch>
            <a:fillRect/>
          </a:stretch>
        </p:blipFill>
        <p:spPr>
          <a:xfrm>
            <a:off x="3240096" y="1177692"/>
            <a:ext cx="2335192" cy="1988015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7F219722-1773-A896-7F2A-328445FE00A9}"/>
              </a:ext>
            </a:extLst>
          </p:cNvPr>
          <p:cNvPicPr>
            <a:picLocks/>
          </p:cNvPicPr>
          <p:nvPr/>
        </p:nvPicPr>
        <p:blipFill>
          <a:blip r:embed="rId5"/>
          <a:srcRect l="10285" r="11489"/>
          <a:stretch>
            <a:fillRect/>
          </a:stretch>
        </p:blipFill>
        <p:spPr>
          <a:xfrm>
            <a:off x="5689298" y="1150459"/>
            <a:ext cx="2463788" cy="19973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5194300" cy="416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4267200" y="3467100"/>
            <a:ext cx="2222500" cy="34036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2080C3">
                  <a:alpha val="100000"/>
                </a:srgbClr>
              </a:gs>
              <a:gs pos="100000">
                <a:srgbClr val="27CDD6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-5400000">
            <a:off x="4165600" y="4394200"/>
            <a:ext cx="3136900" cy="147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6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MODEL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515100" y="2070100"/>
            <a:ext cx="6858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CORE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核心基石</a:t>
            </a:r>
          </a:p>
        </p:txBody>
      </p:sp>
      <p:sp>
        <p:nvSpPr>
          <p:cNvPr id="6" name="AutoShape 6"/>
          <p:cNvSpPr/>
          <p:nvPr/>
        </p:nvSpPr>
        <p:spPr>
          <a:xfrm>
            <a:off x="7645400" y="2070100"/>
            <a:ext cx="6858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HIGH-END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高端定制</a:t>
            </a:r>
          </a:p>
        </p:txBody>
      </p:sp>
      <p:sp>
        <p:nvSpPr>
          <p:cNvPr id="7" name="AutoShape 7"/>
          <p:cNvSpPr/>
          <p:nvPr/>
        </p:nvSpPr>
        <p:spPr>
          <a:xfrm>
            <a:off x="8636000" y="2070100"/>
            <a:ext cx="6858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RESOURCE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资源变现</a:t>
            </a:r>
          </a:p>
        </p:txBody>
      </p:sp>
      <p:sp>
        <p:nvSpPr>
          <p:cNvPr id="8" name="AutoShape 8"/>
          <p:cNvSpPr/>
          <p:nvPr/>
        </p:nvSpPr>
        <p:spPr>
          <a:xfrm>
            <a:off x="8191500" y="2565400"/>
            <a:ext cx="1612900" cy="2794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5E9F9B">
                  <a:alpha val="100000"/>
                </a:srgbClr>
              </a:gs>
              <a:gs pos="100000">
                <a:srgbClr val="42BA97">
                  <a:alpha val="100000"/>
                </a:srgbClr>
              </a:gs>
            </a:gsLst>
            <a:lin ang="2046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366000" y="2565400"/>
            <a:ext cx="1231900" cy="279400"/>
          </a:xfrm>
          <a:prstGeom prst="roundRect">
            <a:avLst>
              <a:gd name="adj" fmla="val 0"/>
            </a:avLst>
          </a:prstGeom>
          <a:solidFill>
            <a:srgbClr val="BDBD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502400" y="2565400"/>
            <a:ext cx="1143000" cy="279400"/>
          </a:xfrm>
          <a:prstGeom prst="roundRect">
            <a:avLst>
              <a:gd name="adj" fmla="val 0"/>
            </a:avLst>
          </a:prstGeom>
          <a:gradFill rotWithShape="0">
            <a:gsLst>
              <a:gs pos="1000">
                <a:srgbClr val="2080C3">
                  <a:alpha val="100000"/>
                </a:srgbClr>
              </a:gs>
              <a:gs pos="100000">
                <a:srgbClr val="27CDD6">
                  <a:alpha val="100000"/>
                </a:srgbClr>
              </a:gs>
            </a:gsLst>
            <a:lin ang="2046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7708900" y="2641600"/>
            <a:ext cx="142894" cy="142883"/>
          </a:xfrm>
          <a:custGeom>
            <a:avLst/>
            <a:gdLst/>
            <a:ahLst/>
            <a:cxnLst/>
            <a:rect l="l" t="t" r="r" b="b"/>
            <a:pathLst>
              <a:path w="142894" h="142883">
                <a:moveTo>
                  <a:pt x="136398" y="129892"/>
                </a:moveTo>
                <a:cubicBezTo>
                  <a:pt x="136398" y="133483"/>
                  <a:pt x="133487" y="136394"/>
                  <a:pt x="129901" y="136394"/>
                </a:cubicBezTo>
                <a:lnTo>
                  <a:pt x="12993" y="136394"/>
                </a:lnTo>
                <a:cubicBezTo>
                  <a:pt x="9401" y="136394"/>
                  <a:pt x="6496" y="133483"/>
                  <a:pt x="6496" y="129892"/>
                </a:cubicBezTo>
                <a:lnTo>
                  <a:pt x="6496" y="12992"/>
                </a:lnTo>
                <a:cubicBezTo>
                  <a:pt x="6496" y="9407"/>
                  <a:pt x="9401" y="6496"/>
                  <a:pt x="12993" y="6496"/>
                </a:cubicBezTo>
                <a:lnTo>
                  <a:pt x="129901" y="6496"/>
                </a:lnTo>
                <a:cubicBezTo>
                  <a:pt x="133487" y="6496"/>
                  <a:pt x="136398" y="9407"/>
                  <a:pt x="136398" y="12992"/>
                </a:cubicBezTo>
                <a:cubicBezTo>
                  <a:pt x="136398" y="12992"/>
                  <a:pt x="136398" y="129892"/>
                  <a:pt x="136398" y="129892"/>
                </a:cubicBezTo>
                <a:close/>
                <a:moveTo>
                  <a:pt x="129901" y="0"/>
                </a:moveTo>
                <a:lnTo>
                  <a:pt x="12993" y="0"/>
                </a:lnTo>
                <a:cubicBezTo>
                  <a:pt x="5815" y="0"/>
                  <a:pt x="0" y="5814"/>
                  <a:pt x="0" y="12992"/>
                </a:cubicBezTo>
                <a:lnTo>
                  <a:pt x="0" y="129892"/>
                </a:lnTo>
                <a:cubicBezTo>
                  <a:pt x="0" y="137069"/>
                  <a:pt x="5815" y="142883"/>
                  <a:pt x="12993" y="142883"/>
                </a:cubicBezTo>
                <a:lnTo>
                  <a:pt x="129901" y="142883"/>
                </a:lnTo>
                <a:cubicBezTo>
                  <a:pt x="137079" y="142883"/>
                  <a:pt x="142894" y="137069"/>
                  <a:pt x="142894" y="129892"/>
                </a:cubicBezTo>
                <a:lnTo>
                  <a:pt x="142894" y="12992"/>
                </a:lnTo>
                <a:cubicBezTo>
                  <a:pt x="142894" y="5814"/>
                  <a:pt x="137079" y="0"/>
                  <a:pt x="129901" y="0"/>
                </a:cubicBezTo>
                <a:moveTo>
                  <a:pt x="28407" y="116906"/>
                </a:moveTo>
                <a:lnTo>
                  <a:pt x="55411" y="70992"/>
                </a:lnTo>
                <a:lnTo>
                  <a:pt x="71698" y="95420"/>
                </a:lnTo>
                <a:cubicBezTo>
                  <a:pt x="71857" y="95811"/>
                  <a:pt x="72095" y="96156"/>
                  <a:pt x="72386" y="96453"/>
                </a:cubicBezTo>
                <a:lnTo>
                  <a:pt x="72400" y="96465"/>
                </a:lnTo>
                <a:cubicBezTo>
                  <a:pt x="72988" y="97061"/>
                  <a:pt x="73796" y="97418"/>
                  <a:pt x="74695" y="97418"/>
                </a:cubicBezTo>
                <a:cubicBezTo>
                  <a:pt x="75595" y="97418"/>
                  <a:pt x="76402" y="97061"/>
                  <a:pt x="76991" y="96465"/>
                </a:cubicBezTo>
                <a:lnTo>
                  <a:pt x="90540" y="82925"/>
                </a:lnTo>
                <a:lnTo>
                  <a:pt x="114064" y="116906"/>
                </a:lnTo>
                <a:cubicBezTo>
                  <a:pt x="114064" y="116906"/>
                  <a:pt x="28407" y="116906"/>
                  <a:pt x="28407" y="116906"/>
                </a:cubicBezTo>
                <a:close/>
                <a:moveTo>
                  <a:pt x="123180" y="118949"/>
                </a:moveTo>
                <a:lnTo>
                  <a:pt x="123160" y="118924"/>
                </a:lnTo>
                <a:cubicBezTo>
                  <a:pt x="122982" y="118494"/>
                  <a:pt x="122724" y="118130"/>
                  <a:pt x="122392" y="117813"/>
                </a:cubicBezTo>
                <a:lnTo>
                  <a:pt x="93946" y="76733"/>
                </a:lnTo>
                <a:lnTo>
                  <a:pt x="93939" y="76740"/>
                </a:lnTo>
                <a:cubicBezTo>
                  <a:pt x="93457" y="75542"/>
                  <a:pt x="92299" y="74690"/>
                  <a:pt x="90929" y="74690"/>
                </a:cubicBezTo>
                <a:cubicBezTo>
                  <a:pt x="90037" y="74690"/>
                  <a:pt x="89229" y="75053"/>
                  <a:pt x="88635" y="75642"/>
                </a:cubicBezTo>
                <a:lnTo>
                  <a:pt x="75152" y="89124"/>
                </a:lnTo>
                <a:lnTo>
                  <a:pt x="58203" y="63702"/>
                </a:lnTo>
                <a:cubicBezTo>
                  <a:pt x="57714" y="62531"/>
                  <a:pt x="56562" y="61698"/>
                  <a:pt x="55206" y="61698"/>
                </a:cubicBezTo>
                <a:cubicBezTo>
                  <a:pt x="54082" y="61698"/>
                  <a:pt x="53142" y="62313"/>
                  <a:pt x="52560" y="63180"/>
                </a:cubicBezTo>
                <a:lnTo>
                  <a:pt x="52507" y="63147"/>
                </a:lnTo>
                <a:lnTo>
                  <a:pt x="20032" y="118349"/>
                </a:lnTo>
                <a:lnTo>
                  <a:pt x="20085" y="118388"/>
                </a:lnTo>
                <a:cubicBezTo>
                  <a:pt x="19735" y="118897"/>
                  <a:pt x="19483" y="119485"/>
                  <a:pt x="19483" y="120153"/>
                </a:cubicBezTo>
                <a:cubicBezTo>
                  <a:pt x="19483" y="121947"/>
                  <a:pt x="20938" y="123402"/>
                  <a:pt x="22730" y="123402"/>
                </a:cubicBezTo>
                <a:lnTo>
                  <a:pt x="120164" y="123402"/>
                </a:lnTo>
                <a:cubicBezTo>
                  <a:pt x="121956" y="123402"/>
                  <a:pt x="123411" y="121947"/>
                  <a:pt x="123411" y="120153"/>
                </a:cubicBezTo>
                <a:cubicBezTo>
                  <a:pt x="123411" y="119724"/>
                  <a:pt x="123312" y="119327"/>
                  <a:pt x="123167" y="118957"/>
                </a:cubicBezTo>
                <a:cubicBezTo>
                  <a:pt x="123167" y="118957"/>
                  <a:pt x="123180" y="118949"/>
                  <a:pt x="123180" y="118949"/>
                </a:cubicBezTo>
                <a:close/>
                <a:moveTo>
                  <a:pt x="35724" y="25977"/>
                </a:moveTo>
                <a:cubicBezTo>
                  <a:pt x="41102" y="25977"/>
                  <a:pt x="45469" y="30343"/>
                  <a:pt x="45469" y="35721"/>
                </a:cubicBezTo>
                <a:cubicBezTo>
                  <a:pt x="45469" y="41105"/>
                  <a:pt x="41102" y="45465"/>
                  <a:pt x="35724" y="45465"/>
                </a:cubicBezTo>
                <a:cubicBezTo>
                  <a:pt x="30345" y="45465"/>
                  <a:pt x="25979" y="41105"/>
                  <a:pt x="25979" y="35721"/>
                </a:cubicBezTo>
                <a:cubicBezTo>
                  <a:pt x="25979" y="30343"/>
                  <a:pt x="30345" y="25977"/>
                  <a:pt x="35724" y="25977"/>
                </a:cubicBezTo>
                <a:moveTo>
                  <a:pt x="35724" y="51961"/>
                </a:moveTo>
                <a:cubicBezTo>
                  <a:pt x="44694" y="51961"/>
                  <a:pt x="51965" y="44690"/>
                  <a:pt x="51965" y="35721"/>
                </a:cubicBezTo>
                <a:cubicBezTo>
                  <a:pt x="51965" y="26758"/>
                  <a:pt x="44694" y="19481"/>
                  <a:pt x="35724" y="19481"/>
                </a:cubicBezTo>
                <a:cubicBezTo>
                  <a:pt x="26753" y="19481"/>
                  <a:pt x="19483" y="26758"/>
                  <a:pt x="19483" y="35721"/>
                </a:cubicBezTo>
                <a:cubicBezTo>
                  <a:pt x="19483" y="44690"/>
                  <a:pt x="26753" y="51961"/>
                  <a:pt x="35724" y="51961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7010400" y="2639760"/>
            <a:ext cx="142894" cy="141475"/>
          </a:xfrm>
          <a:custGeom>
            <a:avLst/>
            <a:gdLst/>
            <a:ahLst/>
            <a:cxnLst/>
            <a:rect l="l" t="t" r="r" b="b"/>
            <a:pathLst>
              <a:path w="142894" h="141475">
                <a:moveTo>
                  <a:pt x="49814" y="29329"/>
                </a:moveTo>
                <a:lnTo>
                  <a:pt x="44191" y="26080"/>
                </a:lnTo>
                <a:lnTo>
                  <a:pt x="40944" y="31707"/>
                </a:lnTo>
                <a:lnTo>
                  <a:pt x="46573" y="34955"/>
                </a:lnTo>
                <a:cubicBezTo>
                  <a:pt x="46573" y="34955"/>
                  <a:pt x="49814" y="29329"/>
                  <a:pt x="49814" y="29329"/>
                </a:cubicBezTo>
                <a:close/>
                <a:moveTo>
                  <a:pt x="56311" y="18077"/>
                </a:moveTo>
                <a:lnTo>
                  <a:pt x="50688" y="14835"/>
                </a:lnTo>
                <a:lnTo>
                  <a:pt x="47440" y="20461"/>
                </a:lnTo>
                <a:lnTo>
                  <a:pt x="53063" y="23709"/>
                </a:lnTo>
                <a:cubicBezTo>
                  <a:pt x="53063" y="23709"/>
                  <a:pt x="56311" y="18077"/>
                  <a:pt x="56311" y="18077"/>
                </a:cubicBezTo>
                <a:close/>
                <a:moveTo>
                  <a:pt x="136398" y="57042"/>
                </a:moveTo>
                <a:lnTo>
                  <a:pt x="6496" y="57042"/>
                </a:lnTo>
                <a:lnTo>
                  <a:pt x="6496" y="44054"/>
                </a:lnTo>
                <a:lnTo>
                  <a:pt x="136398" y="44054"/>
                </a:lnTo>
                <a:cubicBezTo>
                  <a:pt x="136398" y="44054"/>
                  <a:pt x="136398" y="57042"/>
                  <a:pt x="136398" y="57042"/>
                </a:cubicBezTo>
                <a:close/>
                <a:moveTo>
                  <a:pt x="123411" y="134978"/>
                </a:moveTo>
                <a:lnTo>
                  <a:pt x="19483" y="134978"/>
                </a:lnTo>
                <a:lnTo>
                  <a:pt x="19483" y="63539"/>
                </a:lnTo>
                <a:lnTo>
                  <a:pt x="123411" y="63539"/>
                </a:lnTo>
                <a:cubicBezTo>
                  <a:pt x="123411" y="63539"/>
                  <a:pt x="123411" y="134978"/>
                  <a:pt x="123411" y="134978"/>
                </a:cubicBezTo>
                <a:close/>
                <a:moveTo>
                  <a:pt x="45058" y="11586"/>
                </a:moveTo>
                <a:cubicBezTo>
                  <a:pt x="46858" y="8482"/>
                  <a:pt x="50827" y="7414"/>
                  <a:pt x="53936" y="9209"/>
                </a:cubicBezTo>
                <a:lnTo>
                  <a:pt x="65189" y="15706"/>
                </a:lnTo>
                <a:lnTo>
                  <a:pt x="52567" y="37563"/>
                </a:lnTo>
                <a:lnTo>
                  <a:pt x="38099" y="37563"/>
                </a:lnTo>
                <a:lnTo>
                  <a:pt x="37695" y="37333"/>
                </a:lnTo>
                <a:lnTo>
                  <a:pt x="37563" y="37563"/>
                </a:lnTo>
                <a:lnTo>
                  <a:pt x="30067" y="37563"/>
                </a:lnTo>
                <a:cubicBezTo>
                  <a:pt x="30067" y="37563"/>
                  <a:pt x="45058" y="11586"/>
                  <a:pt x="45058" y="11586"/>
                </a:cubicBezTo>
                <a:close/>
                <a:moveTo>
                  <a:pt x="103049" y="37563"/>
                </a:moveTo>
                <a:lnTo>
                  <a:pt x="60062" y="37563"/>
                </a:lnTo>
                <a:lnTo>
                  <a:pt x="70811" y="18948"/>
                </a:lnTo>
                <a:cubicBezTo>
                  <a:pt x="70811" y="18948"/>
                  <a:pt x="103049" y="37563"/>
                  <a:pt x="103049" y="37563"/>
                </a:cubicBezTo>
                <a:close/>
                <a:moveTo>
                  <a:pt x="105385" y="19911"/>
                </a:moveTo>
                <a:cubicBezTo>
                  <a:pt x="108850" y="18981"/>
                  <a:pt x="112404" y="21037"/>
                  <a:pt x="113336" y="24502"/>
                </a:cubicBezTo>
                <a:lnTo>
                  <a:pt x="116836" y="37563"/>
                </a:lnTo>
                <a:lnTo>
                  <a:pt x="116035" y="37563"/>
                </a:lnTo>
                <a:lnTo>
                  <a:pt x="107693" y="32742"/>
                </a:lnTo>
                <a:lnTo>
                  <a:pt x="108745" y="32453"/>
                </a:lnTo>
                <a:lnTo>
                  <a:pt x="107065" y="26180"/>
                </a:lnTo>
                <a:lnTo>
                  <a:pt x="100794" y="27862"/>
                </a:lnTo>
                <a:lnTo>
                  <a:pt x="101078" y="28924"/>
                </a:lnTo>
                <a:lnTo>
                  <a:pt x="93119" y="24332"/>
                </a:lnTo>
                <a:lnTo>
                  <a:pt x="92834" y="23271"/>
                </a:lnTo>
                <a:cubicBezTo>
                  <a:pt x="92834" y="23271"/>
                  <a:pt x="105385" y="19911"/>
                  <a:pt x="105385" y="19911"/>
                </a:cubicBezTo>
                <a:close/>
                <a:moveTo>
                  <a:pt x="136398" y="37563"/>
                </a:moveTo>
                <a:lnTo>
                  <a:pt x="123563" y="37563"/>
                </a:lnTo>
                <a:lnTo>
                  <a:pt x="119614" y="22819"/>
                </a:lnTo>
                <a:cubicBezTo>
                  <a:pt x="117756" y="15889"/>
                  <a:pt x="110637" y="11783"/>
                  <a:pt x="103704" y="13636"/>
                </a:cubicBezTo>
                <a:lnTo>
                  <a:pt x="83825" y="18967"/>
                </a:lnTo>
                <a:lnTo>
                  <a:pt x="57184" y="3582"/>
                </a:lnTo>
                <a:cubicBezTo>
                  <a:pt x="50965" y="0"/>
                  <a:pt x="43028" y="2128"/>
                  <a:pt x="39435" y="8337"/>
                </a:cubicBezTo>
                <a:lnTo>
                  <a:pt x="22559" y="37563"/>
                </a:lnTo>
                <a:lnTo>
                  <a:pt x="6496" y="37563"/>
                </a:lnTo>
                <a:cubicBezTo>
                  <a:pt x="2911" y="37563"/>
                  <a:pt x="0" y="40471"/>
                  <a:pt x="0" y="44054"/>
                </a:cubicBezTo>
                <a:lnTo>
                  <a:pt x="0" y="57042"/>
                </a:lnTo>
                <a:cubicBezTo>
                  <a:pt x="0" y="60637"/>
                  <a:pt x="2911" y="63539"/>
                  <a:pt x="6496" y="63539"/>
                </a:cubicBezTo>
                <a:lnTo>
                  <a:pt x="12993" y="63539"/>
                </a:lnTo>
                <a:lnTo>
                  <a:pt x="12993" y="134978"/>
                </a:lnTo>
                <a:cubicBezTo>
                  <a:pt x="12993" y="138567"/>
                  <a:pt x="15897" y="141475"/>
                  <a:pt x="19483" y="141475"/>
                </a:cubicBezTo>
                <a:lnTo>
                  <a:pt x="123411" y="141475"/>
                </a:lnTo>
                <a:cubicBezTo>
                  <a:pt x="126997" y="141475"/>
                  <a:pt x="129901" y="138567"/>
                  <a:pt x="129901" y="134978"/>
                </a:cubicBezTo>
                <a:lnTo>
                  <a:pt x="129901" y="63539"/>
                </a:lnTo>
                <a:lnTo>
                  <a:pt x="136398" y="63539"/>
                </a:lnTo>
                <a:cubicBezTo>
                  <a:pt x="139983" y="63539"/>
                  <a:pt x="142894" y="60637"/>
                  <a:pt x="142894" y="57042"/>
                </a:cubicBezTo>
                <a:lnTo>
                  <a:pt x="142894" y="44054"/>
                </a:lnTo>
                <a:cubicBezTo>
                  <a:pt x="142894" y="40471"/>
                  <a:pt x="139983" y="37563"/>
                  <a:pt x="136398" y="37563"/>
                </a:cubicBezTo>
                <a:moveTo>
                  <a:pt x="51965" y="83025"/>
                </a:moveTo>
                <a:lnTo>
                  <a:pt x="90929" y="83025"/>
                </a:lnTo>
                <a:lnTo>
                  <a:pt x="90929" y="89516"/>
                </a:lnTo>
                <a:lnTo>
                  <a:pt x="51965" y="89516"/>
                </a:lnTo>
                <a:cubicBezTo>
                  <a:pt x="51965" y="89516"/>
                  <a:pt x="51965" y="83025"/>
                  <a:pt x="51965" y="83025"/>
                </a:cubicBezTo>
                <a:close/>
                <a:moveTo>
                  <a:pt x="51965" y="96013"/>
                </a:moveTo>
                <a:lnTo>
                  <a:pt x="90929" y="96013"/>
                </a:lnTo>
                <a:cubicBezTo>
                  <a:pt x="94522" y="96013"/>
                  <a:pt x="97426" y="93105"/>
                  <a:pt x="97426" y="89516"/>
                </a:cubicBezTo>
                <a:lnTo>
                  <a:pt x="97426" y="83025"/>
                </a:lnTo>
                <a:cubicBezTo>
                  <a:pt x="97426" y="79436"/>
                  <a:pt x="94522" y="76527"/>
                  <a:pt x="90929" y="76527"/>
                </a:cubicBezTo>
                <a:lnTo>
                  <a:pt x="51965" y="76527"/>
                </a:lnTo>
                <a:cubicBezTo>
                  <a:pt x="48372" y="76527"/>
                  <a:pt x="45469" y="79436"/>
                  <a:pt x="45469" y="83025"/>
                </a:cubicBezTo>
                <a:lnTo>
                  <a:pt x="45469" y="89516"/>
                </a:lnTo>
                <a:cubicBezTo>
                  <a:pt x="45469" y="93105"/>
                  <a:pt x="48372" y="96013"/>
                  <a:pt x="51965" y="96013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674100" y="2654300"/>
            <a:ext cx="142894" cy="116905"/>
          </a:xfrm>
          <a:custGeom>
            <a:avLst/>
            <a:gdLst/>
            <a:ahLst/>
            <a:cxnLst/>
            <a:rect l="l" t="t" r="r" b="b"/>
            <a:pathLst>
              <a:path w="142894" h="116905">
                <a:moveTo>
                  <a:pt x="129901" y="19484"/>
                </a:moveTo>
                <a:lnTo>
                  <a:pt x="12993" y="19484"/>
                </a:lnTo>
                <a:lnTo>
                  <a:pt x="12993" y="6495"/>
                </a:lnTo>
                <a:lnTo>
                  <a:pt x="129901" y="6495"/>
                </a:lnTo>
                <a:cubicBezTo>
                  <a:pt x="129901" y="6495"/>
                  <a:pt x="129901" y="19484"/>
                  <a:pt x="129901" y="19484"/>
                </a:cubicBezTo>
                <a:close/>
                <a:moveTo>
                  <a:pt x="113666" y="32474"/>
                </a:moveTo>
                <a:lnTo>
                  <a:pt x="113666" y="25979"/>
                </a:lnTo>
                <a:lnTo>
                  <a:pt x="126653" y="25979"/>
                </a:lnTo>
                <a:lnTo>
                  <a:pt x="126653" y="32474"/>
                </a:lnTo>
                <a:cubicBezTo>
                  <a:pt x="126653" y="36057"/>
                  <a:pt x="123742" y="38969"/>
                  <a:pt x="120164" y="38969"/>
                </a:cubicBezTo>
                <a:cubicBezTo>
                  <a:pt x="116571" y="38969"/>
                  <a:pt x="113666" y="36057"/>
                  <a:pt x="113666" y="32474"/>
                </a:cubicBezTo>
                <a:moveTo>
                  <a:pt x="94178" y="32474"/>
                </a:moveTo>
                <a:lnTo>
                  <a:pt x="94178" y="25979"/>
                </a:lnTo>
                <a:lnTo>
                  <a:pt x="107170" y="25979"/>
                </a:lnTo>
                <a:lnTo>
                  <a:pt x="107170" y="32474"/>
                </a:lnTo>
                <a:cubicBezTo>
                  <a:pt x="107170" y="36057"/>
                  <a:pt x="104259" y="38969"/>
                  <a:pt x="100674" y="38969"/>
                </a:cubicBezTo>
                <a:cubicBezTo>
                  <a:pt x="97081" y="38969"/>
                  <a:pt x="94178" y="36057"/>
                  <a:pt x="94178" y="32474"/>
                </a:cubicBezTo>
                <a:moveTo>
                  <a:pt x="74695" y="32474"/>
                </a:moveTo>
                <a:lnTo>
                  <a:pt x="74695" y="25979"/>
                </a:lnTo>
                <a:lnTo>
                  <a:pt x="87688" y="25979"/>
                </a:lnTo>
                <a:lnTo>
                  <a:pt x="87688" y="32474"/>
                </a:lnTo>
                <a:cubicBezTo>
                  <a:pt x="87688" y="36057"/>
                  <a:pt x="84770" y="38969"/>
                  <a:pt x="81191" y="38969"/>
                </a:cubicBezTo>
                <a:cubicBezTo>
                  <a:pt x="77600" y="38969"/>
                  <a:pt x="74695" y="36057"/>
                  <a:pt x="74695" y="32474"/>
                </a:cubicBezTo>
                <a:moveTo>
                  <a:pt x="55206" y="32474"/>
                </a:moveTo>
                <a:lnTo>
                  <a:pt x="55206" y="25979"/>
                </a:lnTo>
                <a:lnTo>
                  <a:pt x="68199" y="25979"/>
                </a:lnTo>
                <a:lnTo>
                  <a:pt x="68199" y="32474"/>
                </a:lnTo>
                <a:cubicBezTo>
                  <a:pt x="68199" y="36057"/>
                  <a:pt x="65288" y="38969"/>
                  <a:pt x="61703" y="38969"/>
                </a:cubicBezTo>
                <a:cubicBezTo>
                  <a:pt x="58116" y="38969"/>
                  <a:pt x="55206" y="36057"/>
                  <a:pt x="55206" y="32474"/>
                </a:cubicBezTo>
                <a:moveTo>
                  <a:pt x="35724" y="32474"/>
                </a:moveTo>
                <a:lnTo>
                  <a:pt x="35724" y="25979"/>
                </a:lnTo>
                <a:lnTo>
                  <a:pt x="48716" y="25979"/>
                </a:lnTo>
                <a:lnTo>
                  <a:pt x="48716" y="32474"/>
                </a:lnTo>
                <a:cubicBezTo>
                  <a:pt x="48716" y="36057"/>
                  <a:pt x="45805" y="38969"/>
                  <a:pt x="42220" y="38969"/>
                </a:cubicBezTo>
                <a:cubicBezTo>
                  <a:pt x="38628" y="38969"/>
                  <a:pt x="35724" y="36057"/>
                  <a:pt x="35724" y="32474"/>
                </a:cubicBezTo>
                <a:moveTo>
                  <a:pt x="16241" y="32474"/>
                </a:moveTo>
                <a:lnTo>
                  <a:pt x="16241" y="25979"/>
                </a:lnTo>
                <a:lnTo>
                  <a:pt x="29227" y="25979"/>
                </a:lnTo>
                <a:lnTo>
                  <a:pt x="29227" y="32474"/>
                </a:lnTo>
                <a:cubicBezTo>
                  <a:pt x="29227" y="36057"/>
                  <a:pt x="26317" y="38969"/>
                  <a:pt x="22730" y="38969"/>
                </a:cubicBezTo>
                <a:cubicBezTo>
                  <a:pt x="19145" y="38969"/>
                  <a:pt x="16241" y="36057"/>
                  <a:pt x="16241" y="32474"/>
                </a:cubicBezTo>
                <a:moveTo>
                  <a:pt x="129901" y="110410"/>
                </a:moveTo>
                <a:lnTo>
                  <a:pt x="84440" y="110410"/>
                </a:lnTo>
                <a:lnTo>
                  <a:pt x="84440" y="74689"/>
                </a:lnTo>
                <a:cubicBezTo>
                  <a:pt x="84440" y="72898"/>
                  <a:pt x="82984" y="71441"/>
                  <a:pt x="81191" y="71441"/>
                </a:cubicBezTo>
                <a:lnTo>
                  <a:pt x="61703" y="71441"/>
                </a:lnTo>
                <a:cubicBezTo>
                  <a:pt x="59910" y="71441"/>
                  <a:pt x="58454" y="72898"/>
                  <a:pt x="58454" y="74689"/>
                </a:cubicBezTo>
                <a:lnTo>
                  <a:pt x="58454" y="110410"/>
                </a:lnTo>
                <a:lnTo>
                  <a:pt x="12993" y="110410"/>
                </a:lnTo>
                <a:lnTo>
                  <a:pt x="12993" y="40987"/>
                </a:lnTo>
                <a:cubicBezTo>
                  <a:pt x="15375" y="43710"/>
                  <a:pt x="18834" y="45463"/>
                  <a:pt x="22730" y="45463"/>
                </a:cubicBezTo>
                <a:cubicBezTo>
                  <a:pt x="26634" y="45463"/>
                  <a:pt x="30094" y="43710"/>
                  <a:pt x="32475" y="40987"/>
                </a:cubicBezTo>
                <a:cubicBezTo>
                  <a:pt x="34856" y="43710"/>
                  <a:pt x="38317" y="45463"/>
                  <a:pt x="42220" y="45463"/>
                </a:cubicBezTo>
                <a:cubicBezTo>
                  <a:pt x="46116" y="45463"/>
                  <a:pt x="49583" y="43710"/>
                  <a:pt x="51965" y="40987"/>
                </a:cubicBezTo>
                <a:cubicBezTo>
                  <a:pt x="54346" y="43710"/>
                  <a:pt x="57805" y="45463"/>
                  <a:pt x="61703" y="45463"/>
                </a:cubicBezTo>
                <a:cubicBezTo>
                  <a:pt x="65606" y="45463"/>
                  <a:pt x="69065" y="43710"/>
                  <a:pt x="71446" y="40987"/>
                </a:cubicBezTo>
                <a:cubicBezTo>
                  <a:pt x="73829" y="43710"/>
                  <a:pt x="77288" y="45463"/>
                  <a:pt x="81191" y="45463"/>
                </a:cubicBezTo>
                <a:cubicBezTo>
                  <a:pt x="85087" y="45463"/>
                  <a:pt x="88548" y="43710"/>
                  <a:pt x="90929" y="40987"/>
                </a:cubicBezTo>
                <a:cubicBezTo>
                  <a:pt x="93311" y="43710"/>
                  <a:pt x="96778" y="45463"/>
                  <a:pt x="100674" y="45463"/>
                </a:cubicBezTo>
                <a:cubicBezTo>
                  <a:pt x="104577" y="45463"/>
                  <a:pt x="108038" y="43710"/>
                  <a:pt x="110419" y="40987"/>
                </a:cubicBezTo>
                <a:cubicBezTo>
                  <a:pt x="112800" y="43710"/>
                  <a:pt x="116260" y="45463"/>
                  <a:pt x="120164" y="45463"/>
                </a:cubicBezTo>
                <a:cubicBezTo>
                  <a:pt x="124060" y="45463"/>
                  <a:pt x="127519" y="43710"/>
                  <a:pt x="129901" y="40987"/>
                </a:cubicBezTo>
                <a:cubicBezTo>
                  <a:pt x="129901" y="40987"/>
                  <a:pt x="129901" y="110410"/>
                  <a:pt x="129901" y="110410"/>
                </a:cubicBezTo>
                <a:close/>
                <a:moveTo>
                  <a:pt x="77944" y="110410"/>
                </a:moveTo>
                <a:lnTo>
                  <a:pt x="64950" y="110410"/>
                </a:lnTo>
                <a:lnTo>
                  <a:pt x="64950" y="77936"/>
                </a:lnTo>
                <a:lnTo>
                  <a:pt x="77944" y="77936"/>
                </a:lnTo>
                <a:cubicBezTo>
                  <a:pt x="77944" y="77936"/>
                  <a:pt x="77944" y="110410"/>
                  <a:pt x="77944" y="110410"/>
                </a:cubicBezTo>
                <a:close/>
                <a:moveTo>
                  <a:pt x="139645" y="110410"/>
                </a:moveTo>
                <a:lnTo>
                  <a:pt x="136398" y="110410"/>
                </a:lnTo>
                <a:lnTo>
                  <a:pt x="136398" y="25979"/>
                </a:lnTo>
                <a:lnTo>
                  <a:pt x="139645" y="25979"/>
                </a:lnTo>
                <a:cubicBezTo>
                  <a:pt x="141439" y="25979"/>
                  <a:pt x="142894" y="24529"/>
                  <a:pt x="142894" y="22732"/>
                </a:cubicBezTo>
                <a:cubicBezTo>
                  <a:pt x="142894" y="20935"/>
                  <a:pt x="141439" y="19484"/>
                  <a:pt x="139645" y="19484"/>
                </a:cubicBezTo>
                <a:lnTo>
                  <a:pt x="136398" y="19484"/>
                </a:lnTo>
                <a:lnTo>
                  <a:pt x="136398" y="6495"/>
                </a:lnTo>
                <a:cubicBezTo>
                  <a:pt x="136398" y="2912"/>
                  <a:pt x="133487" y="0"/>
                  <a:pt x="129901" y="0"/>
                </a:cubicBezTo>
                <a:lnTo>
                  <a:pt x="12993" y="0"/>
                </a:lnTo>
                <a:cubicBezTo>
                  <a:pt x="9401" y="0"/>
                  <a:pt x="6496" y="2912"/>
                  <a:pt x="6496" y="6495"/>
                </a:cubicBezTo>
                <a:lnTo>
                  <a:pt x="6496" y="19484"/>
                </a:lnTo>
                <a:lnTo>
                  <a:pt x="3249" y="19484"/>
                </a:lnTo>
                <a:cubicBezTo>
                  <a:pt x="1455" y="19484"/>
                  <a:pt x="0" y="20935"/>
                  <a:pt x="0" y="22732"/>
                </a:cubicBezTo>
                <a:cubicBezTo>
                  <a:pt x="0" y="24529"/>
                  <a:pt x="1455" y="25979"/>
                  <a:pt x="3249" y="25979"/>
                </a:cubicBezTo>
                <a:lnTo>
                  <a:pt x="6496" y="25979"/>
                </a:lnTo>
                <a:lnTo>
                  <a:pt x="6496" y="110410"/>
                </a:lnTo>
                <a:lnTo>
                  <a:pt x="3249" y="110410"/>
                </a:lnTo>
                <a:cubicBezTo>
                  <a:pt x="1455" y="110410"/>
                  <a:pt x="0" y="111867"/>
                  <a:pt x="0" y="113657"/>
                </a:cubicBezTo>
                <a:cubicBezTo>
                  <a:pt x="0" y="115454"/>
                  <a:pt x="1455" y="116905"/>
                  <a:pt x="3249" y="116905"/>
                </a:cubicBezTo>
                <a:lnTo>
                  <a:pt x="139645" y="116905"/>
                </a:lnTo>
                <a:cubicBezTo>
                  <a:pt x="141439" y="116905"/>
                  <a:pt x="142894" y="115454"/>
                  <a:pt x="142894" y="113657"/>
                </a:cubicBezTo>
                <a:cubicBezTo>
                  <a:pt x="142894" y="111867"/>
                  <a:pt x="141439" y="110410"/>
                  <a:pt x="139645" y="110410"/>
                </a:cubicBezTo>
                <a:moveTo>
                  <a:pt x="110419" y="90926"/>
                </a:moveTo>
                <a:lnTo>
                  <a:pt x="97426" y="90926"/>
                </a:lnTo>
                <a:lnTo>
                  <a:pt x="97426" y="77936"/>
                </a:lnTo>
                <a:lnTo>
                  <a:pt x="110419" y="77936"/>
                </a:lnTo>
                <a:cubicBezTo>
                  <a:pt x="110419" y="77936"/>
                  <a:pt x="110419" y="90926"/>
                  <a:pt x="110419" y="90926"/>
                </a:cubicBezTo>
                <a:close/>
                <a:moveTo>
                  <a:pt x="113666" y="71441"/>
                </a:moveTo>
                <a:lnTo>
                  <a:pt x="94178" y="71441"/>
                </a:lnTo>
                <a:cubicBezTo>
                  <a:pt x="92385" y="71441"/>
                  <a:pt x="90929" y="72898"/>
                  <a:pt x="90929" y="74689"/>
                </a:cubicBezTo>
                <a:lnTo>
                  <a:pt x="90929" y="94173"/>
                </a:lnTo>
                <a:cubicBezTo>
                  <a:pt x="90929" y="95970"/>
                  <a:pt x="92385" y="97420"/>
                  <a:pt x="94178" y="97420"/>
                </a:cubicBezTo>
                <a:lnTo>
                  <a:pt x="113666" y="97420"/>
                </a:lnTo>
                <a:cubicBezTo>
                  <a:pt x="115460" y="97420"/>
                  <a:pt x="116915" y="95970"/>
                  <a:pt x="116915" y="94173"/>
                </a:cubicBezTo>
                <a:lnTo>
                  <a:pt x="116915" y="74689"/>
                </a:lnTo>
                <a:cubicBezTo>
                  <a:pt x="116915" y="72898"/>
                  <a:pt x="115460" y="71441"/>
                  <a:pt x="113666" y="71441"/>
                </a:cubicBezTo>
                <a:moveTo>
                  <a:pt x="45469" y="90926"/>
                </a:moveTo>
                <a:lnTo>
                  <a:pt x="32475" y="90926"/>
                </a:lnTo>
                <a:lnTo>
                  <a:pt x="32475" y="77936"/>
                </a:lnTo>
                <a:lnTo>
                  <a:pt x="45469" y="77936"/>
                </a:lnTo>
                <a:cubicBezTo>
                  <a:pt x="45469" y="77936"/>
                  <a:pt x="45469" y="90926"/>
                  <a:pt x="45469" y="90926"/>
                </a:cubicBezTo>
                <a:close/>
                <a:moveTo>
                  <a:pt x="48716" y="71441"/>
                </a:moveTo>
                <a:lnTo>
                  <a:pt x="29227" y="71441"/>
                </a:lnTo>
                <a:cubicBezTo>
                  <a:pt x="27435" y="71441"/>
                  <a:pt x="25979" y="72898"/>
                  <a:pt x="25979" y="74689"/>
                </a:cubicBezTo>
                <a:lnTo>
                  <a:pt x="25979" y="94173"/>
                </a:lnTo>
                <a:cubicBezTo>
                  <a:pt x="25979" y="95970"/>
                  <a:pt x="27435" y="97420"/>
                  <a:pt x="29227" y="97420"/>
                </a:cubicBezTo>
                <a:lnTo>
                  <a:pt x="48716" y="97420"/>
                </a:lnTo>
                <a:cubicBezTo>
                  <a:pt x="50509" y="97420"/>
                  <a:pt x="51965" y="95970"/>
                  <a:pt x="51965" y="94173"/>
                </a:cubicBezTo>
                <a:lnTo>
                  <a:pt x="51965" y="74689"/>
                </a:lnTo>
                <a:cubicBezTo>
                  <a:pt x="51965" y="72898"/>
                  <a:pt x="50509" y="71441"/>
                  <a:pt x="48716" y="71441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779000" y="2070100"/>
            <a:ext cx="6858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ECOLOGY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生态壁垒</a:t>
            </a:r>
          </a:p>
        </p:txBody>
      </p:sp>
      <p:sp>
        <p:nvSpPr>
          <p:cNvPr id="15" name="AutoShape 15"/>
          <p:cNvSpPr/>
          <p:nvPr/>
        </p:nvSpPr>
        <p:spPr>
          <a:xfrm>
            <a:off x="9779000" y="2565400"/>
            <a:ext cx="1143000" cy="279400"/>
          </a:xfrm>
          <a:prstGeom prst="roundRect">
            <a:avLst>
              <a:gd name="adj" fmla="val 0"/>
            </a:avLst>
          </a:prstGeom>
          <a:gradFill rotWithShape="0">
            <a:gsLst>
              <a:gs pos="1000">
                <a:srgbClr val="1BACE3">
                  <a:alpha val="100000"/>
                </a:srgbClr>
              </a:gs>
              <a:gs pos="100000">
                <a:srgbClr val="0E5672">
                  <a:alpha val="100000"/>
                </a:srgbClr>
              </a:gs>
            </a:gsLst>
            <a:lin ang="2046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10274300" y="2639760"/>
            <a:ext cx="142894" cy="141475"/>
          </a:xfrm>
          <a:custGeom>
            <a:avLst/>
            <a:gdLst/>
            <a:ahLst/>
            <a:cxnLst/>
            <a:rect l="l" t="t" r="r" b="b"/>
            <a:pathLst>
              <a:path w="142894" h="141475">
                <a:moveTo>
                  <a:pt x="49814" y="29329"/>
                </a:moveTo>
                <a:lnTo>
                  <a:pt x="44191" y="26080"/>
                </a:lnTo>
                <a:lnTo>
                  <a:pt x="40944" y="31707"/>
                </a:lnTo>
                <a:lnTo>
                  <a:pt x="46573" y="34955"/>
                </a:lnTo>
                <a:cubicBezTo>
                  <a:pt x="46573" y="34955"/>
                  <a:pt x="49814" y="29329"/>
                  <a:pt x="49814" y="29329"/>
                </a:cubicBezTo>
                <a:close/>
                <a:moveTo>
                  <a:pt x="56311" y="18077"/>
                </a:moveTo>
                <a:lnTo>
                  <a:pt x="50688" y="14835"/>
                </a:lnTo>
                <a:lnTo>
                  <a:pt x="47440" y="20461"/>
                </a:lnTo>
                <a:lnTo>
                  <a:pt x="53063" y="23709"/>
                </a:lnTo>
                <a:cubicBezTo>
                  <a:pt x="53063" y="23709"/>
                  <a:pt x="56311" y="18077"/>
                  <a:pt x="56311" y="18077"/>
                </a:cubicBezTo>
                <a:close/>
                <a:moveTo>
                  <a:pt x="136398" y="57042"/>
                </a:moveTo>
                <a:lnTo>
                  <a:pt x="6496" y="57042"/>
                </a:lnTo>
                <a:lnTo>
                  <a:pt x="6496" y="44054"/>
                </a:lnTo>
                <a:lnTo>
                  <a:pt x="136398" y="44054"/>
                </a:lnTo>
                <a:cubicBezTo>
                  <a:pt x="136398" y="44054"/>
                  <a:pt x="136398" y="57042"/>
                  <a:pt x="136398" y="57042"/>
                </a:cubicBezTo>
                <a:close/>
                <a:moveTo>
                  <a:pt x="123411" y="134978"/>
                </a:moveTo>
                <a:lnTo>
                  <a:pt x="19483" y="134978"/>
                </a:lnTo>
                <a:lnTo>
                  <a:pt x="19483" y="63539"/>
                </a:lnTo>
                <a:lnTo>
                  <a:pt x="123411" y="63539"/>
                </a:lnTo>
                <a:cubicBezTo>
                  <a:pt x="123411" y="63539"/>
                  <a:pt x="123411" y="134978"/>
                  <a:pt x="123411" y="134978"/>
                </a:cubicBezTo>
                <a:close/>
                <a:moveTo>
                  <a:pt x="45058" y="11586"/>
                </a:moveTo>
                <a:cubicBezTo>
                  <a:pt x="46858" y="8482"/>
                  <a:pt x="50827" y="7414"/>
                  <a:pt x="53936" y="9209"/>
                </a:cubicBezTo>
                <a:lnTo>
                  <a:pt x="65189" y="15706"/>
                </a:lnTo>
                <a:lnTo>
                  <a:pt x="52567" y="37563"/>
                </a:lnTo>
                <a:lnTo>
                  <a:pt x="38099" y="37563"/>
                </a:lnTo>
                <a:lnTo>
                  <a:pt x="37695" y="37333"/>
                </a:lnTo>
                <a:lnTo>
                  <a:pt x="37563" y="37563"/>
                </a:lnTo>
                <a:lnTo>
                  <a:pt x="30067" y="37563"/>
                </a:lnTo>
                <a:cubicBezTo>
                  <a:pt x="30067" y="37563"/>
                  <a:pt x="45058" y="11586"/>
                  <a:pt x="45058" y="11586"/>
                </a:cubicBezTo>
                <a:close/>
                <a:moveTo>
                  <a:pt x="103049" y="37563"/>
                </a:moveTo>
                <a:lnTo>
                  <a:pt x="60062" y="37563"/>
                </a:lnTo>
                <a:lnTo>
                  <a:pt x="70811" y="18948"/>
                </a:lnTo>
                <a:cubicBezTo>
                  <a:pt x="70811" y="18948"/>
                  <a:pt x="103049" y="37563"/>
                  <a:pt x="103049" y="37563"/>
                </a:cubicBezTo>
                <a:close/>
                <a:moveTo>
                  <a:pt x="105385" y="19911"/>
                </a:moveTo>
                <a:cubicBezTo>
                  <a:pt x="108850" y="18981"/>
                  <a:pt x="112404" y="21037"/>
                  <a:pt x="113336" y="24502"/>
                </a:cubicBezTo>
                <a:lnTo>
                  <a:pt x="116836" y="37563"/>
                </a:lnTo>
                <a:lnTo>
                  <a:pt x="116035" y="37563"/>
                </a:lnTo>
                <a:lnTo>
                  <a:pt x="107693" y="32742"/>
                </a:lnTo>
                <a:lnTo>
                  <a:pt x="108745" y="32453"/>
                </a:lnTo>
                <a:lnTo>
                  <a:pt x="107065" y="26180"/>
                </a:lnTo>
                <a:lnTo>
                  <a:pt x="100794" y="27862"/>
                </a:lnTo>
                <a:lnTo>
                  <a:pt x="101078" y="28924"/>
                </a:lnTo>
                <a:lnTo>
                  <a:pt x="93119" y="24332"/>
                </a:lnTo>
                <a:lnTo>
                  <a:pt x="92834" y="23271"/>
                </a:lnTo>
                <a:cubicBezTo>
                  <a:pt x="92834" y="23271"/>
                  <a:pt x="105385" y="19911"/>
                  <a:pt x="105385" y="19911"/>
                </a:cubicBezTo>
                <a:close/>
                <a:moveTo>
                  <a:pt x="136398" y="37563"/>
                </a:moveTo>
                <a:lnTo>
                  <a:pt x="123563" y="37563"/>
                </a:lnTo>
                <a:lnTo>
                  <a:pt x="119614" y="22819"/>
                </a:lnTo>
                <a:cubicBezTo>
                  <a:pt x="117756" y="15889"/>
                  <a:pt x="110637" y="11783"/>
                  <a:pt x="103704" y="13636"/>
                </a:cubicBezTo>
                <a:lnTo>
                  <a:pt x="83825" y="18967"/>
                </a:lnTo>
                <a:lnTo>
                  <a:pt x="57184" y="3582"/>
                </a:lnTo>
                <a:cubicBezTo>
                  <a:pt x="50965" y="0"/>
                  <a:pt x="43028" y="2128"/>
                  <a:pt x="39435" y="8337"/>
                </a:cubicBezTo>
                <a:lnTo>
                  <a:pt x="22559" y="37563"/>
                </a:lnTo>
                <a:lnTo>
                  <a:pt x="6496" y="37563"/>
                </a:lnTo>
                <a:cubicBezTo>
                  <a:pt x="2911" y="37563"/>
                  <a:pt x="0" y="40471"/>
                  <a:pt x="0" y="44054"/>
                </a:cubicBezTo>
                <a:lnTo>
                  <a:pt x="0" y="57042"/>
                </a:lnTo>
                <a:cubicBezTo>
                  <a:pt x="0" y="60637"/>
                  <a:pt x="2911" y="63539"/>
                  <a:pt x="6496" y="63539"/>
                </a:cubicBezTo>
                <a:lnTo>
                  <a:pt x="12993" y="63539"/>
                </a:lnTo>
                <a:lnTo>
                  <a:pt x="12993" y="134978"/>
                </a:lnTo>
                <a:cubicBezTo>
                  <a:pt x="12993" y="138567"/>
                  <a:pt x="15897" y="141475"/>
                  <a:pt x="19483" y="141475"/>
                </a:cubicBezTo>
                <a:lnTo>
                  <a:pt x="123411" y="141475"/>
                </a:lnTo>
                <a:cubicBezTo>
                  <a:pt x="126997" y="141475"/>
                  <a:pt x="129901" y="138567"/>
                  <a:pt x="129901" y="134978"/>
                </a:cubicBezTo>
                <a:lnTo>
                  <a:pt x="129901" y="63539"/>
                </a:lnTo>
                <a:lnTo>
                  <a:pt x="136398" y="63539"/>
                </a:lnTo>
                <a:cubicBezTo>
                  <a:pt x="139983" y="63539"/>
                  <a:pt x="142894" y="60637"/>
                  <a:pt x="142894" y="57042"/>
                </a:cubicBezTo>
                <a:lnTo>
                  <a:pt x="142894" y="44054"/>
                </a:lnTo>
                <a:cubicBezTo>
                  <a:pt x="142894" y="40471"/>
                  <a:pt x="139983" y="37563"/>
                  <a:pt x="136398" y="37563"/>
                </a:cubicBezTo>
                <a:moveTo>
                  <a:pt x="51965" y="83025"/>
                </a:moveTo>
                <a:lnTo>
                  <a:pt x="90929" y="83025"/>
                </a:lnTo>
                <a:lnTo>
                  <a:pt x="90929" y="89516"/>
                </a:lnTo>
                <a:lnTo>
                  <a:pt x="51965" y="89516"/>
                </a:lnTo>
                <a:cubicBezTo>
                  <a:pt x="51965" y="89516"/>
                  <a:pt x="51965" y="83025"/>
                  <a:pt x="51965" y="83025"/>
                </a:cubicBezTo>
                <a:close/>
                <a:moveTo>
                  <a:pt x="51965" y="96013"/>
                </a:moveTo>
                <a:lnTo>
                  <a:pt x="90929" y="96013"/>
                </a:lnTo>
                <a:cubicBezTo>
                  <a:pt x="94522" y="96013"/>
                  <a:pt x="97426" y="93105"/>
                  <a:pt x="97426" y="89516"/>
                </a:cubicBezTo>
                <a:lnTo>
                  <a:pt x="97426" y="83025"/>
                </a:lnTo>
                <a:cubicBezTo>
                  <a:pt x="97426" y="79436"/>
                  <a:pt x="94522" y="76527"/>
                  <a:pt x="90929" y="76527"/>
                </a:cubicBezTo>
                <a:lnTo>
                  <a:pt x="51965" y="76527"/>
                </a:lnTo>
                <a:cubicBezTo>
                  <a:pt x="48372" y="76527"/>
                  <a:pt x="45469" y="79436"/>
                  <a:pt x="45469" y="83025"/>
                </a:cubicBezTo>
                <a:lnTo>
                  <a:pt x="45469" y="89516"/>
                </a:lnTo>
                <a:cubicBezTo>
                  <a:pt x="45469" y="93105"/>
                  <a:pt x="48372" y="96013"/>
                  <a:pt x="51965" y="96013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531100" y="3873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20202"/>
                </a:solidFill>
                <a:latin typeface="微软雅黑"/>
                <a:ea typeface="微软雅黑"/>
                <a:cs typeface="微软雅黑"/>
                <a:sym typeface="微软雅黑"/>
              </a:rPr>
              <a:t>盈利体系构建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020202"/>
                </a:solidFill>
                <a:latin typeface="微软雅黑"/>
                <a:ea typeface="微软雅黑"/>
                <a:cs typeface="微软雅黑"/>
                <a:sym typeface="微软雅黑"/>
              </a:rPr>
              <a:t>多维价值闭环</a:t>
            </a:r>
          </a:p>
        </p:txBody>
      </p:sp>
      <p:sp>
        <p:nvSpPr>
          <p:cNvPr id="18" name="AutoShape 18"/>
          <p:cNvSpPr/>
          <p:nvPr/>
        </p:nvSpPr>
        <p:spPr>
          <a:xfrm>
            <a:off x="9537700" y="444500"/>
            <a:ext cx="1320800" cy="1295400"/>
          </a:xfrm>
          <a:prstGeom prst="roundRect">
            <a:avLst>
              <a:gd name="adj" fmla="val 2941"/>
            </a:avLst>
          </a:prstGeom>
          <a:gradFill rotWithShape="0">
            <a:gsLst>
              <a:gs pos="2000">
                <a:srgbClr val="27CDD6">
                  <a:alpha val="100000"/>
                </a:srgbClr>
              </a:gs>
              <a:gs pos="100000">
                <a:srgbClr val="1D9AA1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270000" dist="381000" dir="8100000" sx="90000" sy="9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013700" y="444500"/>
            <a:ext cx="1320800" cy="1295400"/>
          </a:xfrm>
          <a:prstGeom prst="roundRect">
            <a:avLst>
              <a:gd name="adj" fmla="val 2941"/>
            </a:avLst>
          </a:prstGeom>
          <a:gradFill rotWithShape="0">
            <a:gsLst>
              <a:gs pos="2000">
                <a:srgbClr val="2080C3">
                  <a:alpha val="100000"/>
                </a:srgbClr>
              </a:gs>
              <a:gs pos="100000">
                <a:srgbClr val="186092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270000" dist="381000" dir="8100000" sx="90000" sy="9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502400" y="444500"/>
            <a:ext cx="1320800" cy="1295400"/>
          </a:xfrm>
          <a:prstGeom prst="roundRect">
            <a:avLst>
              <a:gd name="adj" fmla="val 2941"/>
            </a:avLst>
          </a:prstGeom>
          <a:gradFill rotWithShape="0">
            <a:gsLst>
              <a:gs pos="2000">
                <a:srgbClr val="1BACE3">
                  <a:alpha val="100000"/>
                </a:srgbClr>
              </a:gs>
              <a:gs pos="100000">
                <a:srgbClr val="1481AA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270000" dist="381000" dir="8100000" sx="90000" sy="9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8953500" y="1358900"/>
            <a:ext cx="251972" cy="255553"/>
          </a:xfrm>
          <a:custGeom>
            <a:avLst/>
            <a:gdLst/>
            <a:ahLst/>
            <a:cxnLst/>
            <a:rect l="l" t="t" r="r" b="b"/>
            <a:pathLst>
              <a:path w="251972" h="255553">
                <a:moveTo>
                  <a:pt x="238256" y="4056"/>
                </a:moveTo>
                <a:lnTo>
                  <a:pt x="238256" y="4056"/>
                </a:lnTo>
                <a:cubicBezTo>
                  <a:pt x="238256" y="4056"/>
                  <a:pt x="234192" y="0"/>
                  <a:pt x="229620" y="0"/>
                </a:cubicBezTo>
                <a:cubicBezTo>
                  <a:pt x="225048" y="4056"/>
                  <a:pt x="225048" y="8619"/>
                  <a:pt x="225048" y="8619"/>
                </a:cubicBezTo>
                <a:cubicBezTo>
                  <a:pt x="234192" y="44620"/>
                  <a:pt x="211332" y="71493"/>
                  <a:pt x="193551" y="85184"/>
                </a:cubicBezTo>
                <a:cubicBezTo>
                  <a:pt x="188979" y="71493"/>
                  <a:pt x="188979" y="71493"/>
                  <a:pt x="188979" y="71493"/>
                </a:cubicBezTo>
                <a:cubicBezTo>
                  <a:pt x="184407" y="71493"/>
                  <a:pt x="180343" y="66930"/>
                  <a:pt x="175771" y="66930"/>
                </a:cubicBezTo>
                <a:cubicBezTo>
                  <a:pt x="134623" y="66930"/>
                  <a:pt x="134623" y="66930"/>
                  <a:pt x="134623" y="66930"/>
                </a:cubicBezTo>
                <a:cubicBezTo>
                  <a:pt x="130559" y="66930"/>
                  <a:pt x="125987" y="66930"/>
                  <a:pt x="121923" y="71493"/>
                </a:cubicBezTo>
                <a:cubicBezTo>
                  <a:pt x="4572" y="152114"/>
                  <a:pt x="4572" y="152114"/>
                  <a:pt x="4572" y="152114"/>
                </a:cubicBezTo>
                <a:cubicBezTo>
                  <a:pt x="0" y="156679"/>
                  <a:pt x="0" y="165805"/>
                  <a:pt x="4572" y="170369"/>
                </a:cubicBezTo>
                <a:cubicBezTo>
                  <a:pt x="53849" y="246426"/>
                  <a:pt x="53849" y="246426"/>
                  <a:pt x="53849" y="246426"/>
                </a:cubicBezTo>
                <a:cubicBezTo>
                  <a:pt x="58421" y="255553"/>
                  <a:pt x="67565" y="250990"/>
                  <a:pt x="72137" y="250990"/>
                </a:cubicBezTo>
                <a:cubicBezTo>
                  <a:pt x="188979" y="165805"/>
                  <a:pt x="188979" y="165805"/>
                  <a:pt x="188979" y="165805"/>
                </a:cubicBezTo>
                <a:cubicBezTo>
                  <a:pt x="193551" y="165805"/>
                  <a:pt x="198123" y="156679"/>
                  <a:pt x="198123" y="156679"/>
                </a:cubicBezTo>
                <a:cubicBezTo>
                  <a:pt x="211332" y="116115"/>
                  <a:pt x="211332" y="116115"/>
                  <a:pt x="211332" y="116115"/>
                </a:cubicBezTo>
                <a:cubicBezTo>
                  <a:pt x="211332" y="112058"/>
                  <a:pt x="211332" y="107494"/>
                  <a:pt x="207268" y="102931"/>
                </a:cubicBezTo>
                <a:cubicBezTo>
                  <a:pt x="202696" y="93805"/>
                  <a:pt x="202696" y="93805"/>
                  <a:pt x="202696" y="93805"/>
                </a:cubicBezTo>
                <a:cubicBezTo>
                  <a:pt x="229620" y="76058"/>
                  <a:pt x="251972" y="44620"/>
                  <a:pt x="238256" y="4056"/>
                </a:cubicBezTo>
                <a:close/>
                <a:moveTo>
                  <a:pt x="184407" y="125241"/>
                </a:moveTo>
                <a:lnTo>
                  <a:pt x="184407" y="125241"/>
                </a:lnTo>
                <a:cubicBezTo>
                  <a:pt x="175771" y="129804"/>
                  <a:pt x="162055" y="129804"/>
                  <a:pt x="157483" y="116115"/>
                </a:cubicBezTo>
                <a:cubicBezTo>
                  <a:pt x="148847" y="107494"/>
                  <a:pt x="152911" y="98368"/>
                  <a:pt x="162055" y="89240"/>
                </a:cubicBezTo>
                <a:cubicBezTo>
                  <a:pt x="166627" y="85184"/>
                  <a:pt x="175771" y="85184"/>
                  <a:pt x="184407" y="89240"/>
                </a:cubicBezTo>
                <a:cubicBezTo>
                  <a:pt x="180343" y="93805"/>
                  <a:pt x="180343" y="93805"/>
                  <a:pt x="180343" y="93805"/>
                </a:cubicBezTo>
                <a:cubicBezTo>
                  <a:pt x="175771" y="93805"/>
                  <a:pt x="171199" y="98368"/>
                  <a:pt x="175771" y="102931"/>
                </a:cubicBezTo>
                <a:cubicBezTo>
                  <a:pt x="175771" y="107494"/>
                  <a:pt x="180343" y="107494"/>
                  <a:pt x="180343" y="107494"/>
                </a:cubicBezTo>
                <a:cubicBezTo>
                  <a:pt x="184407" y="107494"/>
                  <a:pt x="184407" y="107494"/>
                  <a:pt x="184407" y="107494"/>
                </a:cubicBezTo>
                <a:cubicBezTo>
                  <a:pt x="188979" y="107494"/>
                  <a:pt x="188979" y="107494"/>
                  <a:pt x="193551" y="102931"/>
                </a:cubicBezTo>
                <a:cubicBezTo>
                  <a:pt x="193551" y="112058"/>
                  <a:pt x="188979" y="120678"/>
                  <a:pt x="184407" y="125241"/>
                </a:cubicBezTo>
                <a:close/>
              </a:path>
            </a:pathLst>
          </a:custGeom>
          <a:solidFill>
            <a:srgbClr val="FCFC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0490200" y="1384300"/>
            <a:ext cx="251972" cy="200048"/>
          </a:xfrm>
          <a:custGeom>
            <a:avLst/>
            <a:gdLst/>
            <a:ahLst/>
            <a:cxnLst/>
            <a:rect l="l" t="t" r="r" b="b"/>
            <a:pathLst>
              <a:path w="251972" h="200048">
                <a:moveTo>
                  <a:pt x="125987" y="75395"/>
                </a:moveTo>
                <a:lnTo>
                  <a:pt x="125987" y="75395"/>
                </a:lnTo>
                <a:cubicBezTo>
                  <a:pt x="103125" y="75395"/>
                  <a:pt x="89917" y="88463"/>
                  <a:pt x="89917" y="111082"/>
                </a:cubicBezTo>
                <a:cubicBezTo>
                  <a:pt x="89917" y="133701"/>
                  <a:pt x="103125" y="146769"/>
                  <a:pt x="125987" y="146769"/>
                </a:cubicBezTo>
                <a:cubicBezTo>
                  <a:pt x="148339" y="146769"/>
                  <a:pt x="162055" y="133701"/>
                  <a:pt x="162055" y="111082"/>
                </a:cubicBezTo>
                <a:cubicBezTo>
                  <a:pt x="162055" y="88463"/>
                  <a:pt x="148339" y="75395"/>
                  <a:pt x="125987" y="75395"/>
                </a:cubicBezTo>
                <a:close/>
                <a:moveTo>
                  <a:pt x="224540" y="35184"/>
                </a:moveTo>
                <a:lnTo>
                  <a:pt x="224540" y="35184"/>
                </a:lnTo>
                <a:cubicBezTo>
                  <a:pt x="197615" y="35184"/>
                  <a:pt x="197615" y="35184"/>
                  <a:pt x="197615" y="35184"/>
                </a:cubicBezTo>
                <a:cubicBezTo>
                  <a:pt x="193043" y="35184"/>
                  <a:pt x="188979" y="35184"/>
                  <a:pt x="184407" y="30660"/>
                </a:cubicBezTo>
                <a:cubicBezTo>
                  <a:pt x="179835" y="4021"/>
                  <a:pt x="179835" y="4021"/>
                  <a:pt x="179835" y="4021"/>
                </a:cubicBezTo>
                <a:cubicBezTo>
                  <a:pt x="175263" y="4021"/>
                  <a:pt x="170691" y="0"/>
                  <a:pt x="166119" y="0"/>
                </a:cubicBezTo>
                <a:cubicBezTo>
                  <a:pt x="80773" y="0"/>
                  <a:pt x="80773" y="0"/>
                  <a:pt x="80773" y="0"/>
                </a:cubicBezTo>
                <a:cubicBezTo>
                  <a:pt x="80773" y="0"/>
                  <a:pt x="76201" y="4021"/>
                  <a:pt x="72137" y="4021"/>
                </a:cubicBezTo>
                <a:cubicBezTo>
                  <a:pt x="62485" y="30660"/>
                  <a:pt x="62485" y="30660"/>
                  <a:pt x="62485" y="30660"/>
                </a:cubicBezTo>
                <a:cubicBezTo>
                  <a:pt x="62485" y="35184"/>
                  <a:pt x="58421" y="35184"/>
                  <a:pt x="53849" y="35184"/>
                </a:cubicBezTo>
                <a:cubicBezTo>
                  <a:pt x="26924" y="35184"/>
                  <a:pt x="26924" y="35184"/>
                  <a:pt x="26924" y="35184"/>
                </a:cubicBezTo>
                <a:cubicBezTo>
                  <a:pt x="8636" y="35184"/>
                  <a:pt x="0" y="48755"/>
                  <a:pt x="0" y="61824"/>
                </a:cubicBezTo>
                <a:cubicBezTo>
                  <a:pt x="0" y="173408"/>
                  <a:pt x="0" y="173408"/>
                  <a:pt x="0" y="173408"/>
                </a:cubicBezTo>
                <a:cubicBezTo>
                  <a:pt x="0" y="186980"/>
                  <a:pt x="8636" y="200048"/>
                  <a:pt x="26924" y="200048"/>
                </a:cubicBezTo>
                <a:cubicBezTo>
                  <a:pt x="224540" y="200048"/>
                  <a:pt x="224540" y="200048"/>
                  <a:pt x="224540" y="200048"/>
                </a:cubicBezTo>
                <a:cubicBezTo>
                  <a:pt x="238764" y="200048"/>
                  <a:pt x="251972" y="186980"/>
                  <a:pt x="251972" y="173408"/>
                </a:cubicBezTo>
                <a:cubicBezTo>
                  <a:pt x="251972" y="61824"/>
                  <a:pt x="251972" y="61824"/>
                  <a:pt x="251972" y="61824"/>
                </a:cubicBezTo>
                <a:cubicBezTo>
                  <a:pt x="251972" y="48755"/>
                  <a:pt x="238764" y="35184"/>
                  <a:pt x="224540" y="35184"/>
                </a:cubicBezTo>
                <a:close/>
                <a:moveTo>
                  <a:pt x="125987" y="173408"/>
                </a:moveTo>
                <a:lnTo>
                  <a:pt x="125987" y="173408"/>
                </a:lnTo>
                <a:cubicBezTo>
                  <a:pt x="89917" y="173408"/>
                  <a:pt x="62485" y="146769"/>
                  <a:pt x="62485" y="111082"/>
                </a:cubicBezTo>
                <a:cubicBezTo>
                  <a:pt x="62485" y="75395"/>
                  <a:pt x="89917" y="48755"/>
                  <a:pt x="125987" y="48755"/>
                </a:cubicBezTo>
                <a:cubicBezTo>
                  <a:pt x="162055" y="48755"/>
                  <a:pt x="188979" y="75395"/>
                  <a:pt x="188979" y="111082"/>
                </a:cubicBezTo>
                <a:cubicBezTo>
                  <a:pt x="188979" y="146769"/>
                  <a:pt x="162055" y="173408"/>
                  <a:pt x="125987" y="173408"/>
                </a:cubicBezTo>
                <a:close/>
                <a:moveTo>
                  <a:pt x="215904" y="79919"/>
                </a:moveTo>
                <a:lnTo>
                  <a:pt x="215904" y="79919"/>
                </a:lnTo>
                <a:cubicBezTo>
                  <a:pt x="211332" y="79919"/>
                  <a:pt x="206760" y="75395"/>
                  <a:pt x="206760" y="70871"/>
                </a:cubicBezTo>
                <a:cubicBezTo>
                  <a:pt x="206760" y="66347"/>
                  <a:pt x="211332" y="61824"/>
                  <a:pt x="215904" y="61824"/>
                </a:cubicBezTo>
                <a:cubicBezTo>
                  <a:pt x="219968" y="61824"/>
                  <a:pt x="224540" y="66347"/>
                  <a:pt x="224540" y="70871"/>
                </a:cubicBezTo>
                <a:cubicBezTo>
                  <a:pt x="224540" y="75395"/>
                  <a:pt x="219968" y="79919"/>
                  <a:pt x="215904" y="79919"/>
                </a:cubicBezTo>
                <a:close/>
              </a:path>
            </a:pathLst>
          </a:custGeom>
          <a:solidFill>
            <a:srgbClr val="FCFC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7404100" y="1371600"/>
            <a:ext cx="225111" cy="232279"/>
          </a:xfrm>
          <a:custGeom>
            <a:avLst/>
            <a:gdLst/>
            <a:ahLst/>
            <a:cxnLst/>
            <a:rect l="l" t="t" r="r" b="b"/>
            <a:pathLst>
              <a:path w="225111" h="232279">
                <a:moveTo>
                  <a:pt x="126022" y="169800"/>
                </a:moveTo>
                <a:lnTo>
                  <a:pt x="126022" y="169800"/>
                </a:lnTo>
                <a:cubicBezTo>
                  <a:pt x="126022" y="152165"/>
                  <a:pt x="139742" y="142592"/>
                  <a:pt x="162610" y="129492"/>
                </a:cubicBezTo>
                <a:cubicBezTo>
                  <a:pt x="189541" y="111352"/>
                  <a:pt x="225111" y="89183"/>
                  <a:pt x="225111" y="35775"/>
                </a:cubicBezTo>
                <a:cubicBezTo>
                  <a:pt x="225111" y="31239"/>
                  <a:pt x="220538" y="26704"/>
                  <a:pt x="216473" y="26704"/>
                </a:cubicBezTo>
                <a:cubicBezTo>
                  <a:pt x="175821" y="26704"/>
                  <a:pt x="175821" y="26704"/>
                  <a:pt x="175821" y="26704"/>
                </a:cubicBezTo>
                <a:cubicBezTo>
                  <a:pt x="166675" y="13604"/>
                  <a:pt x="148888" y="0"/>
                  <a:pt x="112810" y="0"/>
                </a:cubicBezTo>
                <a:cubicBezTo>
                  <a:pt x="76731" y="0"/>
                  <a:pt x="58946" y="13604"/>
                  <a:pt x="49799" y="26704"/>
                </a:cubicBezTo>
                <a:cubicBezTo>
                  <a:pt x="9147" y="26704"/>
                  <a:pt x="9147" y="26704"/>
                  <a:pt x="9147" y="26704"/>
                </a:cubicBezTo>
                <a:cubicBezTo>
                  <a:pt x="4573" y="26704"/>
                  <a:pt x="0" y="31239"/>
                  <a:pt x="0" y="35775"/>
                </a:cubicBezTo>
                <a:cubicBezTo>
                  <a:pt x="0" y="89183"/>
                  <a:pt x="31505" y="111352"/>
                  <a:pt x="63011" y="129492"/>
                </a:cubicBezTo>
                <a:cubicBezTo>
                  <a:pt x="85877" y="142592"/>
                  <a:pt x="99090" y="152165"/>
                  <a:pt x="99090" y="169800"/>
                </a:cubicBezTo>
                <a:cubicBezTo>
                  <a:pt x="99090" y="187435"/>
                  <a:pt x="99090" y="187435"/>
                  <a:pt x="99090" y="187435"/>
                </a:cubicBezTo>
                <a:cubicBezTo>
                  <a:pt x="72158" y="191971"/>
                  <a:pt x="54373" y="201040"/>
                  <a:pt x="54373" y="209606"/>
                </a:cubicBezTo>
                <a:cubicBezTo>
                  <a:pt x="54373" y="223210"/>
                  <a:pt x="81304" y="232279"/>
                  <a:pt x="112810" y="232279"/>
                </a:cubicBezTo>
                <a:cubicBezTo>
                  <a:pt x="143807" y="232279"/>
                  <a:pt x="166675" y="223210"/>
                  <a:pt x="166675" y="209606"/>
                </a:cubicBezTo>
                <a:cubicBezTo>
                  <a:pt x="166675" y="201040"/>
                  <a:pt x="153462" y="191971"/>
                  <a:pt x="126022" y="187435"/>
                </a:cubicBezTo>
                <a:lnTo>
                  <a:pt x="126022" y="169800"/>
                </a:lnTo>
                <a:close/>
                <a:moveTo>
                  <a:pt x="162610" y="106818"/>
                </a:moveTo>
                <a:lnTo>
                  <a:pt x="162610" y="106818"/>
                </a:lnTo>
                <a:cubicBezTo>
                  <a:pt x="171248" y="93718"/>
                  <a:pt x="175821" y="71548"/>
                  <a:pt x="175821" y="44844"/>
                </a:cubicBezTo>
                <a:cubicBezTo>
                  <a:pt x="207326" y="44844"/>
                  <a:pt x="207326" y="44844"/>
                  <a:pt x="207326" y="44844"/>
                </a:cubicBezTo>
                <a:cubicBezTo>
                  <a:pt x="202753" y="76083"/>
                  <a:pt x="184968" y="93718"/>
                  <a:pt x="162610" y="106818"/>
                </a:cubicBezTo>
                <a:close/>
                <a:moveTo>
                  <a:pt x="112810" y="18139"/>
                </a:moveTo>
                <a:lnTo>
                  <a:pt x="112810" y="18139"/>
                </a:lnTo>
                <a:cubicBezTo>
                  <a:pt x="148888" y="18139"/>
                  <a:pt x="162610" y="31239"/>
                  <a:pt x="162610" y="35775"/>
                </a:cubicBezTo>
                <a:cubicBezTo>
                  <a:pt x="162610" y="40309"/>
                  <a:pt x="148888" y="53409"/>
                  <a:pt x="112810" y="57944"/>
                </a:cubicBezTo>
                <a:cubicBezTo>
                  <a:pt x="76731" y="53409"/>
                  <a:pt x="63011" y="40309"/>
                  <a:pt x="63011" y="35775"/>
                </a:cubicBezTo>
                <a:cubicBezTo>
                  <a:pt x="63011" y="31239"/>
                  <a:pt x="76731" y="18139"/>
                  <a:pt x="112810" y="18139"/>
                </a:cubicBezTo>
                <a:close/>
                <a:moveTo>
                  <a:pt x="18293" y="44844"/>
                </a:moveTo>
                <a:lnTo>
                  <a:pt x="18293" y="44844"/>
                </a:lnTo>
                <a:cubicBezTo>
                  <a:pt x="49799" y="44844"/>
                  <a:pt x="49799" y="44844"/>
                  <a:pt x="49799" y="44844"/>
                </a:cubicBezTo>
                <a:cubicBezTo>
                  <a:pt x="49799" y="71548"/>
                  <a:pt x="54373" y="93718"/>
                  <a:pt x="63011" y="106818"/>
                </a:cubicBezTo>
                <a:cubicBezTo>
                  <a:pt x="40653" y="93718"/>
                  <a:pt x="18293" y="76083"/>
                  <a:pt x="18293" y="44844"/>
                </a:cubicBezTo>
                <a:close/>
              </a:path>
            </a:pathLst>
          </a:custGeom>
          <a:solidFill>
            <a:srgbClr val="FCFC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565900" y="520700"/>
            <a:ext cx="11303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SaaS订阅服务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10350" y="730250"/>
            <a:ext cx="1041400" cy="812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800" b="0" i="0" u="none" strike="noStrike" dirty="0" err="1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按高校</a:t>
            </a:r>
            <a:r>
              <a:rPr lang="en-US" sz="800" b="0" i="0" u="none" strike="noStrike" dirty="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800" b="0" i="0" u="none" strike="noStrike" dirty="0" err="1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班级规模收取年度平台授权与算力服务费，构建稳定的核心现金流，保障业务长效运转</a:t>
            </a:r>
            <a:r>
              <a:rPr lang="en-US" sz="800" b="0" i="0" u="none" strike="noStrike" dirty="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8077200" y="520700"/>
            <a:ext cx="12446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1" i="0" u="none" strike="noStrike" dirty="0" err="1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私有化部署定制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8077200" y="812800"/>
            <a:ext cx="1041400" cy="812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8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面向头部三甲医院与医学院，提供本地化部署方案和专属医学知识库定制，获取高客单价收益。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613900" y="520700"/>
            <a:ext cx="11303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科研联合申报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613900" y="812800"/>
            <a:ext cx="1041400" cy="812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8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联合高校申报国家级教改课题，共享课题经费与学术成果，实现科研资源的商业价值变现。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69900" y="5054600"/>
            <a:ext cx="4546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0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商业模式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09600" y="4889500"/>
            <a:ext cx="8001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1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BUSINESS MODEL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10771589">
            <a:off x="660374" y="5137150"/>
            <a:ext cx="15367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C9C9">
                <a:alpha val="28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33" name="Connector 33"/>
          <p:cNvCxnSpPr/>
          <p:nvPr/>
        </p:nvCxnSpPr>
        <p:spPr>
          <a:xfrm rot="10473027">
            <a:off x="660098" y="5143507"/>
            <a:ext cx="26700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CDD6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 rot="10800000" flipV="1">
            <a:off x="2095500" y="4965700"/>
            <a:ext cx="101600" cy="101600"/>
          </a:xfrm>
          <a:prstGeom prst="plus">
            <a:avLst>
              <a:gd name="adj" fmla="val 37500"/>
            </a:avLst>
          </a:prstGeom>
          <a:solidFill>
            <a:srgbClr val="27CDD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09600" y="6011042"/>
            <a:ext cx="2998905" cy="7477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1BACE3"/>
                </a:solidFill>
                <a:latin typeface="微软雅黑"/>
                <a:ea typeface="微软雅黑"/>
                <a:cs typeface="微软雅黑"/>
                <a:sym typeface="微软雅黑"/>
              </a:rPr>
              <a:t>SaaS订阅打底构筑现金流</a:t>
            </a:r>
            <a:endParaRPr lang="en-US" sz="1400" b="0" i="0" u="none" strike="noStrike" dirty="0">
              <a:solidFill>
                <a:srgbClr val="1BACE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1BACE3"/>
                </a:solidFill>
                <a:latin typeface="微软雅黑"/>
                <a:ea typeface="微软雅黑"/>
                <a:cs typeface="微软雅黑"/>
                <a:sym typeface="微软雅黑"/>
              </a:rPr>
              <a:t>数据生态筑墙建立竞争壁垒</a:t>
            </a:r>
            <a:endParaRPr lang="en-US" dirty="0">
              <a:solidFill>
                <a:srgbClr val="1BACE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1BACE3"/>
                </a:solidFill>
                <a:latin typeface="微软雅黑"/>
                <a:ea typeface="微软雅黑"/>
                <a:cs typeface="微软雅黑"/>
                <a:sym typeface="微软雅黑"/>
              </a:rPr>
              <a:t>打造智慧医疗教育可持续发展闭环</a:t>
            </a:r>
            <a:r>
              <a:rPr lang="en-US" sz="1400" b="0" i="0" u="none" strike="noStrike" dirty="0">
                <a:solidFill>
                  <a:srgbClr val="1BACE3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</p:txBody>
      </p:sp>
      <p:sp>
        <p:nvSpPr>
          <p:cNvPr id="36" name="AutoShape 36"/>
          <p:cNvSpPr/>
          <p:nvPr/>
        </p:nvSpPr>
        <p:spPr>
          <a:xfrm>
            <a:off x="7861300" y="3365500"/>
            <a:ext cx="3149600" cy="73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【数据飞轮壁垒】学生训练频次越高，AI导师对学习习惯的研判越精准，教学效果持续提升，形成“使用-优化-再使用”的正向增强循环，锁定用户粘性。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835900" y="4406900"/>
            <a:ext cx="3149600" cy="73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【内容生态壁垒】打造“病例广场”，汇聚教师UGC与专家PGC双源内容，沉淀海量医学案例资产库。内容资产随用户增长不断增厚，构建难以复制的知识护城河。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7861300" y="5372100"/>
            <a:ext cx="3149600" cy="73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通过盈利模式的多元化布局与核心壁垒的双重构建，实现商业价值与行业价值的深度融合，确立在智慧医学教育领域的领先地位，驱动业务长期增长。</a:t>
            </a:r>
            <a:endParaRPr lang="en-US" sz="1100"/>
          </a:p>
        </p:txBody>
      </p:sp>
      <p:sp>
        <p:nvSpPr>
          <p:cNvPr id="39" name="Freeform 39"/>
          <p:cNvSpPr/>
          <p:nvPr/>
        </p:nvSpPr>
        <p:spPr>
          <a:xfrm>
            <a:off x="6921500" y="3454400"/>
            <a:ext cx="445552" cy="445552"/>
          </a:xfrm>
          <a:custGeom>
            <a:avLst/>
            <a:gdLst/>
            <a:ahLst/>
            <a:cxnLst/>
            <a:rect l="l" t="t" r="r" b="b"/>
            <a:pathLst>
              <a:path w="445552" h="445552">
                <a:moveTo>
                  <a:pt x="272556" y="87005"/>
                </a:moveTo>
                <a:lnTo>
                  <a:pt x="266469" y="87512"/>
                </a:lnTo>
                <a:lnTo>
                  <a:pt x="260634" y="88654"/>
                </a:lnTo>
                <a:lnTo>
                  <a:pt x="254927" y="90429"/>
                </a:lnTo>
                <a:lnTo>
                  <a:pt x="249347" y="92713"/>
                </a:lnTo>
                <a:lnTo>
                  <a:pt x="244147" y="95630"/>
                </a:lnTo>
                <a:lnTo>
                  <a:pt x="239074" y="99054"/>
                </a:lnTo>
                <a:lnTo>
                  <a:pt x="234508" y="103240"/>
                </a:lnTo>
                <a:lnTo>
                  <a:pt x="113386" y="224361"/>
                </a:lnTo>
                <a:lnTo>
                  <a:pt x="129747" y="240722"/>
                </a:lnTo>
                <a:lnTo>
                  <a:pt x="250868" y="119600"/>
                </a:lnTo>
                <a:lnTo>
                  <a:pt x="254547" y="116557"/>
                </a:lnTo>
                <a:lnTo>
                  <a:pt x="258225" y="114146"/>
                </a:lnTo>
                <a:lnTo>
                  <a:pt x="262410" y="112244"/>
                </a:lnTo>
                <a:lnTo>
                  <a:pt x="266976" y="110849"/>
                </a:lnTo>
                <a:lnTo>
                  <a:pt x="271543" y="110214"/>
                </a:lnTo>
                <a:lnTo>
                  <a:pt x="276235" y="110087"/>
                </a:lnTo>
                <a:lnTo>
                  <a:pt x="281054" y="110468"/>
                </a:lnTo>
                <a:lnTo>
                  <a:pt x="286000" y="111356"/>
                </a:lnTo>
                <a:lnTo>
                  <a:pt x="290693" y="112879"/>
                </a:lnTo>
                <a:lnTo>
                  <a:pt x="295385" y="115034"/>
                </a:lnTo>
                <a:lnTo>
                  <a:pt x="299951" y="117572"/>
                </a:lnTo>
                <a:lnTo>
                  <a:pt x="304264" y="120868"/>
                </a:lnTo>
                <a:lnTo>
                  <a:pt x="308449" y="124546"/>
                </a:lnTo>
                <a:lnTo>
                  <a:pt x="312381" y="128985"/>
                </a:lnTo>
                <a:lnTo>
                  <a:pt x="315806" y="133805"/>
                </a:lnTo>
                <a:lnTo>
                  <a:pt x="318596" y="138751"/>
                </a:lnTo>
                <a:lnTo>
                  <a:pt x="320625" y="144078"/>
                </a:lnTo>
                <a:lnTo>
                  <a:pt x="322147" y="149405"/>
                </a:lnTo>
                <a:lnTo>
                  <a:pt x="322781" y="154986"/>
                </a:lnTo>
                <a:lnTo>
                  <a:pt x="322781" y="160312"/>
                </a:lnTo>
                <a:lnTo>
                  <a:pt x="322274" y="165259"/>
                </a:lnTo>
                <a:lnTo>
                  <a:pt x="320878" y="169951"/>
                </a:lnTo>
                <a:lnTo>
                  <a:pt x="319103" y="174390"/>
                </a:lnTo>
                <a:lnTo>
                  <a:pt x="316440" y="178449"/>
                </a:lnTo>
                <a:lnTo>
                  <a:pt x="313395" y="182127"/>
                </a:lnTo>
                <a:lnTo>
                  <a:pt x="166907" y="328488"/>
                </a:lnTo>
                <a:lnTo>
                  <a:pt x="163990" y="330898"/>
                </a:lnTo>
                <a:lnTo>
                  <a:pt x="160820" y="332547"/>
                </a:lnTo>
                <a:lnTo>
                  <a:pt x="157269" y="333816"/>
                </a:lnTo>
                <a:lnTo>
                  <a:pt x="153464" y="334322"/>
                </a:lnTo>
                <a:lnTo>
                  <a:pt x="149785" y="334195"/>
                </a:lnTo>
                <a:lnTo>
                  <a:pt x="145854" y="333435"/>
                </a:lnTo>
                <a:lnTo>
                  <a:pt x="141922" y="332293"/>
                </a:lnTo>
                <a:lnTo>
                  <a:pt x="137991" y="330390"/>
                </a:lnTo>
                <a:lnTo>
                  <a:pt x="134440" y="327981"/>
                </a:lnTo>
                <a:lnTo>
                  <a:pt x="131014" y="324937"/>
                </a:lnTo>
                <a:lnTo>
                  <a:pt x="127972" y="321640"/>
                </a:lnTo>
                <a:lnTo>
                  <a:pt x="125561" y="317835"/>
                </a:lnTo>
                <a:lnTo>
                  <a:pt x="123659" y="313903"/>
                </a:lnTo>
                <a:lnTo>
                  <a:pt x="122517" y="309717"/>
                </a:lnTo>
                <a:lnTo>
                  <a:pt x="121756" y="305533"/>
                </a:lnTo>
                <a:lnTo>
                  <a:pt x="121756" y="301728"/>
                </a:lnTo>
                <a:lnTo>
                  <a:pt x="122517" y="298176"/>
                </a:lnTo>
                <a:lnTo>
                  <a:pt x="123659" y="294752"/>
                </a:lnTo>
                <a:lnTo>
                  <a:pt x="125307" y="291708"/>
                </a:lnTo>
                <a:lnTo>
                  <a:pt x="127591" y="289044"/>
                </a:lnTo>
                <a:lnTo>
                  <a:pt x="127591" y="289044"/>
                </a:lnTo>
                <a:lnTo>
                  <a:pt x="270781" y="145854"/>
                </a:lnTo>
                <a:lnTo>
                  <a:pt x="272303" y="144713"/>
                </a:lnTo>
                <a:lnTo>
                  <a:pt x="274079" y="144078"/>
                </a:lnTo>
                <a:lnTo>
                  <a:pt x="276108" y="143952"/>
                </a:lnTo>
                <a:lnTo>
                  <a:pt x="278263" y="144205"/>
                </a:lnTo>
                <a:lnTo>
                  <a:pt x="280420" y="144967"/>
                </a:lnTo>
                <a:lnTo>
                  <a:pt x="282449" y="146107"/>
                </a:lnTo>
                <a:lnTo>
                  <a:pt x="284352" y="147757"/>
                </a:lnTo>
                <a:lnTo>
                  <a:pt x="286381" y="150293"/>
                </a:lnTo>
                <a:lnTo>
                  <a:pt x="287776" y="152956"/>
                </a:lnTo>
                <a:lnTo>
                  <a:pt x="288284" y="155746"/>
                </a:lnTo>
                <a:lnTo>
                  <a:pt x="288284" y="157015"/>
                </a:lnTo>
                <a:lnTo>
                  <a:pt x="288030" y="158537"/>
                </a:lnTo>
                <a:lnTo>
                  <a:pt x="287396" y="159932"/>
                </a:lnTo>
                <a:lnTo>
                  <a:pt x="286381" y="161327"/>
                </a:lnTo>
                <a:lnTo>
                  <a:pt x="168683" y="279151"/>
                </a:lnTo>
                <a:lnTo>
                  <a:pt x="184917" y="295512"/>
                </a:lnTo>
                <a:lnTo>
                  <a:pt x="302743" y="177688"/>
                </a:lnTo>
                <a:lnTo>
                  <a:pt x="305533" y="174390"/>
                </a:lnTo>
                <a:lnTo>
                  <a:pt x="307815" y="170966"/>
                </a:lnTo>
                <a:lnTo>
                  <a:pt x="309463" y="167034"/>
                </a:lnTo>
                <a:lnTo>
                  <a:pt x="310732" y="162975"/>
                </a:lnTo>
                <a:lnTo>
                  <a:pt x="311366" y="158664"/>
                </a:lnTo>
                <a:lnTo>
                  <a:pt x="311366" y="154225"/>
                </a:lnTo>
                <a:lnTo>
                  <a:pt x="310732" y="149151"/>
                </a:lnTo>
                <a:lnTo>
                  <a:pt x="309211" y="144332"/>
                </a:lnTo>
                <a:lnTo>
                  <a:pt x="307054" y="139766"/>
                </a:lnTo>
                <a:lnTo>
                  <a:pt x="304137" y="135454"/>
                </a:lnTo>
                <a:lnTo>
                  <a:pt x="300840" y="131395"/>
                </a:lnTo>
                <a:lnTo>
                  <a:pt x="296908" y="128097"/>
                </a:lnTo>
                <a:lnTo>
                  <a:pt x="292849" y="125434"/>
                </a:lnTo>
                <a:lnTo>
                  <a:pt x="288538" y="123278"/>
                </a:lnTo>
                <a:lnTo>
                  <a:pt x="284098" y="121756"/>
                </a:lnTo>
                <a:lnTo>
                  <a:pt x="279532" y="120995"/>
                </a:lnTo>
                <a:lnTo>
                  <a:pt x="274839" y="120868"/>
                </a:lnTo>
                <a:lnTo>
                  <a:pt x="270401" y="121249"/>
                </a:lnTo>
                <a:lnTo>
                  <a:pt x="265961" y="122264"/>
                </a:lnTo>
                <a:lnTo>
                  <a:pt x="261903" y="124040"/>
                </a:lnTo>
                <a:lnTo>
                  <a:pt x="257971" y="126322"/>
                </a:lnTo>
                <a:lnTo>
                  <a:pt x="254547" y="129493"/>
                </a:lnTo>
                <a:lnTo>
                  <a:pt x="109708" y="274079"/>
                </a:lnTo>
                <a:lnTo>
                  <a:pt x="109962" y="274206"/>
                </a:lnTo>
                <a:lnTo>
                  <a:pt x="106663" y="278138"/>
                </a:lnTo>
                <a:lnTo>
                  <a:pt x="104127" y="282322"/>
                </a:lnTo>
                <a:lnTo>
                  <a:pt x="101971" y="286888"/>
                </a:lnTo>
                <a:lnTo>
                  <a:pt x="100322" y="291581"/>
                </a:lnTo>
                <a:lnTo>
                  <a:pt x="99181" y="296654"/>
                </a:lnTo>
                <a:lnTo>
                  <a:pt x="98674" y="301728"/>
                </a:lnTo>
                <a:lnTo>
                  <a:pt x="98674" y="307054"/>
                </a:lnTo>
                <a:lnTo>
                  <a:pt x="99435" y="312381"/>
                </a:lnTo>
                <a:lnTo>
                  <a:pt x="100576" y="317708"/>
                </a:lnTo>
                <a:lnTo>
                  <a:pt x="102352" y="322908"/>
                </a:lnTo>
                <a:lnTo>
                  <a:pt x="104761" y="327854"/>
                </a:lnTo>
                <a:lnTo>
                  <a:pt x="107424" y="332674"/>
                </a:lnTo>
                <a:lnTo>
                  <a:pt x="110849" y="337113"/>
                </a:lnTo>
                <a:lnTo>
                  <a:pt x="114654" y="341299"/>
                </a:lnTo>
                <a:lnTo>
                  <a:pt x="119347" y="345483"/>
                </a:lnTo>
                <a:lnTo>
                  <a:pt x="124546" y="349161"/>
                </a:lnTo>
                <a:lnTo>
                  <a:pt x="129747" y="352078"/>
                </a:lnTo>
                <a:lnTo>
                  <a:pt x="135200" y="354362"/>
                </a:lnTo>
                <a:lnTo>
                  <a:pt x="140781" y="356010"/>
                </a:lnTo>
                <a:lnTo>
                  <a:pt x="146488" y="357025"/>
                </a:lnTo>
                <a:lnTo>
                  <a:pt x="152196" y="357406"/>
                </a:lnTo>
                <a:lnTo>
                  <a:pt x="157649" y="357025"/>
                </a:lnTo>
                <a:lnTo>
                  <a:pt x="163102" y="356010"/>
                </a:lnTo>
                <a:lnTo>
                  <a:pt x="168176" y="354362"/>
                </a:lnTo>
                <a:lnTo>
                  <a:pt x="173250" y="352205"/>
                </a:lnTo>
                <a:lnTo>
                  <a:pt x="177942" y="349288"/>
                </a:lnTo>
                <a:lnTo>
                  <a:pt x="182254" y="345737"/>
                </a:lnTo>
                <a:lnTo>
                  <a:pt x="182254" y="345737"/>
                </a:lnTo>
                <a:lnTo>
                  <a:pt x="183269" y="344976"/>
                </a:lnTo>
                <a:lnTo>
                  <a:pt x="183396" y="344849"/>
                </a:lnTo>
                <a:lnTo>
                  <a:pt x="183396" y="344849"/>
                </a:lnTo>
                <a:lnTo>
                  <a:pt x="329757" y="198488"/>
                </a:lnTo>
                <a:lnTo>
                  <a:pt x="333816" y="193923"/>
                </a:lnTo>
                <a:lnTo>
                  <a:pt x="337240" y="188849"/>
                </a:lnTo>
                <a:lnTo>
                  <a:pt x="340284" y="183650"/>
                </a:lnTo>
                <a:lnTo>
                  <a:pt x="342566" y="178068"/>
                </a:lnTo>
                <a:lnTo>
                  <a:pt x="344468" y="172235"/>
                </a:lnTo>
                <a:lnTo>
                  <a:pt x="345483" y="166146"/>
                </a:lnTo>
                <a:lnTo>
                  <a:pt x="345991" y="159932"/>
                </a:lnTo>
                <a:lnTo>
                  <a:pt x="345864" y="153464"/>
                </a:lnTo>
                <a:lnTo>
                  <a:pt x="345103" y="146361"/>
                </a:lnTo>
                <a:lnTo>
                  <a:pt x="343454" y="139385"/>
                </a:lnTo>
                <a:lnTo>
                  <a:pt x="341045" y="132537"/>
                </a:lnTo>
                <a:lnTo>
                  <a:pt x="338127" y="125942"/>
                </a:lnTo>
                <a:lnTo>
                  <a:pt x="334322" y="119600"/>
                </a:lnTo>
                <a:lnTo>
                  <a:pt x="329884" y="113640"/>
                </a:lnTo>
                <a:lnTo>
                  <a:pt x="324810" y="108185"/>
                </a:lnTo>
                <a:lnTo>
                  <a:pt x="319738" y="103619"/>
                </a:lnTo>
                <a:lnTo>
                  <a:pt x="314283" y="99562"/>
                </a:lnTo>
                <a:lnTo>
                  <a:pt x="308830" y="96009"/>
                </a:lnTo>
                <a:lnTo>
                  <a:pt x="302995" y="92967"/>
                </a:lnTo>
                <a:lnTo>
                  <a:pt x="297035" y="90556"/>
                </a:lnTo>
                <a:lnTo>
                  <a:pt x="290947" y="88781"/>
                </a:lnTo>
                <a:lnTo>
                  <a:pt x="284733" y="87639"/>
                </a:lnTo>
                <a:lnTo>
                  <a:pt x="278644" y="87132"/>
                </a:lnTo>
                <a:lnTo>
                  <a:pt x="272556" y="87005"/>
                </a:lnTo>
                <a:close/>
                <a:moveTo>
                  <a:pt x="222585" y="0"/>
                </a:moveTo>
                <a:lnTo>
                  <a:pt x="236284" y="381"/>
                </a:lnTo>
                <a:lnTo>
                  <a:pt x="249601" y="1648"/>
                </a:lnTo>
                <a:lnTo>
                  <a:pt x="262918" y="3678"/>
                </a:lnTo>
                <a:lnTo>
                  <a:pt x="275727" y="6341"/>
                </a:lnTo>
                <a:lnTo>
                  <a:pt x="288284" y="9766"/>
                </a:lnTo>
                <a:lnTo>
                  <a:pt x="300586" y="13951"/>
                </a:lnTo>
                <a:lnTo>
                  <a:pt x="312381" y="18771"/>
                </a:lnTo>
                <a:lnTo>
                  <a:pt x="324049" y="24351"/>
                </a:lnTo>
                <a:lnTo>
                  <a:pt x="335210" y="30439"/>
                </a:lnTo>
                <a:lnTo>
                  <a:pt x="345991" y="37161"/>
                </a:lnTo>
                <a:lnTo>
                  <a:pt x="356391" y="44517"/>
                </a:lnTo>
                <a:lnTo>
                  <a:pt x="366283" y="52381"/>
                </a:lnTo>
                <a:lnTo>
                  <a:pt x="375796" y="60879"/>
                </a:lnTo>
                <a:lnTo>
                  <a:pt x="384674" y="69756"/>
                </a:lnTo>
                <a:lnTo>
                  <a:pt x="393172" y="79268"/>
                </a:lnTo>
                <a:lnTo>
                  <a:pt x="401034" y="89162"/>
                </a:lnTo>
                <a:lnTo>
                  <a:pt x="408391" y="99562"/>
                </a:lnTo>
                <a:lnTo>
                  <a:pt x="415113" y="110341"/>
                </a:lnTo>
                <a:lnTo>
                  <a:pt x="421201" y="121502"/>
                </a:lnTo>
                <a:lnTo>
                  <a:pt x="426781" y="133171"/>
                </a:lnTo>
                <a:lnTo>
                  <a:pt x="431601" y="144967"/>
                </a:lnTo>
                <a:lnTo>
                  <a:pt x="435787" y="157269"/>
                </a:lnTo>
                <a:lnTo>
                  <a:pt x="439210" y="169824"/>
                </a:lnTo>
                <a:lnTo>
                  <a:pt x="441874" y="182635"/>
                </a:lnTo>
                <a:lnTo>
                  <a:pt x="443903" y="195952"/>
                </a:lnTo>
                <a:lnTo>
                  <a:pt x="445172" y="209142"/>
                </a:lnTo>
                <a:lnTo>
                  <a:pt x="445552" y="222585"/>
                </a:lnTo>
                <a:lnTo>
                  <a:pt x="445172" y="236284"/>
                </a:lnTo>
                <a:lnTo>
                  <a:pt x="443903" y="249601"/>
                </a:lnTo>
                <a:lnTo>
                  <a:pt x="441874" y="262918"/>
                </a:lnTo>
                <a:lnTo>
                  <a:pt x="439210" y="275727"/>
                </a:lnTo>
                <a:lnTo>
                  <a:pt x="435787" y="288284"/>
                </a:lnTo>
                <a:lnTo>
                  <a:pt x="431601" y="300586"/>
                </a:lnTo>
                <a:lnTo>
                  <a:pt x="426781" y="312381"/>
                </a:lnTo>
                <a:lnTo>
                  <a:pt x="421201" y="324049"/>
                </a:lnTo>
                <a:lnTo>
                  <a:pt x="415113" y="335210"/>
                </a:lnTo>
                <a:lnTo>
                  <a:pt x="408391" y="345991"/>
                </a:lnTo>
                <a:lnTo>
                  <a:pt x="401034" y="356391"/>
                </a:lnTo>
                <a:lnTo>
                  <a:pt x="393172" y="366283"/>
                </a:lnTo>
                <a:lnTo>
                  <a:pt x="384674" y="375796"/>
                </a:lnTo>
                <a:lnTo>
                  <a:pt x="375796" y="384674"/>
                </a:lnTo>
                <a:lnTo>
                  <a:pt x="366283" y="393172"/>
                </a:lnTo>
                <a:lnTo>
                  <a:pt x="356391" y="401034"/>
                </a:lnTo>
                <a:lnTo>
                  <a:pt x="345991" y="408391"/>
                </a:lnTo>
                <a:lnTo>
                  <a:pt x="335210" y="415113"/>
                </a:lnTo>
                <a:lnTo>
                  <a:pt x="324049" y="421201"/>
                </a:lnTo>
                <a:lnTo>
                  <a:pt x="312381" y="426781"/>
                </a:lnTo>
                <a:lnTo>
                  <a:pt x="300586" y="431601"/>
                </a:lnTo>
                <a:lnTo>
                  <a:pt x="288284" y="435787"/>
                </a:lnTo>
                <a:lnTo>
                  <a:pt x="275727" y="439210"/>
                </a:lnTo>
                <a:lnTo>
                  <a:pt x="262918" y="441874"/>
                </a:lnTo>
                <a:lnTo>
                  <a:pt x="249601" y="443903"/>
                </a:lnTo>
                <a:lnTo>
                  <a:pt x="236284" y="445172"/>
                </a:lnTo>
                <a:lnTo>
                  <a:pt x="222585" y="445552"/>
                </a:lnTo>
                <a:lnTo>
                  <a:pt x="209142" y="445172"/>
                </a:lnTo>
                <a:lnTo>
                  <a:pt x="195952" y="443903"/>
                </a:lnTo>
                <a:lnTo>
                  <a:pt x="182635" y="441874"/>
                </a:lnTo>
                <a:lnTo>
                  <a:pt x="169824" y="439210"/>
                </a:lnTo>
                <a:lnTo>
                  <a:pt x="157269" y="435787"/>
                </a:lnTo>
                <a:lnTo>
                  <a:pt x="144967" y="431601"/>
                </a:lnTo>
                <a:lnTo>
                  <a:pt x="133171" y="426781"/>
                </a:lnTo>
                <a:lnTo>
                  <a:pt x="121502" y="421201"/>
                </a:lnTo>
                <a:lnTo>
                  <a:pt x="110341" y="415113"/>
                </a:lnTo>
                <a:lnTo>
                  <a:pt x="99562" y="408391"/>
                </a:lnTo>
                <a:lnTo>
                  <a:pt x="89162" y="401034"/>
                </a:lnTo>
                <a:lnTo>
                  <a:pt x="79268" y="393172"/>
                </a:lnTo>
                <a:lnTo>
                  <a:pt x="69756" y="384674"/>
                </a:lnTo>
                <a:lnTo>
                  <a:pt x="60879" y="375796"/>
                </a:lnTo>
                <a:lnTo>
                  <a:pt x="52381" y="366283"/>
                </a:lnTo>
                <a:lnTo>
                  <a:pt x="44517" y="356391"/>
                </a:lnTo>
                <a:lnTo>
                  <a:pt x="37161" y="345991"/>
                </a:lnTo>
                <a:lnTo>
                  <a:pt x="30439" y="335210"/>
                </a:lnTo>
                <a:lnTo>
                  <a:pt x="24351" y="324049"/>
                </a:lnTo>
                <a:lnTo>
                  <a:pt x="18771" y="312381"/>
                </a:lnTo>
                <a:lnTo>
                  <a:pt x="13951" y="300586"/>
                </a:lnTo>
                <a:lnTo>
                  <a:pt x="9766" y="288284"/>
                </a:lnTo>
                <a:lnTo>
                  <a:pt x="6341" y="275727"/>
                </a:lnTo>
                <a:lnTo>
                  <a:pt x="3678" y="262918"/>
                </a:lnTo>
                <a:lnTo>
                  <a:pt x="1648" y="249601"/>
                </a:lnTo>
                <a:lnTo>
                  <a:pt x="381" y="236284"/>
                </a:lnTo>
                <a:lnTo>
                  <a:pt x="0" y="222585"/>
                </a:lnTo>
                <a:lnTo>
                  <a:pt x="381" y="209142"/>
                </a:lnTo>
                <a:lnTo>
                  <a:pt x="1648" y="195952"/>
                </a:lnTo>
                <a:lnTo>
                  <a:pt x="3678" y="182635"/>
                </a:lnTo>
                <a:lnTo>
                  <a:pt x="6341" y="169824"/>
                </a:lnTo>
                <a:lnTo>
                  <a:pt x="9766" y="157269"/>
                </a:lnTo>
                <a:lnTo>
                  <a:pt x="13951" y="144967"/>
                </a:lnTo>
                <a:lnTo>
                  <a:pt x="18771" y="133171"/>
                </a:lnTo>
                <a:lnTo>
                  <a:pt x="24351" y="121502"/>
                </a:lnTo>
                <a:lnTo>
                  <a:pt x="30439" y="110341"/>
                </a:lnTo>
                <a:lnTo>
                  <a:pt x="37161" y="99562"/>
                </a:lnTo>
                <a:lnTo>
                  <a:pt x="44517" y="89162"/>
                </a:lnTo>
                <a:lnTo>
                  <a:pt x="52381" y="79268"/>
                </a:lnTo>
                <a:lnTo>
                  <a:pt x="60879" y="69756"/>
                </a:lnTo>
                <a:lnTo>
                  <a:pt x="69756" y="60879"/>
                </a:lnTo>
                <a:lnTo>
                  <a:pt x="79268" y="52381"/>
                </a:lnTo>
                <a:lnTo>
                  <a:pt x="89162" y="44517"/>
                </a:lnTo>
                <a:lnTo>
                  <a:pt x="99562" y="37161"/>
                </a:lnTo>
                <a:lnTo>
                  <a:pt x="110341" y="30439"/>
                </a:lnTo>
                <a:lnTo>
                  <a:pt x="121502" y="24351"/>
                </a:lnTo>
                <a:lnTo>
                  <a:pt x="133171" y="18771"/>
                </a:lnTo>
                <a:lnTo>
                  <a:pt x="144967" y="13951"/>
                </a:lnTo>
                <a:lnTo>
                  <a:pt x="157269" y="9766"/>
                </a:lnTo>
                <a:lnTo>
                  <a:pt x="169824" y="6341"/>
                </a:lnTo>
                <a:lnTo>
                  <a:pt x="182635" y="3678"/>
                </a:lnTo>
                <a:lnTo>
                  <a:pt x="195952" y="1648"/>
                </a:lnTo>
                <a:lnTo>
                  <a:pt x="209142" y="381"/>
                </a:lnTo>
                <a:lnTo>
                  <a:pt x="222585" y="0"/>
                </a:lnTo>
                <a:close/>
              </a:path>
            </a:pathLst>
          </a:custGeom>
          <a:solidFill>
            <a:srgbClr val="FDFD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6921500" y="4533900"/>
            <a:ext cx="500935" cy="441123"/>
          </a:xfrm>
          <a:custGeom>
            <a:avLst/>
            <a:gdLst/>
            <a:ahLst/>
            <a:cxnLst/>
            <a:rect l="l" t="t" r="r" b="b"/>
            <a:pathLst>
              <a:path w="500935" h="441123">
                <a:moveTo>
                  <a:pt x="0" y="0"/>
                </a:moveTo>
                <a:lnTo>
                  <a:pt x="112053" y="51383"/>
                </a:lnTo>
                <a:lnTo>
                  <a:pt x="119531" y="54376"/>
                </a:lnTo>
                <a:lnTo>
                  <a:pt x="127135" y="56371"/>
                </a:lnTo>
                <a:lnTo>
                  <a:pt x="134987" y="57619"/>
                </a:lnTo>
                <a:lnTo>
                  <a:pt x="142839" y="57744"/>
                </a:lnTo>
                <a:lnTo>
                  <a:pt x="150816" y="57121"/>
                </a:lnTo>
                <a:lnTo>
                  <a:pt x="158544" y="55623"/>
                </a:lnTo>
                <a:lnTo>
                  <a:pt x="164278" y="54127"/>
                </a:lnTo>
                <a:lnTo>
                  <a:pt x="170635" y="52756"/>
                </a:lnTo>
                <a:lnTo>
                  <a:pt x="177490" y="51633"/>
                </a:lnTo>
                <a:lnTo>
                  <a:pt x="184594" y="50759"/>
                </a:lnTo>
                <a:lnTo>
                  <a:pt x="192322" y="50260"/>
                </a:lnTo>
                <a:lnTo>
                  <a:pt x="200548" y="50011"/>
                </a:lnTo>
                <a:lnTo>
                  <a:pt x="209024" y="50136"/>
                </a:lnTo>
                <a:lnTo>
                  <a:pt x="218248" y="50635"/>
                </a:lnTo>
                <a:lnTo>
                  <a:pt x="227595" y="51633"/>
                </a:lnTo>
                <a:lnTo>
                  <a:pt x="237567" y="53254"/>
                </a:lnTo>
                <a:lnTo>
                  <a:pt x="247913" y="55375"/>
                </a:lnTo>
                <a:lnTo>
                  <a:pt x="249283" y="55748"/>
                </a:lnTo>
                <a:lnTo>
                  <a:pt x="251403" y="56497"/>
                </a:lnTo>
                <a:lnTo>
                  <a:pt x="254145" y="57245"/>
                </a:lnTo>
                <a:lnTo>
                  <a:pt x="257385" y="58368"/>
                </a:lnTo>
                <a:lnTo>
                  <a:pt x="260875" y="59740"/>
                </a:lnTo>
                <a:lnTo>
                  <a:pt x="384395" y="61111"/>
                </a:lnTo>
                <a:lnTo>
                  <a:pt x="390502" y="60736"/>
                </a:lnTo>
                <a:lnTo>
                  <a:pt x="396485" y="59615"/>
                </a:lnTo>
                <a:lnTo>
                  <a:pt x="402219" y="57619"/>
                </a:lnTo>
                <a:lnTo>
                  <a:pt x="407703" y="54875"/>
                </a:lnTo>
                <a:lnTo>
                  <a:pt x="500935" y="499"/>
                </a:lnTo>
                <a:lnTo>
                  <a:pt x="500935" y="23447"/>
                </a:lnTo>
                <a:lnTo>
                  <a:pt x="418048" y="72460"/>
                </a:lnTo>
                <a:lnTo>
                  <a:pt x="412689" y="75329"/>
                </a:lnTo>
                <a:lnTo>
                  <a:pt x="407079" y="77699"/>
                </a:lnTo>
                <a:lnTo>
                  <a:pt x="401096" y="79195"/>
                </a:lnTo>
                <a:lnTo>
                  <a:pt x="395239" y="80068"/>
                </a:lnTo>
                <a:lnTo>
                  <a:pt x="389132" y="80442"/>
                </a:lnTo>
                <a:lnTo>
                  <a:pt x="368192" y="80816"/>
                </a:lnTo>
                <a:lnTo>
                  <a:pt x="302256" y="79818"/>
                </a:lnTo>
                <a:lnTo>
                  <a:pt x="308987" y="83435"/>
                </a:lnTo>
                <a:lnTo>
                  <a:pt x="315344" y="87052"/>
                </a:lnTo>
                <a:lnTo>
                  <a:pt x="321451" y="91044"/>
                </a:lnTo>
                <a:lnTo>
                  <a:pt x="327059" y="94910"/>
                </a:lnTo>
                <a:lnTo>
                  <a:pt x="332170" y="98900"/>
                </a:lnTo>
                <a:lnTo>
                  <a:pt x="336907" y="103016"/>
                </a:lnTo>
                <a:lnTo>
                  <a:pt x="340770" y="107132"/>
                </a:lnTo>
                <a:lnTo>
                  <a:pt x="343887" y="111373"/>
                </a:lnTo>
                <a:lnTo>
                  <a:pt x="346380" y="115487"/>
                </a:lnTo>
                <a:lnTo>
                  <a:pt x="346380" y="115987"/>
                </a:lnTo>
                <a:lnTo>
                  <a:pt x="346504" y="117483"/>
                </a:lnTo>
                <a:lnTo>
                  <a:pt x="346753" y="119852"/>
                </a:lnTo>
                <a:lnTo>
                  <a:pt x="347127" y="123220"/>
                </a:lnTo>
                <a:lnTo>
                  <a:pt x="347501" y="127211"/>
                </a:lnTo>
                <a:lnTo>
                  <a:pt x="348125" y="131576"/>
                </a:lnTo>
                <a:lnTo>
                  <a:pt x="348747" y="136564"/>
                </a:lnTo>
                <a:lnTo>
                  <a:pt x="349495" y="142052"/>
                </a:lnTo>
                <a:lnTo>
                  <a:pt x="350492" y="147664"/>
                </a:lnTo>
                <a:lnTo>
                  <a:pt x="351365" y="153651"/>
                </a:lnTo>
                <a:lnTo>
                  <a:pt x="352362" y="159513"/>
                </a:lnTo>
                <a:lnTo>
                  <a:pt x="353609" y="165499"/>
                </a:lnTo>
                <a:lnTo>
                  <a:pt x="354855" y="171361"/>
                </a:lnTo>
                <a:lnTo>
                  <a:pt x="356102" y="176849"/>
                </a:lnTo>
                <a:lnTo>
                  <a:pt x="357472" y="182211"/>
                </a:lnTo>
                <a:lnTo>
                  <a:pt x="358968" y="187075"/>
                </a:lnTo>
                <a:lnTo>
                  <a:pt x="359716" y="190692"/>
                </a:lnTo>
                <a:lnTo>
                  <a:pt x="359841" y="194309"/>
                </a:lnTo>
                <a:lnTo>
                  <a:pt x="359092" y="197801"/>
                </a:lnTo>
                <a:lnTo>
                  <a:pt x="357847" y="201168"/>
                </a:lnTo>
                <a:lnTo>
                  <a:pt x="355851" y="204161"/>
                </a:lnTo>
                <a:lnTo>
                  <a:pt x="353360" y="206656"/>
                </a:lnTo>
                <a:lnTo>
                  <a:pt x="350119" y="208775"/>
                </a:lnTo>
                <a:lnTo>
                  <a:pt x="347750" y="209774"/>
                </a:lnTo>
                <a:lnTo>
                  <a:pt x="345133" y="210772"/>
                </a:lnTo>
                <a:lnTo>
                  <a:pt x="342266" y="211520"/>
                </a:lnTo>
                <a:lnTo>
                  <a:pt x="339400" y="211893"/>
                </a:lnTo>
                <a:lnTo>
                  <a:pt x="336283" y="211893"/>
                </a:lnTo>
                <a:lnTo>
                  <a:pt x="333292" y="211769"/>
                </a:lnTo>
                <a:lnTo>
                  <a:pt x="330051" y="211021"/>
                </a:lnTo>
                <a:lnTo>
                  <a:pt x="326810" y="209898"/>
                </a:lnTo>
                <a:lnTo>
                  <a:pt x="323569" y="208277"/>
                </a:lnTo>
                <a:lnTo>
                  <a:pt x="320079" y="206032"/>
                </a:lnTo>
                <a:lnTo>
                  <a:pt x="316715" y="203163"/>
                </a:lnTo>
                <a:lnTo>
                  <a:pt x="313225" y="199672"/>
                </a:lnTo>
                <a:lnTo>
                  <a:pt x="309860" y="195431"/>
                </a:lnTo>
                <a:lnTo>
                  <a:pt x="306370" y="190567"/>
                </a:lnTo>
                <a:lnTo>
                  <a:pt x="302880" y="184705"/>
                </a:lnTo>
                <a:lnTo>
                  <a:pt x="299514" y="178096"/>
                </a:lnTo>
                <a:lnTo>
                  <a:pt x="296273" y="170613"/>
                </a:lnTo>
                <a:lnTo>
                  <a:pt x="292908" y="162132"/>
                </a:lnTo>
                <a:lnTo>
                  <a:pt x="289668" y="152653"/>
                </a:lnTo>
                <a:lnTo>
                  <a:pt x="289542" y="152279"/>
                </a:lnTo>
                <a:lnTo>
                  <a:pt x="288920" y="151281"/>
                </a:lnTo>
                <a:lnTo>
                  <a:pt x="287922" y="149785"/>
                </a:lnTo>
                <a:lnTo>
                  <a:pt x="286551" y="148039"/>
                </a:lnTo>
                <a:lnTo>
                  <a:pt x="284806" y="145669"/>
                </a:lnTo>
                <a:lnTo>
                  <a:pt x="282687" y="143175"/>
                </a:lnTo>
                <a:lnTo>
                  <a:pt x="280444" y="140181"/>
                </a:lnTo>
                <a:lnTo>
                  <a:pt x="277702" y="137314"/>
                </a:lnTo>
                <a:lnTo>
                  <a:pt x="274834" y="134320"/>
                </a:lnTo>
                <a:lnTo>
                  <a:pt x="271844" y="131451"/>
                </a:lnTo>
                <a:lnTo>
                  <a:pt x="268478" y="128582"/>
                </a:lnTo>
                <a:lnTo>
                  <a:pt x="264988" y="125964"/>
                </a:lnTo>
                <a:lnTo>
                  <a:pt x="261125" y="123469"/>
                </a:lnTo>
                <a:lnTo>
                  <a:pt x="56214" y="274502"/>
                </a:lnTo>
                <a:lnTo>
                  <a:pt x="53346" y="276996"/>
                </a:lnTo>
                <a:lnTo>
                  <a:pt x="51228" y="279615"/>
                </a:lnTo>
                <a:lnTo>
                  <a:pt x="49359" y="282732"/>
                </a:lnTo>
                <a:lnTo>
                  <a:pt x="48236" y="286101"/>
                </a:lnTo>
                <a:lnTo>
                  <a:pt x="47738" y="289343"/>
                </a:lnTo>
                <a:lnTo>
                  <a:pt x="47862" y="292835"/>
                </a:lnTo>
                <a:lnTo>
                  <a:pt x="48486" y="296202"/>
                </a:lnTo>
                <a:lnTo>
                  <a:pt x="49607" y="299570"/>
                </a:lnTo>
                <a:lnTo>
                  <a:pt x="51477" y="302562"/>
                </a:lnTo>
                <a:lnTo>
                  <a:pt x="53845" y="305307"/>
                </a:lnTo>
                <a:lnTo>
                  <a:pt x="56587" y="307677"/>
                </a:lnTo>
                <a:lnTo>
                  <a:pt x="59704" y="309297"/>
                </a:lnTo>
                <a:lnTo>
                  <a:pt x="63068" y="310295"/>
                </a:lnTo>
                <a:lnTo>
                  <a:pt x="66309" y="310919"/>
                </a:lnTo>
                <a:lnTo>
                  <a:pt x="69799" y="310794"/>
                </a:lnTo>
                <a:lnTo>
                  <a:pt x="73165" y="310171"/>
                </a:lnTo>
                <a:lnTo>
                  <a:pt x="76530" y="308924"/>
                </a:lnTo>
                <a:lnTo>
                  <a:pt x="79397" y="307177"/>
                </a:lnTo>
                <a:lnTo>
                  <a:pt x="89866" y="299570"/>
                </a:lnTo>
                <a:lnTo>
                  <a:pt x="90739" y="298947"/>
                </a:lnTo>
                <a:lnTo>
                  <a:pt x="91736" y="298197"/>
                </a:lnTo>
                <a:lnTo>
                  <a:pt x="92608" y="297075"/>
                </a:lnTo>
                <a:lnTo>
                  <a:pt x="201296" y="223368"/>
                </a:lnTo>
                <a:lnTo>
                  <a:pt x="204163" y="221996"/>
                </a:lnTo>
                <a:lnTo>
                  <a:pt x="206906" y="221621"/>
                </a:lnTo>
                <a:lnTo>
                  <a:pt x="209648" y="222245"/>
                </a:lnTo>
                <a:lnTo>
                  <a:pt x="212390" y="223617"/>
                </a:lnTo>
                <a:lnTo>
                  <a:pt x="214259" y="225238"/>
                </a:lnTo>
                <a:lnTo>
                  <a:pt x="215631" y="227358"/>
                </a:lnTo>
                <a:lnTo>
                  <a:pt x="216378" y="229728"/>
                </a:lnTo>
                <a:lnTo>
                  <a:pt x="216503" y="232222"/>
                </a:lnTo>
                <a:lnTo>
                  <a:pt x="216253" y="234467"/>
                </a:lnTo>
                <a:lnTo>
                  <a:pt x="215505" y="236338"/>
                </a:lnTo>
                <a:lnTo>
                  <a:pt x="214135" y="238084"/>
                </a:lnTo>
                <a:lnTo>
                  <a:pt x="212390" y="239580"/>
                </a:lnTo>
                <a:lnTo>
                  <a:pt x="110806" y="308798"/>
                </a:lnTo>
                <a:lnTo>
                  <a:pt x="101708" y="315159"/>
                </a:lnTo>
                <a:lnTo>
                  <a:pt x="99339" y="318153"/>
                </a:lnTo>
                <a:lnTo>
                  <a:pt x="97470" y="321145"/>
                </a:lnTo>
                <a:lnTo>
                  <a:pt x="96098" y="324637"/>
                </a:lnTo>
                <a:lnTo>
                  <a:pt x="95476" y="328130"/>
                </a:lnTo>
                <a:lnTo>
                  <a:pt x="95350" y="331621"/>
                </a:lnTo>
                <a:lnTo>
                  <a:pt x="95974" y="335238"/>
                </a:lnTo>
                <a:lnTo>
                  <a:pt x="97221" y="338731"/>
                </a:lnTo>
                <a:lnTo>
                  <a:pt x="99090" y="341973"/>
                </a:lnTo>
                <a:lnTo>
                  <a:pt x="101084" y="344218"/>
                </a:lnTo>
                <a:lnTo>
                  <a:pt x="103702" y="345840"/>
                </a:lnTo>
                <a:lnTo>
                  <a:pt x="106693" y="347212"/>
                </a:lnTo>
                <a:lnTo>
                  <a:pt x="110058" y="348209"/>
                </a:lnTo>
                <a:lnTo>
                  <a:pt x="113673" y="348832"/>
                </a:lnTo>
                <a:lnTo>
                  <a:pt x="117537" y="348832"/>
                </a:lnTo>
                <a:lnTo>
                  <a:pt x="121276" y="348459"/>
                </a:lnTo>
                <a:lnTo>
                  <a:pt x="125141" y="347585"/>
                </a:lnTo>
                <a:lnTo>
                  <a:pt x="128755" y="346213"/>
                </a:lnTo>
                <a:lnTo>
                  <a:pt x="132245" y="344343"/>
                </a:lnTo>
                <a:lnTo>
                  <a:pt x="133615" y="342971"/>
                </a:lnTo>
                <a:lnTo>
                  <a:pt x="134863" y="341848"/>
                </a:lnTo>
                <a:lnTo>
                  <a:pt x="136359" y="340601"/>
                </a:lnTo>
                <a:lnTo>
                  <a:pt x="137978" y="339603"/>
                </a:lnTo>
                <a:lnTo>
                  <a:pt x="229465" y="273628"/>
                </a:lnTo>
                <a:lnTo>
                  <a:pt x="231085" y="271883"/>
                </a:lnTo>
                <a:lnTo>
                  <a:pt x="232706" y="270885"/>
                </a:lnTo>
                <a:lnTo>
                  <a:pt x="234700" y="270261"/>
                </a:lnTo>
                <a:lnTo>
                  <a:pt x="237068" y="270137"/>
                </a:lnTo>
                <a:lnTo>
                  <a:pt x="239561" y="270510"/>
                </a:lnTo>
                <a:lnTo>
                  <a:pt x="241930" y="271633"/>
                </a:lnTo>
                <a:lnTo>
                  <a:pt x="243799" y="273254"/>
                </a:lnTo>
                <a:lnTo>
                  <a:pt x="245420" y="275250"/>
                </a:lnTo>
                <a:lnTo>
                  <a:pt x="246417" y="277744"/>
                </a:lnTo>
                <a:lnTo>
                  <a:pt x="246790" y="280238"/>
                </a:lnTo>
                <a:lnTo>
                  <a:pt x="246417" y="282608"/>
                </a:lnTo>
                <a:lnTo>
                  <a:pt x="245669" y="284728"/>
                </a:lnTo>
                <a:lnTo>
                  <a:pt x="244547" y="286474"/>
                </a:lnTo>
                <a:lnTo>
                  <a:pt x="243300" y="287971"/>
                </a:lnTo>
                <a:lnTo>
                  <a:pt x="149819" y="354694"/>
                </a:lnTo>
                <a:lnTo>
                  <a:pt x="147077" y="356940"/>
                </a:lnTo>
                <a:lnTo>
                  <a:pt x="144833" y="359683"/>
                </a:lnTo>
                <a:lnTo>
                  <a:pt x="143213" y="362925"/>
                </a:lnTo>
                <a:lnTo>
                  <a:pt x="141967" y="366043"/>
                </a:lnTo>
                <a:lnTo>
                  <a:pt x="141468" y="369536"/>
                </a:lnTo>
                <a:lnTo>
                  <a:pt x="141468" y="372902"/>
                </a:lnTo>
                <a:lnTo>
                  <a:pt x="142091" y="376395"/>
                </a:lnTo>
                <a:lnTo>
                  <a:pt x="143339" y="379637"/>
                </a:lnTo>
                <a:lnTo>
                  <a:pt x="145208" y="382631"/>
                </a:lnTo>
                <a:lnTo>
                  <a:pt x="147077" y="385125"/>
                </a:lnTo>
                <a:lnTo>
                  <a:pt x="149570" y="387246"/>
                </a:lnTo>
                <a:lnTo>
                  <a:pt x="152312" y="388866"/>
                </a:lnTo>
                <a:lnTo>
                  <a:pt x="155303" y="390114"/>
                </a:lnTo>
                <a:lnTo>
                  <a:pt x="158669" y="390862"/>
                </a:lnTo>
                <a:lnTo>
                  <a:pt x="162658" y="391112"/>
                </a:lnTo>
                <a:lnTo>
                  <a:pt x="166521" y="390488"/>
                </a:lnTo>
                <a:lnTo>
                  <a:pt x="170386" y="389241"/>
                </a:lnTo>
                <a:lnTo>
                  <a:pt x="173876" y="387246"/>
                </a:lnTo>
                <a:lnTo>
                  <a:pt x="252025" y="330500"/>
                </a:lnTo>
                <a:lnTo>
                  <a:pt x="254020" y="329626"/>
                </a:lnTo>
                <a:lnTo>
                  <a:pt x="255890" y="329127"/>
                </a:lnTo>
                <a:lnTo>
                  <a:pt x="257759" y="329002"/>
                </a:lnTo>
                <a:lnTo>
                  <a:pt x="260501" y="329377"/>
                </a:lnTo>
                <a:lnTo>
                  <a:pt x="262994" y="330374"/>
                </a:lnTo>
                <a:lnTo>
                  <a:pt x="265112" y="332120"/>
                </a:lnTo>
                <a:lnTo>
                  <a:pt x="266733" y="334241"/>
                </a:lnTo>
                <a:lnTo>
                  <a:pt x="267730" y="336611"/>
                </a:lnTo>
                <a:lnTo>
                  <a:pt x="267980" y="339479"/>
                </a:lnTo>
                <a:lnTo>
                  <a:pt x="267730" y="341600"/>
                </a:lnTo>
                <a:lnTo>
                  <a:pt x="266733" y="343595"/>
                </a:lnTo>
                <a:lnTo>
                  <a:pt x="265612" y="345341"/>
                </a:lnTo>
                <a:lnTo>
                  <a:pt x="263867" y="346837"/>
                </a:lnTo>
                <a:lnTo>
                  <a:pt x="214883" y="383753"/>
                </a:lnTo>
                <a:lnTo>
                  <a:pt x="212514" y="385749"/>
                </a:lnTo>
                <a:lnTo>
                  <a:pt x="210769" y="387994"/>
                </a:lnTo>
                <a:lnTo>
                  <a:pt x="209523" y="390737"/>
                </a:lnTo>
                <a:lnTo>
                  <a:pt x="208651" y="393482"/>
                </a:lnTo>
                <a:lnTo>
                  <a:pt x="208276" y="396349"/>
                </a:lnTo>
                <a:lnTo>
                  <a:pt x="208775" y="399218"/>
                </a:lnTo>
                <a:lnTo>
                  <a:pt x="209648" y="401961"/>
                </a:lnTo>
                <a:lnTo>
                  <a:pt x="211143" y="404207"/>
                </a:lnTo>
                <a:lnTo>
                  <a:pt x="213138" y="406452"/>
                </a:lnTo>
                <a:lnTo>
                  <a:pt x="215631" y="408198"/>
                </a:lnTo>
                <a:lnTo>
                  <a:pt x="218248" y="409570"/>
                </a:lnTo>
                <a:lnTo>
                  <a:pt x="220866" y="410442"/>
                </a:lnTo>
                <a:lnTo>
                  <a:pt x="223857" y="410567"/>
                </a:lnTo>
                <a:lnTo>
                  <a:pt x="226723" y="410318"/>
                </a:lnTo>
                <a:lnTo>
                  <a:pt x="229465" y="409445"/>
                </a:lnTo>
                <a:lnTo>
                  <a:pt x="231709" y="407824"/>
                </a:lnTo>
                <a:lnTo>
                  <a:pt x="236196" y="404955"/>
                </a:lnTo>
                <a:lnTo>
                  <a:pt x="236571" y="400840"/>
                </a:lnTo>
                <a:lnTo>
                  <a:pt x="237443" y="396724"/>
                </a:lnTo>
                <a:lnTo>
                  <a:pt x="239188" y="392858"/>
                </a:lnTo>
                <a:lnTo>
                  <a:pt x="241431" y="389241"/>
                </a:lnTo>
                <a:lnTo>
                  <a:pt x="244173" y="385873"/>
                </a:lnTo>
                <a:lnTo>
                  <a:pt x="247538" y="383005"/>
                </a:lnTo>
                <a:lnTo>
                  <a:pt x="251153" y="380884"/>
                </a:lnTo>
                <a:lnTo>
                  <a:pt x="255266" y="379264"/>
                </a:lnTo>
                <a:lnTo>
                  <a:pt x="259380" y="378515"/>
                </a:lnTo>
                <a:lnTo>
                  <a:pt x="263618" y="378390"/>
                </a:lnTo>
                <a:lnTo>
                  <a:pt x="267730" y="379014"/>
                </a:lnTo>
                <a:lnTo>
                  <a:pt x="276830" y="373277"/>
                </a:lnTo>
                <a:lnTo>
                  <a:pt x="276830" y="369161"/>
                </a:lnTo>
                <a:lnTo>
                  <a:pt x="277452" y="365046"/>
                </a:lnTo>
                <a:lnTo>
                  <a:pt x="278574" y="361055"/>
                </a:lnTo>
                <a:lnTo>
                  <a:pt x="280319" y="357189"/>
                </a:lnTo>
                <a:lnTo>
                  <a:pt x="282562" y="353696"/>
                </a:lnTo>
                <a:lnTo>
                  <a:pt x="285430" y="350330"/>
                </a:lnTo>
                <a:lnTo>
                  <a:pt x="288794" y="347585"/>
                </a:lnTo>
                <a:lnTo>
                  <a:pt x="292908" y="345341"/>
                </a:lnTo>
                <a:lnTo>
                  <a:pt x="297146" y="343595"/>
                </a:lnTo>
                <a:lnTo>
                  <a:pt x="301384" y="342721"/>
                </a:lnTo>
                <a:lnTo>
                  <a:pt x="305746" y="342596"/>
                </a:lnTo>
                <a:lnTo>
                  <a:pt x="310233" y="343220"/>
                </a:lnTo>
                <a:lnTo>
                  <a:pt x="314347" y="344218"/>
                </a:lnTo>
                <a:lnTo>
                  <a:pt x="318460" y="346089"/>
                </a:lnTo>
                <a:lnTo>
                  <a:pt x="321700" y="343595"/>
                </a:lnTo>
                <a:lnTo>
                  <a:pt x="321327" y="339105"/>
                </a:lnTo>
                <a:lnTo>
                  <a:pt x="321575" y="334490"/>
                </a:lnTo>
                <a:lnTo>
                  <a:pt x="322448" y="330001"/>
                </a:lnTo>
                <a:lnTo>
                  <a:pt x="324193" y="325885"/>
                </a:lnTo>
                <a:lnTo>
                  <a:pt x="326561" y="321894"/>
                </a:lnTo>
                <a:lnTo>
                  <a:pt x="329677" y="318402"/>
                </a:lnTo>
                <a:lnTo>
                  <a:pt x="333292" y="315408"/>
                </a:lnTo>
                <a:lnTo>
                  <a:pt x="333915" y="314785"/>
                </a:lnTo>
                <a:lnTo>
                  <a:pt x="337779" y="312415"/>
                </a:lnTo>
                <a:lnTo>
                  <a:pt x="342142" y="310919"/>
                </a:lnTo>
                <a:lnTo>
                  <a:pt x="346380" y="310046"/>
                </a:lnTo>
                <a:lnTo>
                  <a:pt x="350742" y="309921"/>
                </a:lnTo>
                <a:lnTo>
                  <a:pt x="354979" y="310295"/>
                </a:lnTo>
                <a:lnTo>
                  <a:pt x="359217" y="311418"/>
                </a:lnTo>
                <a:lnTo>
                  <a:pt x="363206" y="313038"/>
                </a:lnTo>
                <a:lnTo>
                  <a:pt x="366945" y="315159"/>
                </a:lnTo>
                <a:lnTo>
                  <a:pt x="367568" y="315159"/>
                </a:lnTo>
                <a:lnTo>
                  <a:pt x="367194" y="314037"/>
                </a:lnTo>
                <a:lnTo>
                  <a:pt x="364576" y="309547"/>
                </a:lnTo>
                <a:lnTo>
                  <a:pt x="362707" y="305182"/>
                </a:lnTo>
                <a:lnTo>
                  <a:pt x="361710" y="300443"/>
                </a:lnTo>
                <a:lnTo>
                  <a:pt x="361461" y="295827"/>
                </a:lnTo>
                <a:lnTo>
                  <a:pt x="361959" y="291089"/>
                </a:lnTo>
                <a:lnTo>
                  <a:pt x="363082" y="286474"/>
                </a:lnTo>
                <a:lnTo>
                  <a:pt x="365075" y="282109"/>
                </a:lnTo>
                <a:lnTo>
                  <a:pt x="367444" y="277994"/>
                </a:lnTo>
                <a:lnTo>
                  <a:pt x="370684" y="274251"/>
                </a:lnTo>
                <a:lnTo>
                  <a:pt x="374424" y="271009"/>
                </a:lnTo>
                <a:lnTo>
                  <a:pt x="378537" y="268639"/>
                </a:lnTo>
                <a:lnTo>
                  <a:pt x="382774" y="266894"/>
                </a:lnTo>
                <a:lnTo>
                  <a:pt x="387387" y="266021"/>
                </a:lnTo>
                <a:lnTo>
                  <a:pt x="391749" y="265647"/>
                </a:lnTo>
                <a:lnTo>
                  <a:pt x="396236" y="266021"/>
                </a:lnTo>
                <a:lnTo>
                  <a:pt x="400723" y="266894"/>
                </a:lnTo>
                <a:lnTo>
                  <a:pt x="404961" y="268639"/>
                </a:lnTo>
                <a:lnTo>
                  <a:pt x="408949" y="270885"/>
                </a:lnTo>
                <a:lnTo>
                  <a:pt x="412565" y="273628"/>
                </a:lnTo>
                <a:lnTo>
                  <a:pt x="446716" y="234093"/>
                </a:lnTo>
                <a:lnTo>
                  <a:pt x="452449" y="227733"/>
                </a:lnTo>
                <a:lnTo>
                  <a:pt x="458682" y="221996"/>
                </a:lnTo>
                <a:lnTo>
                  <a:pt x="465287" y="216633"/>
                </a:lnTo>
                <a:lnTo>
                  <a:pt x="472018" y="211644"/>
                </a:lnTo>
                <a:lnTo>
                  <a:pt x="479372" y="207155"/>
                </a:lnTo>
                <a:lnTo>
                  <a:pt x="500935" y="194932"/>
                </a:lnTo>
                <a:lnTo>
                  <a:pt x="500935" y="219502"/>
                </a:lnTo>
                <a:lnTo>
                  <a:pt x="485230" y="228481"/>
                </a:lnTo>
                <a:lnTo>
                  <a:pt x="477253" y="233595"/>
                </a:lnTo>
                <a:lnTo>
                  <a:pt x="469650" y="239580"/>
                </a:lnTo>
                <a:lnTo>
                  <a:pt x="462545" y="245942"/>
                </a:lnTo>
                <a:lnTo>
                  <a:pt x="455939" y="252926"/>
                </a:lnTo>
                <a:lnTo>
                  <a:pt x="424280" y="289966"/>
                </a:lnTo>
                <a:lnTo>
                  <a:pt x="438864" y="310794"/>
                </a:lnTo>
                <a:lnTo>
                  <a:pt x="441357" y="315159"/>
                </a:lnTo>
                <a:lnTo>
                  <a:pt x="443226" y="319649"/>
                </a:lnTo>
                <a:lnTo>
                  <a:pt x="444099" y="324264"/>
                </a:lnTo>
                <a:lnTo>
                  <a:pt x="444472" y="329002"/>
                </a:lnTo>
                <a:lnTo>
                  <a:pt x="443974" y="333742"/>
                </a:lnTo>
                <a:lnTo>
                  <a:pt x="442727" y="338356"/>
                </a:lnTo>
                <a:lnTo>
                  <a:pt x="440982" y="342721"/>
                </a:lnTo>
                <a:lnTo>
                  <a:pt x="438489" y="346837"/>
                </a:lnTo>
                <a:lnTo>
                  <a:pt x="435374" y="350578"/>
                </a:lnTo>
                <a:lnTo>
                  <a:pt x="431509" y="353821"/>
                </a:lnTo>
                <a:lnTo>
                  <a:pt x="427397" y="356191"/>
                </a:lnTo>
                <a:lnTo>
                  <a:pt x="423159" y="357937"/>
                </a:lnTo>
                <a:lnTo>
                  <a:pt x="418672" y="358811"/>
                </a:lnTo>
                <a:lnTo>
                  <a:pt x="414059" y="359059"/>
                </a:lnTo>
                <a:lnTo>
                  <a:pt x="409448" y="358811"/>
                </a:lnTo>
                <a:lnTo>
                  <a:pt x="405086" y="357937"/>
                </a:lnTo>
                <a:lnTo>
                  <a:pt x="400848" y="356191"/>
                </a:lnTo>
                <a:lnTo>
                  <a:pt x="396860" y="353946"/>
                </a:lnTo>
                <a:lnTo>
                  <a:pt x="393370" y="351202"/>
                </a:lnTo>
                <a:lnTo>
                  <a:pt x="395115" y="355318"/>
                </a:lnTo>
                <a:lnTo>
                  <a:pt x="396112" y="359683"/>
                </a:lnTo>
                <a:lnTo>
                  <a:pt x="396485" y="364172"/>
                </a:lnTo>
                <a:lnTo>
                  <a:pt x="396112" y="368537"/>
                </a:lnTo>
                <a:lnTo>
                  <a:pt x="395115" y="372902"/>
                </a:lnTo>
                <a:lnTo>
                  <a:pt x="393370" y="376894"/>
                </a:lnTo>
                <a:lnTo>
                  <a:pt x="391126" y="380884"/>
                </a:lnTo>
                <a:lnTo>
                  <a:pt x="388135" y="384128"/>
                </a:lnTo>
                <a:lnTo>
                  <a:pt x="384395" y="387246"/>
                </a:lnTo>
                <a:lnTo>
                  <a:pt x="383897" y="387869"/>
                </a:lnTo>
                <a:lnTo>
                  <a:pt x="379908" y="390114"/>
                </a:lnTo>
                <a:lnTo>
                  <a:pt x="375545" y="391735"/>
                </a:lnTo>
                <a:lnTo>
                  <a:pt x="371058" y="392483"/>
                </a:lnTo>
                <a:lnTo>
                  <a:pt x="366572" y="392734"/>
                </a:lnTo>
                <a:lnTo>
                  <a:pt x="362085" y="392234"/>
                </a:lnTo>
                <a:lnTo>
                  <a:pt x="357722" y="390987"/>
                </a:lnTo>
                <a:lnTo>
                  <a:pt x="353609" y="388991"/>
                </a:lnTo>
                <a:lnTo>
                  <a:pt x="349870" y="386497"/>
                </a:lnTo>
                <a:lnTo>
                  <a:pt x="346504" y="383254"/>
                </a:lnTo>
                <a:lnTo>
                  <a:pt x="347252" y="387246"/>
                </a:lnTo>
                <a:lnTo>
                  <a:pt x="347501" y="391361"/>
                </a:lnTo>
                <a:lnTo>
                  <a:pt x="347252" y="395228"/>
                </a:lnTo>
                <a:lnTo>
                  <a:pt x="346504" y="399218"/>
                </a:lnTo>
                <a:lnTo>
                  <a:pt x="345133" y="402960"/>
                </a:lnTo>
                <a:lnTo>
                  <a:pt x="343263" y="406452"/>
                </a:lnTo>
                <a:lnTo>
                  <a:pt x="340895" y="409819"/>
                </a:lnTo>
                <a:lnTo>
                  <a:pt x="337779" y="412688"/>
                </a:lnTo>
                <a:lnTo>
                  <a:pt x="334289" y="415307"/>
                </a:lnTo>
                <a:lnTo>
                  <a:pt x="330425" y="417302"/>
                </a:lnTo>
                <a:lnTo>
                  <a:pt x="326187" y="418675"/>
                </a:lnTo>
                <a:lnTo>
                  <a:pt x="321700" y="419298"/>
                </a:lnTo>
                <a:lnTo>
                  <a:pt x="317337" y="419298"/>
                </a:lnTo>
                <a:lnTo>
                  <a:pt x="313099" y="418549"/>
                </a:lnTo>
                <a:lnTo>
                  <a:pt x="308987" y="417302"/>
                </a:lnTo>
                <a:lnTo>
                  <a:pt x="304998" y="415307"/>
                </a:lnTo>
                <a:lnTo>
                  <a:pt x="301384" y="412688"/>
                </a:lnTo>
                <a:lnTo>
                  <a:pt x="298267" y="409694"/>
                </a:lnTo>
                <a:lnTo>
                  <a:pt x="295276" y="406202"/>
                </a:lnTo>
                <a:lnTo>
                  <a:pt x="294528" y="404955"/>
                </a:lnTo>
                <a:lnTo>
                  <a:pt x="295775" y="409071"/>
                </a:lnTo>
                <a:lnTo>
                  <a:pt x="296398" y="413436"/>
                </a:lnTo>
                <a:lnTo>
                  <a:pt x="296273" y="417925"/>
                </a:lnTo>
                <a:lnTo>
                  <a:pt x="295276" y="422166"/>
                </a:lnTo>
                <a:lnTo>
                  <a:pt x="293656" y="426406"/>
                </a:lnTo>
                <a:lnTo>
                  <a:pt x="291537" y="430148"/>
                </a:lnTo>
                <a:lnTo>
                  <a:pt x="288670" y="433516"/>
                </a:lnTo>
                <a:lnTo>
                  <a:pt x="285304" y="436634"/>
                </a:lnTo>
                <a:lnTo>
                  <a:pt x="281690" y="438504"/>
                </a:lnTo>
                <a:lnTo>
                  <a:pt x="277826" y="440125"/>
                </a:lnTo>
                <a:lnTo>
                  <a:pt x="273713" y="440999"/>
                </a:lnTo>
                <a:lnTo>
                  <a:pt x="269599" y="441123"/>
                </a:lnTo>
                <a:lnTo>
                  <a:pt x="265612" y="440874"/>
                </a:lnTo>
                <a:lnTo>
                  <a:pt x="261623" y="439751"/>
                </a:lnTo>
                <a:lnTo>
                  <a:pt x="258008" y="438254"/>
                </a:lnTo>
                <a:lnTo>
                  <a:pt x="254518" y="436135"/>
                </a:lnTo>
                <a:lnTo>
                  <a:pt x="251277" y="433390"/>
                </a:lnTo>
                <a:lnTo>
                  <a:pt x="248535" y="430148"/>
                </a:lnTo>
                <a:lnTo>
                  <a:pt x="244048" y="423663"/>
                </a:lnTo>
                <a:lnTo>
                  <a:pt x="243425" y="423663"/>
                </a:lnTo>
                <a:lnTo>
                  <a:pt x="239312" y="426032"/>
                </a:lnTo>
                <a:lnTo>
                  <a:pt x="235074" y="428028"/>
                </a:lnTo>
                <a:lnTo>
                  <a:pt x="230588" y="429275"/>
                </a:lnTo>
                <a:lnTo>
                  <a:pt x="226225" y="430023"/>
                </a:lnTo>
                <a:lnTo>
                  <a:pt x="221738" y="430023"/>
                </a:lnTo>
                <a:lnTo>
                  <a:pt x="217874" y="429899"/>
                </a:lnTo>
                <a:lnTo>
                  <a:pt x="212390" y="428401"/>
                </a:lnTo>
                <a:lnTo>
                  <a:pt x="207404" y="426282"/>
                </a:lnTo>
                <a:lnTo>
                  <a:pt x="202792" y="423537"/>
                </a:lnTo>
                <a:lnTo>
                  <a:pt x="198928" y="420046"/>
                </a:lnTo>
                <a:lnTo>
                  <a:pt x="195438" y="416055"/>
                </a:lnTo>
                <a:lnTo>
                  <a:pt x="193195" y="412438"/>
                </a:lnTo>
                <a:lnTo>
                  <a:pt x="191450" y="408822"/>
                </a:lnTo>
                <a:lnTo>
                  <a:pt x="190078" y="404830"/>
                </a:lnTo>
                <a:lnTo>
                  <a:pt x="189330" y="400590"/>
                </a:lnTo>
                <a:lnTo>
                  <a:pt x="185343" y="403583"/>
                </a:lnTo>
                <a:lnTo>
                  <a:pt x="180856" y="406452"/>
                </a:lnTo>
                <a:lnTo>
                  <a:pt x="175994" y="408572"/>
                </a:lnTo>
                <a:lnTo>
                  <a:pt x="170759" y="410193"/>
                </a:lnTo>
                <a:lnTo>
                  <a:pt x="165524" y="410942"/>
                </a:lnTo>
                <a:lnTo>
                  <a:pt x="159916" y="411066"/>
                </a:lnTo>
                <a:lnTo>
                  <a:pt x="157547" y="410942"/>
                </a:lnTo>
                <a:lnTo>
                  <a:pt x="155428" y="410693"/>
                </a:lnTo>
                <a:lnTo>
                  <a:pt x="150318" y="409570"/>
                </a:lnTo>
                <a:lnTo>
                  <a:pt x="145457" y="407699"/>
                </a:lnTo>
                <a:lnTo>
                  <a:pt x="140846" y="405454"/>
                </a:lnTo>
                <a:lnTo>
                  <a:pt x="136608" y="402336"/>
                </a:lnTo>
                <a:lnTo>
                  <a:pt x="132869" y="398844"/>
                </a:lnTo>
                <a:lnTo>
                  <a:pt x="129379" y="394978"/>
                </a:lnTo>
                <a:lnTo>
                  <a:pt x="126387" y="390114"/>
                </a:lnTo>
                <a:lnTo>
                  <a:pt x="123894" y="384876"/>
                </a:lnTo>
                <a:lnTo>
                  <a:pt x="122398" y="379513"/>
                </a:lnTo>
                <a:lnTo>
                  <a:pt x="121775" y="373901"/>
                </a:lnTo>
                <a:lnTo>
                  <a:pt x="122024" y="368164"/>
                </a:lnTo>
                <a:lnTo>
                  <a:pt x="119282" y="368038"/>
                </a:lnTo>
                <a:lnTo>
                  <a:pt x="116290" y="367914"/>
                </a:lnTo>
                <a:lnTo>
                  <a:pt x="113299" y="367789"/>
                </a:lnTo>
                <a:lnTo>
                  <a:pt x="108313" y="367166"/>
                </a:lnTo>
                <a:lnTo>
                  <a:pt x="103203" y="366293"/>
                </a:lnTo>
                <a:lnTo>
                  <a:pt x="98716" y="364672"/>
                </a:lnTo>
                <a:lnTo>
                  <a:pt x="94229" y="362552"/>
                </a:lnTo>
                <a:lnTo>
                  <a:pt x="90241" y="360058"/>
                </a:lnTo>
                <a:lnTo>
                  <a:pt x="86501" y="356814"/>
                </a:lnTo>
                <a:lnTo>
                  <a:pt x="83261" y="352824"/>
                </a:lnTo>
                <a:lnTo>
                  <a:pt x="80518" y="348459"/>
                </a:lnTo>
                <a:lnTo>
                  <a:pt x="78400" y="344094"/>
                </a:lnTo>
                <a:lnTo>
                  <a:pt x="77028" y="339354"/>
                </a:lnTo>
                <a:lnTo>
                  <a:pt x="76031" y="334490"/>
                </a:lnTo>
                <a:lnTo>
                  <a:pt x="75782" y="329377"/>
                </a:lnTo>
                <a:lnTo>
                  <a:pt x="70547" y="330001"/>
                </a:lnTo>
                <a:lnTo>
                  <a:pt x="65188" y="330001"/>
                </a:lnTo>
                <a:lnTo>
                  <a:pt x="62819" y="330001"/>
                </a:lnTo>
                <a:lnTo>
                  <a:pt x="60576" y="329750"/>
                </a:lnTo>
                <a:lnTo>
                  <a:pt x="55590" y="328629"/>
                </a:lnTo>
                <a:lnTo>
                  <a:pt x="50729" y="326758"/>
                </a:lnTo>
                <a:lnTo>
                  <a:pt x="46118" y="324264"/>
                </a:lnTo>
                <a:lnTo>
                  <a:pt x="41880" y="321395"/>
                </a:lnTo>
                <a:lnTo>
                  <a:pt x="38016" y="317903"/>
                </a:lnTo>
                <a:lnTo>
                  <a:pt x="34526" y="314037"/>
                </a:lnTo>
                <a:lnTo>
                  <a:pt x="31909" y="309422"/>
                </a:lnTo>
                <a:lnTo>
                  <a:pt x="30038" y="304559"/>
                </a:lnTo>
                <a:lnTo>
                  <a:pt x="28668" y="299695"/>
                </a:lnTo>
                <a:lnTo>
                  <a:pt x="27920" y="294706"/>
                </a:lnTo>
                <a:lnTo>
                  <a:pt x="27920" y="289592"/>
                </a:lnTo>
                <a:lnTo>
                  <a:pt x="28543" y="284479"/>
                </a:lnTo>
                <a:lnTo>
                  <a:pt x="29665" y="279490"/>
                </a:lnTo>
                <a:lnTo>
                  <a:pt x="31410" y="274751"/>
                </a:lnTo>
                <a:lnTo>
                  <a:pt x="33654" y="270261"/>
                </a:lnTo>
                <a:lnTo>
                  <a:pt x="36769" y="266021"/>
                </a:lnTo>
                <a:lnTo>
                  <a:pt x="40259" y="262030"/>
                </a:lnTo>
                <a:lnTo>
                  <a:pt x="44373" y="258538"/>
                </a:lnTo>
                <a:lnTo>
                  <a:pt x="50979" y="253300"/>
                </a:lnTo>
                <a:lnTo>
                  <a:pt x="47114" y="245942"/>
                </a:lnTo>
                <a:lnTo>
                  <a:pt x="42503" y="238957"/>
                </a:lnTo>
                <a:lnTo>
                  <a:pt x="37393" y="232597"/>
                </a:lnTo>
                <a:lnTo>
                  <a:pt x="31534" y="226485"/>
                </a:lnTo>
                <a:lnTo>
                  <a:pt x="25302" y="220998"/>
                </a:lnTo>
                <a:lnTo>
                  <a:pt x="18696" y="216134"/>
                </a:lnTo>
                <a:lnTo>
                  <a:pt x="11591" y="211769"/>
                </a:lnTo>
                <a:lnTo>
                  <a:pt x="0" y="205533"/>
                </a:lnTo>
                <a:lnTo>
                  <a:pt x="0" y="0"/>
                </a:lnTo>
                <a:close/>
              </a:path>
            </a:pathLst>
          </a:custGeom>
          <a:solidFill>
            <a:srgbClr val="FDFD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7010400" y="5384800"/>
            <a:ext cx="192260" cy="255532"/>
          </a:xfrm>
          <a:custGeom>
            <a:avLst/>
            <a:gdLst/>
            <a:ahLst/>
            <a:cxnLst/>
            <a:rect l="l" t="t" r="r" b="b"/>
            <a:pathLst>
              <a:path w="192260" h="255532">
                <a:moveTo>
                  <a:pt x="96900" y="0"/>
                </a:moveTo>
                <a:lnTo>
                  <a:pt x="103058" y="182"/>
                </a:lnTo>
                <a:lnTo>
                  <a:pt x="108854" y="634"/>
                </a:lnTo>
                <a:lnTo>
                  <a:pt x="114287" y="1631"/>
                </a:lnTo>
                <a:lnTo>
                  <a:pt x="119450" y="2898"/>
                </a:lnTo>
                <a:lnTo>
                  <a:pt x="124159" y="4348"/>
                </a:lnTo>
                <a:lnTo>
                  <a:pt x="128777" y="6160"/>
                </a:lnTo>
                <a:lnTo>
                  <a:pt x="132852" y="8152"/>
                </a:lnTo>
                <a:lnTo>
                  <a:pt x="136656" y="10236"/>
                </a:lnTo>
                <a:lnTo>
                  <a:pt x="140821" y="12772"/>
                </a:lnTo>
                <a:lnTo>
                  <a:pt x="144625" y="15309"/>
                </a:lnTo>
                <a:lnTo>
                  <a:pt x="147885" y="17935"/>
                </a:lnTo>
                <a:lnTo>
                  <a:pt x="150693" y="20471"/>
                </a:lnTo>
                <a:lnTo>
                  <a:pt x="153048" y="22917"/>
                </a:lnTo>
                <a:lnTo>
                  <a:pt x="155039" y="25182"/>
                </a:lnTo>
                <a:lnTo>
                  <a:pt x="156580" y="27174"/>
                </a:lnTo>
                <a:lnTo>
                  <a:pt x="157757" y="28805"/>
                </a:lnTo>
                <a:lnTo>
                  <a:pt x="158571" y="29982"/>
                </a:lnTo>
                <a:lnTo>
                  <a:pt x="159114" y="30798"/>
                </a:lnTo>
                <a:lnTo>
                  <a:pt x="159206" y="31161"/>
                </a:lnTo>
                <a:lnTo>
                  <a:pt x="159386" y="31161"/>
                </a:lnTo>
                <a:lnTo>
                  <a:pt x="159840" y="31161"/>
                </a:lnTo>
                <a:lnTo>
                  <a:pt x="160564" y="31341"/>
                </a:lnTo>
                <a:lnTo>
                  <a:pt x="161469" y="31613"/>
                </a:lnTo>
                <a:lnTo>
                  <a:pt x="162646" y="31885"/>
                </a:lnTo>
                <a:lnTo>
                  <a:pt x="163824" y="32247"/>
                </a:lnTo>
                <a:lnTo>
                  <a:pt x="165273" y="32882"/>
                </a:lnTo>
                <a:lnTo>
                  <a:pt x="166812" y="33697"/>
                </a:lnTo>
                <a:lnTo>
                  <a:pt x="168533" y="34602"/>
                </a:lnTo>
                <a:lnTo>
                  <a:pt x="170254" y="35780"/>
                </a:lnTo>
                <a:lnTo>
                  <a:pt x="171975" y="37229"/>
                </a:lnTo>
                <a:lnTo>
                  <a:pt x="173786" y="38950"/>
                </a:lnTo>
                <a:lnTo>
                  <a:pt x="175597" y="40852"/>
                </a:lnTo>
                <a:lnTo>
                  <a:pt x="177317" y="43116"/>
                </a:lnTo>
                <a:lnTo>
                  <a:pt x="178857" y="45744"/>
                </a:lnTo>
                <a:lnTo>
                  <a:pt x="180487" y="48642"/>
                </a:lnTo>
                <a:lnTo>
                  <a:pt x="181936" y="51904"/>
                </a:lnTo>
                <a:lnTo>
                  <a:pt x="183204" y="55527"/>
                </a:lnTo>
                <a:lnTo>
                  <a:pt x="184381" y="59602"/>
                </a:lnTo>
                <a:lnTo>
                  <a:pt x="185287" y="64223"/>
                </a:lnTo>
                <a:lnTo>
                  <a:pt x="186102" y="69205"/>
                </a:lnTo>
                <a:lnTo>
                  <a:pt x="186554" y="74729"/>
                </a:lnTo>
                <a:lnTo>
                  <a:pt x="186646" y="80618"/>
                </a:lnTo>
                <a:lnTo>
                  <a:pt x="186554" y="87050"/>
                </a:lnTo>
                <a:lnTo>
                  <a:pt x="186102" y="94115"/>
                </a:lnTo>
                <a:lnTo>
                  <a:pt x="185287" y="101542"/>
                </a:lnTo>
                <a:lnTo>
                  <a:pt x="184019" y="109785"/>
                </a:lnTo>
                <a:lnTo>
                  <a:pt x="182660" y="115673"/>
                </a:lnTo>
                <a:lnTo>
                  <a:pt x="180849" y="121832"/>
                </a:lnTo>
                <a:lnTo>
                  <a:pt x="182298" y="121742"/>
                </a:lnTo>
                <a:lnTo>
                  <a:pt x="183747" y="121832"/>
                </a:lnTo>
                <a:lnTo>
                  <a:pt x="185106" y="122104"/>
                </a:lnTo>
                <a:lnTo>
                  <a:pt x="186554" y="122558"/>
                </a:lnTo>
                <a:lnTo>
                  <a:pt x="187731" y="123191"/>
                </a:lnTo>
                <a:lnTo>
                  <a:pt x="188909" y="124187"/>
                </a:lnTo>
                <a:lnTo>
                  <a:pt x="189906" y="125366"/>
                </a:lnTo>
                <a:lnTo>
                  <a:pt x="190811" y="126996"/>
                </a:lnTo>
                <a:lnTo>
                  <a:pt x="191535" y="128897"/>
                </a:lnTo>
                <a:lnTo>
                  <a:pt x="191988" y="131253"/>
                </a:lnTo>
                <a:lnTo>
                  <a:pt x="192260" y="134061"/>
                </a:lnTo>
                <a:lnTo>
                  <a:pt x="192170" y="137231"/>
                </a:lnTo>
                <a:lnTo>
                  <a:pt x="191898" y="140764"/>
                </a:lnTo>
                <a:lnTo>
                  <a:pt x="191263" y="144931"/>
                </a:lnTo>
                <a:lnTo>
                  <a:pt x="190358" y="149642"/>
                </a:lnTo>
                <a:lnTo>
                  <a:pt x="188909" y="154714"/>
                </a:lnTo>
                <a:lnTo>
                  <a:pt x="187008" y="160782"/>
                </a:lnTo>
                <a:lnTo>
                  <a:pt x="185287" y="165856"/>
                </a:lnTo>
                <a:lnTo>
                  <a:pt x="183657" y="170203"/>
                </a:lnTo>
                <a:lnTo>
                  <a:pt x="181936" y="173736"/>
                </a:lnTo>
                <a:lnTo>
                  <a:pt x="180216" y="176634"/>
                </a:lnTo>
                <a:lnTo>
                  <a:pt x="178676" y="178899"/>
                </a:lnTo>
                <a:lnTo>
                  <a:pt x="177046" y="180529"/>
                </a:lnTo>
                <a:lnTo>
                  <a:pt x="175597" y="181616"/>
                </a:lnTo>
                <a:lnTo>
                  <a:pt x="174329" y="182250"/>
                </a:lnTo>
                <a:lnTo>
                  <a:pt x="172880" y="182613"/>
                </a:lnTo>
                <a:lnTo>
                  <a:pt x="171793" y="188138"/>
                </a:lnTo>
                <a:lnTo>
                  <a:pt x="170254" y="193754"/>
                </a:lnTo>
                <a:lnTo>
                  <a:pt x="168171" y="199551"/>
                </a:lnTo>
                <a:lnTo>
                  <a:pt x="165635" y="205439"/>
                </a:lnTo>
                <a:lnTo>
                  <a:pt x="162646" y="211237"/>
                </a:lnTo>
                <a:lnTo>
                  <a:pt x="159114" y="216852"/>
                </a:lnTo>
                <a:lnTo>
                  <a:pt x="155311" y="222468"/>
                </a:lnTo>
                <a:lnTo>
                  <a:pt x="150965" y="227722"/>
                </a:lnTo>
                <a:lnTo>
                  <a:pt x="146256" y="232795"/>
                </a:lnTo>
                <a:lnTo>
                  <a:pt x="141093" y="237505"/>
                </a:lnTo>
                <a:lnTo>
                  <a:pt x="135479" y="241854"/>
                </a:lnTo>
                <a:lnTo>
                  <a:pt x="129592" y="245839"/>
                </a:lnTo>
                <a:lnTo>
                  <a:pt x="123254" y="249099"/>
                </a:lnTo>
                <a:lnTo>
                  <a:pt x="116732" y="251817"/>
                </a:lnTo>
                <a:lnTo>
                  <a:pt x="109850" y="253901"/>
                </a:lnTo>
                <a:lnTo>
                  <a:pt x="103058" y="255078"/>
                </a:lnTo>
                <a:lnTo>
                  <a:pt x="96084" y="255532"/>
                </a:lnTo>
                <a:lnTo>
                  <a:pt x="89112" y="255078"/>
                </a:lnTo>
                <a:lnTo>
                  <a:pt x="82320" y="253901"/>
                </a:lnTo>
                <a:lnTo>
                  <a:pt x="75527" y="251998"/>
                </a:lnTo>
                <a:lnTo>
                  <a:pt x="68826" y="249191"/>
                </a:lnTo>
                <a:lnTo>
                  <a:pt x="62396" y="245839"/>
                </a:lnTo>
                <a:lnTo>
                  <a:pt x="56420" y="242034"/>
                </a:lnTo>
                <a:lnTo>
                  <a:pt x="50985" y="237687"/>
                </a:lnTo>
                <a:lnTo>
                  <a:pt x="45824" y="232976"/>
                </a:lnTo>
                <a:lnTo>
                  <a:pt x="41115" y="227813"/>
                </a:lnTo>
                <a:lnTo>
                  <a:pt x="36768" y="222650"/>
                </a:lnTo>
                <a:lnTo>
                  <a:pt x="32964" y="216943"/>
                </a:lnTo>
                <a:lnTo>
                  <a:pt x="29522" y="211327"/>
                </a:lnTo>
                <a:lnTo>
                  <a:pt x="26534" y="205439"/>
                </a:lnTo>
                <a:lnTo>
                  <a:pt x="23998" y="199641"/>
                </a:lnTo>
                <a:lnTo>
                  <a:pt x="22097" y="193935"/>
                </a:lnTo>
                <a:lnTo>
                  <a:pt x="20466" y="188138"/>
                </a:lnTo>
                <a:lnTo>
                  <a:pt x="19470" y="182613"/>
                </a:lnTo>
                <a:lnTo>
                  <a:pt x="18113" y="182250"/>
                </a:lnTo>
                <a:lnTo>
                  <a:pt x="16664" y="181616"/>
                </a:lnTo>
                <a:lnTo>
                  <a:pt x="15215" y="180529"/>
                </a:lnTo>
                <a:lnTo>
                  <a:pt x="13674" y="178899"/>
                </a:lnTo>
                <a:lnTo>
                  <a:pt x="12135" y="176634"/>
                </a:lnTo>
                <a:lnTo>
                  <a:pt x="10414" y="173736"/>
                </a:lnTo>
                <a:lnTo>
                  <a:pt x="8694" y="170203"/>
                </a:lnTo>
                <a:lnTo>
                  <a:pt x="6974" y="165856"/>
                </a:lnTo>
                <a:lnTo>
                  <a:pt x="5163" y="160873"/>
                </a:lnTo>
                <a:lnTo>
                  <a:pt x="3350" y="154894"/>
                </a:lnTo>
                <a:lnTo>
                  <a:pt x="1993" y="149642"/>
                </a:lnTo>
                <a:lnTo>
                  <a:pt x="906" y="145021"/>
                </a:lnTo>
                <a:lnTo>
                  <a:pt x="453" y="140854"/>
                </a:lnTo>
                <a:lnTo>
                  <a:pt x="0" y="137231"/>
                </a:lnTo>
                <a:lnTo>
                  <a:pt x="0" y="134061"/>
                </a:lnTo>
                <a:lnTo>
                  <a:pt x="272" y="131434"/>
                </a:lnTo>
                <a:lnTo>
                  <a:pt x="815" y="129079"/>
                </a:lnTo>
                <a:lnTo>
                  <a:pt x="1449" y="127086"/>
                </a:lnTo>
                <a:lnTo>
                  <a:pt x="2264" y="125546"/>
                </a:lnTo>
                <a:lnTo>
                  <a:pt x="3350" y="124187"/>
                </a:lnTo>
                <a:lnTo>
                  <a:pt x="4528" y="123281"/>
                </a:lnTo>
                <a:lnTo>
                  <a:pt x="5796" y="122648"/>
                </a:lnTo>
                <a:lnTo>
                  <a:pt x="7154" y="122104"/>
                </a:lnTo>
                <a:lnTo>
                  <a:pt x="8513" y="121832"/>
                </a:lnTo>
                <a:lnTo>
                  <a:pt x="9962" y="121832"/>
                </a:lnTo>
                <a:lnTo>
                  <a:pt x="11411" y="121832"/>
                </a:lnTo>
                <a:lnTo>
                  <a:pt x="9508" y="115854"/>
                </a:lnTo>
                <a:lnTo>
                  <a:pt x="8151" y="109785"/>
                </a:lnTo>
                <a:lnTo>
                  <a:pt x="6974" y="103172"/>
                </a:lnTo>
                <a:lnTo>
                  <a:pt x="6158" y="96469"/>
                </a:lnTo>
                <a:lnTo>
                  <a:pt x="5886" y="89858"/>
                </a:lnTo>
                <a:lnTo>
                  <a:pt x="6068" y="83607"/>
                </a:lnTo>
                <a:lnTo>
                  <a:pt x="6702" y="77357"/>
                </a:lnTo>
                <a:lnTo>
                  <a:pt x="8059" y="71197"/>
                </a:lnTo>
                <a:lnTo>
                  <a:pt x="9962" y="64313"/>
                </a:lnTo>
                <a:lnTo>
                  <a:pt x="12407" y="57972"/>
                </a:lnTo>
                <a:lnTo>
                  <a:pt x="15395" y="51904"/>
                </a:lnTo>
                <a:lnTo>
                  <a:pt x="18837" y="46288"/>
                </a:lnTo>
                <a:lnTo>
                  <a:pt x="22459" y="41034"/>
                </a:lnTo>
                <a:lnTo>
                  <a:pt x="26444" y="36142"/>
                </a:lnTo>
                <a:lnTo>
                  <a:pt x="30610" y="31613"/>
                </a:lnTo>
                <a:lnTo>
                  <a:pt x="35500" y="26722"/>
                </a:lnTo>
                <a:lnTo>
                  <a:pt x="40571" y="22192"/>
                </a:lnTo>
                <a:lnTo>
                  <a:pt x="45914" y="18117"/>
                </a:lnTo>
                <a:lnTo>
                  <a:pt x="51439" y="14312"/>
                </a:lnTo>
                <a:lnTo>
                  <a:pt x="56238" y="11142"/>
                </a:lnTo>
                <a:lnTo>
                  <a:pt x="61219" y="8424"/>
                </a:lnTo>
                <a:lnTo>
                  <a:pt x="66472" y="5888"/>
                </a:lnTo>
                <a:lnTo>
                  <a:pt x="71815" y="3805"/>
                </a:lnTo>
                <a:lnTo>
                  <a:pt x="77701" y="2264"/>
                </a:lnTo>
                <a:lnTo>
                  <a:pt x="83859" y="906"/>
                </a:lnTo>
                <a:lnTo>
                  <a:pt x="90289" y="453"/>
                </a:lnTo>
                <a:lnTo>
                  <a:pt x="96900" y="0"/>
                </a:lnTo>
                <a:close/>
              </a:path>
            </a:pathLst>
          </a:custGeom>
          <a:solidFill>
            <a:srgbClr val="FDFD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6921500" y="5626100"/>
            <a:ext cx="363610" cy="185743"/>
          </a:xfrm>
          <a:custGeom>
            <a:avLst/>
            <a:gdLst/>
            <a:ahLst/>
            <a:cxnLst/>
            <a:rect l="l" t="t" r="r" b="b"/>
            <a:pathLst>
              <a:path w="363610" h="185743">
                <a:moveTo>
                  <a:pt x="117130" y="0"/>
                </a:moveTo>
                <a:lnTo>
                  <a:pt x="146096" y="91286"/>
                </a:lnTo>
                <a:lnTo>
                  <a:pt x="151618" y="108584"/>
                </a:lnTo>
                <a:lnTo>
                  <a:pt x="151798" y="108312"/>
                </a:lnTo>
                <a:lnTo>
                  <a:pt x="156506" y="122893"/>
                </a:lnTo>
                <a:lnTo>
                  <a:pt x="171713" y="79604"/>
                </a:lnTo>
                <a:lnTo>
                  <a:pt x="168001" y="74261"/>
                </a:lnTo>
                <a:lnTo>
                  <a:pt x="164923" y="69280"/>
                </a:lnTo>
                <a:lnTo>
                  <a:pt x="162389" y="64571"/>
                </a:lnTo>
                <a:lnTo>
                  <a:pt x="160307" y="60405"/>
                </a:lnTo>
                <a:lnTo>
                  <a:pt x="158859" y="56420"/>
                </a:lnTo>
                <a:lnTo>
                  <a:pt x="157772" y="52798"/>
                </a:lnTo>
                <a:lnTo>
                  <a:pt x="157138" y="49538"/>
                </a:lnTo>
                <a:lnTo>
                  <a:pt x="156868" y="46639"/>
                </a:lnTo>
                <a:lnTo>
                  <a:pt x="157048" y="43923"/>
                </a:lnTo>
                <a:lnTo>
                  <a:pt x="157410" y="41568"/>
                </a:lnTo>
                <a:lnTo>
                  <a:pt x="158225" y="39304"/>
                </a:lnTo>
                <a:lnTo>
                  <a:pt x="159130" y="37311"/>
                </a:lnTo>
                <a:lnTo>
                  <a:pt x="160397" y="35772"/>
                </a:lnTo>
                <a:lnTo>
                  <a:pt x="161755" y="34233"/>
                </a:lnTo>
                <a:lnTo>
                  <a:pt x="163294" y="33056"/>
                </a:lnTo>
                <a:lnTo>
                  <a:pt x="165014" y="31878"/>
                </a:lnTo>
                <a:lnTo>
                  <a:pt x="166733" y="30881"/>
                </a:lnTo>
                <a:lnTo>
                  <a:pt x="168544" y="30248"/>
                </a:lnTo>
                <a:lnTo>
                  <a:pt x="170354" y="29614"/>
                </a:lnTo>
                <a:lnTo>
                  <a:pt x="172075" y="29070"/>
                </a:lnTo>
                <a:lnTo>
                  <a:pt x="173975" y="28708"/>
                </a:lnTo>
                <a:lnTo>
                  <a:pt x="175514" y="28437"/>
                </a:lnTo>
                <a:lnTo>
                  <a:pt x="177053" y="28255"/>
                </a:lnTo>
                <a:lnTo>
                  <a:pt x="178501" y="28165"/>
                </a:lnTo>
                <a:lnTo>
                  <a:pt x="179678" y="28075"/>
                </a:lnTo>
                <a:lnTo>
                  <a:pt x="180583" y="28075"/>
                </a:lnTo>
                <a:lnTo>
                  <a:pt x="181398" y="28075"/>
                </a:lnTo>
                <a:lnTo>
                  <a:pt x="181670" y="28075"/>
                </a:lnTo>
                <a:lnTo>
                  <a:pt x="182212" y="28075"/>
                </a:lnTo>
                <a:lnTo>
                  <a:pt x="183027" y="28075"/>
                </a:lnTo>
                <a:lnTo>
                  <a:pt x="183932" y="28075"/>
                </a:lnTo>
                <a:lnTo>
                  <a:pt x="185109" y="28165"/>
                </a:lnTo>
                <a:lnTo>
                  <a:pt x="186557" y="28255"/>
                </a:lnTo>
                <a:lnTo>
                  <a:pt x="188096" y="28437"/>
                </a:lnTo>
                <a:lnTo>
                  <a:pt x="189635" y="28708"/>
                </a:lnTo>
                <a:lnTo>
                  <a:pt x="191535" y="29070"/>
                </a:lnTo>
                <a:lnTo>
                  <a:pt x="193256" y="29614"/>
                </a:lnTo>
                <a:lnTo>
                  <a:pt x="195066" y="30248"/>
                </a:lnTo>
                <a:lnTo>
                  <a:pt x="196877" y="30881"/>
                </a:lnTo>
                <a:lnTo>
                  <a:pt x="198596" y="31878"/>
                </a:lnTo>
                <a:lnTo>
                  <a:pt x="200316" y="33056"/>
                </a:lnTo>
                <a:lnTo>
                  <a:pt x="201855" y="34233"/>
                </a:lnTo>
                <a:lnTo>
                  <a:pt x="203213" y="35772"/>
                </a:lnTo>
                <a:lnTo>
                  <a:pt x="204480" y="37311"/>
                </a:lnTo>
                <a:lnTo>
                  <a:pt x="205384" y="39304"/>
                </a:lnTo>
                <a:lnTo>
                  <a:pt x="206200" y="41568"/>
                </a:lnTo>
                <a:lnTo>
                  <a:pt x="206562" y="43923"/>
                </a:lnTo>
                <a:lnTo>
                  <a:pt x="206742" y="46639"/>
                </a:lnTo>
                <a:lnTo>
                  <a:pt x="206472" y="49538"/>
                </a:lnTo>
                <a:lnTo>
                  <a:pt x="205838" y="52798"/>
                </a:lnTo>
                <a:lnTo>
                  <a:pt x="204751" y="56420"/>
                </a:lnTo>
                <a:lnTo>
                  <a:pt x="203303" y="60405"/>
                </a:lnTo>
                <a:lnTo>
                  <a:pt x="201221" y="64571"/>
                </a:lnTo>
                <a:lnTo>
                  <a:pt x="198686" y="69280"/>
                </a:lnTo>
                <a:lnTo>
                  <a:pt x="195609" y="74261"/>
                </a:lnTo>
                <a:lnTo>
                  <a:pt x="191898" y="79604"/>
                </a:lnTo>
                <a:lnTo>
                  <a:pt x="207105" y="122893"/>
                </a:lnTo>
                <a:lnTo>
                  <a:pt x="211812" y="108312"/>
                </a:lnTo>
                <a:lnTo>
                  <a:pt x="211992" y="108584"/>
                </a:lnTo>
                <a:lnTo>
                  <a:pt x="217334" y="91286"/>
                </a:lnTo>
                <a:lnTo>
                  <a:pt x="246299" y="0"/>
                </a:lnTo>
                <a:lnTo>
                  <a:pt x="246570" y="90"/>
                </a:lnTo>
                <a:lnTo>
                  <a:pt x="247566" y="815"/>
                </a:lnTo>
                <a:lnTo>
                  <a:pt x="248924" y="1721"/>
                </a:lnTo>
                <a:lnTo>
                  <a:pt x="250915" y="2988"/>
                </a:lnTo>
                <a:lnTo>
                  <a:pt x="253540" y="4619"/>
                </a:lnTo>
                <a:lnTo>
                  <a:pt x="256617" y="6520"/>
                </a:lnTo>
                <a:lnTo>
                  <a:pt x="259968" y="8513"/>
                </a:lnTo>
                <a:lnTo>
                  <a:pt x="263950" y="10777"/>
                </a:lnTo>
                <a:lnTo>
                  <a:pt x="268204" y="13222"/>
                </a:lnTo>
                <a:lnTo>
                  <a:pt x="273002" y="15758"/>
                </a:lnTo>
                <a:lnTo>
                  <a:pt x="278070" y="18385"/>
                </a:lnTo>
                <a:lnTo>
                  <a:pt x="283502" y="20919"/>
                </a:lnTo>
                <a:lnTo>
                  <a:pt x="289204" y="23546"/>
                </a:lnTo>
                <a:lnTo>
                  <a:pt x="295269" y="26172"/>
                </a:lnTo>
                <a:lnTo>
                  <a:pt x="301605" y="28708"/>
                </a:lnTo>
                <a:lnTo>
                  <a:pt x="308122" y="31153"/>
                </a:lnTo>
                <a:lnTo>
                  <a:pt x="314912" y="33508"/>
                </a:lnTo>
                <a:lnTo>
                  <a:pt x="321882" y="35590"/>
                </a:lnTo>
                <a:lnTo>
                  <a:pt x="328941" y="37583"/>
                </a:lnTo>
                <a:lnTo>
                  <a:pt x="334101" y="39214"/>
                </a:lnTo>
                <a:lnTo>
                  <a:pt x="338718" y="41297"/>
                </a:lnTo>
                <a:lnTo>
                  <a:pt x="342791" y="43741"/>
                </a:lnTo>
                <a:lnTo>
                  <a:pt x="346412" y="46639"/>
                </a:lnTo>
                <a:lnTo>
                  <a:pt x="349580" y="49900"/>
                </a:lnTo>
                <a:lnTo>
                  <a:pt x="352476" y="53341"/>
                </a:lnTo>
                <a:lnTo>
                  <a:pt x="354830" y="57145"/>
                </a:lnTo>
                <a:lnTo>
                  <a:pt x="356912" y="61039"/>
                </a:lnTo>
                <a:lnTo>
                  <a:pt x="358631" y="65114"/>
                </a:lnTo>
                <a:lnTo>
                  <a:pt x="360079" y="69280"/>
                </a:lnTo>
                <a:lnTo>
                  <a:pt x="361257" y="73627"/>
                </a:lnTo>
                <a:lnTo>
                  <a:pt x="362071" y="77793"/>
                </a:lnTo>
                <a:lnTo>
                  <a:pt x="362704" y="82140"/>
                </a:lnTo>
                <a:lnTo>
                  <a:pt x="363248" y="86305"/>
                </a:lnTo>
                <a:lnTo>
                  <a:pt x="363520" y="90381"/>
                </a:lnTo>
                <a:lnTo>
                  <a:pt x="363610" y="94275"/>
                </a:lnTo>
                <a:lnTo>
                  <a:pt x="363610" y="98078"/>
                </a:lnTo>
                <a:lnTo>
                  <a:pt x="363520" y="101520"/>
                </a:lnTo>
                <a:lnTo>
                  <a:pt x="363338" y="104780"/>
                </a:lnTo>
                <a:lnTo>
                  <a:pt x="363338" y="105142"/>
                </a:lnTo>
                <a:lnTo>
                  <a:pt x="363248" y="106501"/>
                </a:lnTo>
                <a:lnTo>
                  <a:pt x="363066" y="108492"/>
                </a:lnTo>
                <a:lnTo>
                  <a:pt x="362796" y="111119"/>
                </a:lnTo>
                <a:lnTo>
                  <a:pt x="362524" y="114108"/>
                </a:lnTo>
                <a:lnTo>
                  <a:pt x="362342" y="117640"/>
                </a:lnTo>
                <a:lnTo>
                  <a:pt x="361890" y="121262"/>
                </a:lnTo>
                <a:lnTo>
                  <a:pt x="361528" y="125066"/>
                </a:lnTo>
                <a:lnTo>
                  <a:pt x="361075" y="129050"/>
                </a:lnTo>
                <a:lnTo>
                  <a:pt x="360713" y="132853"/>
                </a:lnTo>
                <a:lnTo>
                  <a:pt x="360351" y="136477"/>
                </a:lnTo>
                <a:lnTo>
                  <a:pt x="359809" y="139737"/>
                </a:lnTo>
                <a:lnTo>
                  <a:pt x="359446" y="142635"/>
                </a:lnTo>
                <a:lnTo>
                  <a:pt x="359175" y="142907"/>
                </a:lnTo>
                <a:lnTo>
                  <a:pt x="358270" y="143450"/>
                </a:lnTo>
                <a:lnTo>
                  <a:pt x="356822" y="144174"/>
                </a:lnTo>
                <a:lnTo>
                  <a:pt x="354830" y="145442"/>
                </a:lnTo>
                <a:lnTo>
                  <a:pt x="352205" y="146801"/>
                </a:lnTo>
                <a:lnTo>
                  <a:pt x="349037" y="148521"/>
                </a:lnTo>
                <a:lnTo>
                  <a:pt x="345416" y="150332"/>
                </a:lnTo>
                <a:lnTo>
                  <a:pt x="341161" y="152505"/>
                </a:lnTo>
                <a:lnTo>
                  <a:pt x="336455" y="154588"/>
                </a:lnTo>
                <a:lnTo>
                  <a:pt x="331205" y="156943"/>
                </a:lnTo>
                <a:lnTo>
                  <a:pt x="325412" y="159297"/>
                </a:lnTo>
                <a:lnTo>
                  <a:pt x="319166" y="161743"/>
                </a:lnTo>
                <a:lnTo>
                  <a:pt x="312287" y="164278"/>
                </a:lnTo>
                <a:lnTo>
                  <a:pt x="304955" y="166724"/>
                </a:lnTo>
                <a:lnTo>
                  <a:pt x="297260" y="169259"/>
                </a:lnTo>
                <a:lnTo>
                  <a:pt x="288933" y="171614"/>
                </a:lnTo>
                <a:lnTo>
                  <a:pt x="280333" y="173788"/>
                </a:lnTo>
                <a:lnTo>
                  <a:pt x="271101" y="176052"/>
                </a:lnTo>
                <a:lnTo>
                  <a:pt x="261416" y="178135"/>
                </a:lnTo>
                <a:lnTo>
                  <a:pt x="251369" y="179946"/>
                </a:lnTo>
                <a:lnTo>
                  <a:pt x="240868" y="181667"/>
                </a:lnTo>
                <a:lnTo>
                  <a:pt x="229824" y="183116"/>
                </a:lnTo>
                <a:lnTo>
                  <a:pt x="218510" y="184202"/>
                </a:lnTo>
                <a:lnTo>
                  <a:pt x="206562" y="185108"/>
                </a:lnTo>
                <a:lnTo>
                  <a:pt x="194432" y="185651"/>
                </a:lnTo>
                <a:lnTo>
                  <a:pt x="181670" y="185743"/>
                </a:lnTo>
                <a:lnTo>
                  <a:pt x="169178" y="185651"/>
                </a:lnTo>
                <a:lnTo>
                  <a:pt x="156868" y="185108"/>
                </a:lnTo>
                <a:lnTo>
                  <a:pt x="145100" y="184202"/>
                </a:lnTo>
                <a:lnTo>
                  <a:pt x="133786" y="183025"/>
                </a:lnTo>
                <a:lnTo>
                  <a:pt x="122742" y="181576"/>
                </a:lnTo>
                <a:lnTo>
                  <a:pt x="112243" y="179946"/>
                </a:lnTo>
                <a:lnTo>
                  <a:pt x="102194" y="178044"/>
                </a:lnTo>
                <a:lnTo>
                  <a:pt x="92509" y="176052"/>
                </a:lnTo>
                <a:lnTo>
                  <a:pt x="83276" y="173788"/>
                </a:lnTo>
                <a:lnTo>
                  <a:pt x="74677" y="171614"/>
                </a:lnTo>
                <a:lnTo>
                  <a:pt x="66350" y="169079"/>
                </a:lnTo>
                <a:lnTo>
                  <a:pt x="58655" y="166724"/>
                </a:lnTo>
                <a:lnTo>
                  <a:pt x="51323" y="164278"/>
                </a:lnTo>
                <a:lnTo>
                  <a:pt x="44444" y="161743"/>
                </a:lnTo>
                <a:lnTo>
                  <a:pt x="38199" y="159297"/>
                </a:lnTo>
                <a:lnTo>
                  <a:pt x="32405" y="156943"/>
                </a:lnTo>
                <a:lnTo>
                  <a:pt x="27155" y="154588"/>
                </a:lnTo>
                <a:lnTo>
                  <a:pt x="22449" y="152325"/>
                </a:lnTo>
                <a:lnTo>
                  <a:pt x="18194" y="150332"/>
                </a:lnTo>
                <a:lnTo>
                  <a:pt x="14573" y="148521"/>
                </a:lnTo>
                <a:lnTo>
                  <a:pt x="11406" y="146801"/>
                </a:lnTo>
                <a:lnTo>
                  <a:pt x="8781" y="145442"/>
                </a:lnTo>
                <a:lnTo>
                  <a:pt x="6789" y="144174"/>
                </a:lnTo>
                <a:lnTo>
                  <a:pt x="5340" y="143450"/>
                </a:lnTo>
                <a:lnTo>
                  <a:pt x="4435" y="142907"/>
                </a:lnTo>
                <a:lnTo>
                  <a:pt x="4164" y="142635"/>
                </a:lnTo>
                <a:lnTo>
                  <a:pt x="3802" y="139737"/>
                </a:lnTo>
                <a:lnTo>
                  <a:pt x="3259" y="136477"/>
                </a:lnTo>
                <a:lnTo>
                  <a:pt x="2897" y="132853"/>
                </a:lnTo>
                <a:lnTo>
                  <a:pt x="2535" y="129050"/>
                </a:lnTo>
                <a:lnTo>
                  <a:pt x="2082" y="125066"/>
                </a:lnTo>
                <a:lnTo>
                  <a:pt x="1720" y="121262"/>
                </a:lnTo>
                <a:lnTo>
                  <a:pt x="1267" y="117640"/>
                </a:lnTo>
                <a:lnTo>
                  <a:pt x="1086" y="114108"/>
                </a:lnTo>
                <a:lnTo>
                  <a:pt x="814" y="111119"/>
                </a:lnTo>
                <a:lnTo>
                  <a:pt x="544" y="108492"/>
                </a:lnTo>
                <a:lnTo>
                  <a:pt x="362" y="106501"/>
                </a:lnTo>
                <a:lnTo>
                  <a:pt x="272" y="105142"/>
                </a:lnTo>
                <a:lnTo>
                  <a:pt x="272" y="104780"/>
                </a:lnTo>
                <a:lnTo>
                  <a:pt x="90" y="101520"/>
                </a:lnTo>
                <a:lnTo>
                  <a:pt x="0" y="98078"/>
                </a:lnTo>
                <a:lnTo>
                  <a:pt x="0" y="94275"/>
                </a:lnTo>
                <a:lnTo>
                  <a:pt x="90" y="90381"/>
                </a:lnTo>
                <a:lnTo>
                  <a:pt x="362" y="86305"/>
                </a:lnTo>
                <a:lnTo>
                  <a:pt x="814" y="82140"/>
                </a:lnTo>
                <a:lnTo>
                  <a:pt x="1448" y="77793"/>
                </a:lnTo>
                <a:lnTo>
                  <a:pt x="2353" y="73627"/>
                </a:lnTo>
                <a:lnTo>
                  <a:pt x="3439" y="69280"/>
                </a:lnTo>
                <a:lnTo>
                  <a:pt x="4888" y="65114"/>
                </a:lnTo>
                <a:lnTo>
                  <a:pt x="6518" y="61039"/>
                </a:lnTo>
                <a:lnTo>
                  <a:pt x="8689" y="57145"/>
                </a:lnTo>
                <a:lnTo>
                  <a:pt x="11134" y="53341"/>
                </a:lnTo>
                <a:lnTo>
                  <a:pt x="13940" y="49900"/>
                </a:lnTo>
                <a:lnTo>
                  <a:pt x="17017" y="46639"/>
                </a:lnTo>
                <a:lnTo>
                  <a:pt x="20729" y="43741"/>
                </a:lnTo>
                <a:lnTo>
                  <a:pt x="24802" y="41297"/>
                </a:lnTo>
                <a:lnTo>
                  <a:pt x="29418" y="39214"/>
                </a:lnTo>
                <a:lnTo>
                  <a:pt x="34487" y="37583"/>
                </a:lnTo>
                <a:lnTo>
                  <a:pt x="41728" y="35590"/>
                </a:lnTo>
                <a:lnTo>
                  <a:pt x="48698" y="33508"/>
                </a:lnTo>
                <a:lnTo>
                  <a:pt x="55397" y="31153"/>
                </a:lnTo>
                <a:lnTo>
                  <a:pt x="61914" y="28708"/>
                </a:lnTo>
                <a:lnTo>
                  <a:pt x="68250" y="26172"/>
                </a:lnTo>
                <a:lnTo>
                  <a:pt x="74225" y="23546"/>
                </a:lnTo>
                <a:lnTo>
                  <a:pt x="80018" y="20919"/>
                </a:lnTo>
                <a:lnTo>
                  <a:pt x="85540" y="18385"/>
                </a:lnTo>
                <a:lnTo>
                  <a:pt x="90518" y="15758"/>
                </a:lnTo>
                <a:lnTo>
                  <a:pt x="95225" y="13222"/>
                </a:lnTo>
                <a:lnTo>
                  <a:pt x="99569" y="10777"/>
                </a:lnTo>
                <a:lnTo>
                  <a:pt x="103462" y="8513"/>
                </a:lnTo>
                <a:lnTo>
                  <a:pt x="106992" y="6520"/>
                </a:lnTo>
                <a:lnTo>
                  <a:pt x="110070" y="4619"/>
                </a:lnTo>
                <a:lnTo>
                  <a:pt x="112513" y="2988"/>
                </a:lnTo>
                <a:lnTo>
                  <a:pt x="114504" y="1721"/>
                </a:lnTo>
                <a:lnTo>
                  <a:pt x="115954" y="815"/>
                </a:lnTo>
                <a:lnTo>
                  <a:pt x="116859" y="90"/>
                </a:lnTo>
                <a:lnTo>
                  <a:pt x="117130" y="0"/>
                </a:lnTo>
                <a:close/>
              </a:path>
            </a:pathLst>
          </a:custGeom>
          <a:solidFill>
            <a:srgbClr val="FDFD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18500" y="330200"/>
            <a:ext cx="3568700" cy="6197600"/>
          </a:xfrm>
          <a:prstGeom prst="roundRect">
            <a:avLst>
              <a:gd name="adj" fmla="val 0"/>
            </a:avLst>
          </a:prstGeom>
          <a:solidFill>
            <a:srgbClr val="061A2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54600" y="2705100"/>
            <a:ext cx="3111500" cy="25908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27CDD6">
                  <a:alpha val="80000"/>
                </a:srgbClr>
              </a:gs>
              <a:gs pos="100000">
                <a:srgbClr val="2080C3">
                  <a:alpha val="8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943100" y="330200"/>
            <a:ext cx="3111500" cy="23749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E5672">
                  <a:alpha val="100000"/>
                </a:srgbClr>
              </a:gs>
              <a:gs pos="100000">
                <a:srgbClr val="1BACE3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054600" y="330200"/>
            <a:ext cx="3111500" cy="2374900"/>
          </a:xfrm>
          <a:prstGeom prst="roundRect">
            <a:avLst>
              <a:gd name="adj" fmla="val 0"/>
            </a:avLst>
          </a:prstGeom>
          <a:solidFill>
            <a:srgbClr val="061A2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algn="ctr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943100" y="2705100"/>
            <a:ext cx="3124200" cy="2590800"/>
          </a:xfrm>
          <a:prstGeom prst="roundRect">
            <a:avLst>
              <a:gd name="adj" fmla="val 0"/>
            </a:avLst>
          </a:prstGeom>
          <a:solidFill>
            <a:srgbClr val="061A2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06400" algn="ctr" rotWithShape="0">
              <a:srgbClr val="000000">
                <a:alpha val="5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2095500" y="635000"/>
            <a:ext cx="2794000" cy="181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未来发展：打造医学AI基础设施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CFCFC">
                    <a:alpha val="80000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立足院校教育根基，赋能全生命周期成长，构建智慧医疗新生态。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2146300" y="5715000"/>
            <a:ext cx="1524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7CDD6"/>
                </a:solidFill>
                <a:latin typeface="微软雅黑"/>
                <a:ea typeface="微软雅黑"/>
                <a:cs typeface="微软雅黑"/>
                <a:sym typeface="微软雅黑"/>
              </a:rPr>
              <a:t>01 破局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286000" y="6007100"/>
            <a:ext cx="1295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CFCFC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核心闭环打磨与标杆试点建设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292600" y="5740400"/>
            <a:ext cx="1524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7CDD6"/>
                </a:solidFill>
                <a:latin typeface="微软雅黑"/>
                <a:ea typeface="微软雅黑"/>
                <a:cs typeface="微软雅黑"/>
                <a:sym typeface="微软雅黑"/>
              </a:rPr>
              <a:t>02 扩张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19600" y="6032500"/>
            <a:ext cx="1295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CFCFC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全学科覆盖与全周期教育打通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11900" y="5740400"/>
            <a:ext cx="1524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7CDD6"/>
                </a:solidFill>
                <a:latin typeface="微软雅黑"/>
                <a:ea typeface="微软雅黑"/>
                <a:cs typeface="微软雅黑"/>
                <a:sym typeface="微软雅黑"/>
              </a:rPr>
              <a:t>03 升维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38900" y="6032500"/>
            <a:ext cx="1295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CFCFC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数据沉淀赋能基层医疗CDSS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222500" y="4191000"/>
            <a:ext cx="241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50800" rIns="254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夯实核心：院校标杆打造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FFFFFF">
                    <a:alpha val="7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打磨“内科学”核心闭环，落地1-2所头部医学院校，树立省级“虚仿一流课程”行业标杆，验证AI带教模式。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2222500" y="3175000"/>
            <a:ext cx="8128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27CDD6"/>
                </a:solidFill>
                <a:latin typeface="微软雅黑"/>
                <a:ea typeface="微软雅黑"/>
                <a:cs typeface="微软雅黑"/>
                <a:sym typeface="微软雅黑"/>
              </a:rPr>
              <a:t>PHASE 01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222500" y="3670300"/>
            <a:ext cx="1143000" cy="279400"/>
          </a:xfrm>
          <a:prstGeom prst="roundRect">
            <a:avLst>
              <a:gd name="adj" fmla="val 0"/>
            </a:avLst>
          </a:prstGeom>
          <a:gradFill rotWithShape="0">
            <a:gsLst>
              <a:gs pos="1000">
                <a:srgbClr val="2080C3">
                  <a:alpha val="100000"/>
                </a:srgbClr>
              </a:gs>
              <a:gs pos="100000">
                <a:srgbClr val="27CDD6">
                  <a:alpha val="100000"/>
                </a:srgbClr>
              </a:gs>
            </a:gsLst>
            <a:lin ang="2046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730500" y="3746500"/>
            <a:ext cx="139700" cy="139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270500" y="3302000"/>
            <a:ext cx="2667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0" rIns="6350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全维拓展与数据价值深挖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FCFCFC">
                    <a:alpha val="80000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横向覆盖外、妇、儿全临床学科，纵向贯通“院校-规培-继续教育”全链路；沉淀百万级临床思维数据，探索向基层医疗机构输出CDSS辅助决策能力，实现技术普惠。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509000" y="762000"/>
            <a:ext cx="3175000" cy="508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7CDD6"/>
                </a:solidFill>
                <a:latin typeface="微软雅黑"/>
                <a:ea typeface="微软雅黑"/>
                <a:cs typeface="微软雅黑"/>
                <a:sym typeface="微软雅黑"/>
              </a:rPr>
              <a:t>▍社会价值：响应健康中国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弥合城乡医学教育资源鸿沟，打破地域限制，让偏远地区的医学生也能享受到顶尖水平的AI标准化带教。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以技术为桥梁，构建公平、高效的医学人才培养体系，为国家输送更多卓越的创新医学人才，助力分级诊疗与基层医疗能力提升。</a:t>
            </a:r>
          </a:p>
        </p:txBody>
      </p:sp>
      <p:sp>
        <p:nvSpPr>
          <p:cNvPr id="20" name="AutoShape 20"/>
          <p:cNvSpPr/>
          <p:nvPr/>
        </p:nvSpPr>
        <p:spPr>
          <a:xfrm rot="5400000">
            <a:off x="-2832100" y="3048000"/>
            <a:ext cx="67691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8000" b="1" i="0" u="none" strike="noStrike">
                <a:solidFill>
                  <a:srgbClr val="FCFCFC">
                    <a:alpha val="1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FUTURE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97300" y="-25400"/>
            <a:ext cx="3048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5400" y="-241300"/>
            <a:ext cx="12192000" cy="812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-6359999">
            <a:off x="5308600" y="3263900"/>
            <a:ext cx="4254500" cy="3314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235700" y="33909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智愈寻真，探寻医学教育的数智未来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24600" y="4191000"/>
            <a:ext cx="5080000" cy="381000"/>
          </a:xfrm>
          <a:prstGeom prst="rect">
            <a:avLst/>
          </a:prstGeom>
          <a:solidFill>
            <a:srgbClr val="020202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以数智技术赋能医学传承，构建全维育人新生态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121400" y="2514600"/>
            <a:ext cx="53467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000" b="1" i="0" u="none" strike="noStrike" spc="30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THANK YOU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75400" y="5207000"/>
            <a:ext cx="3314700" cy="419100"/>
          </a:xfrm>
          <a:prstGeom prst="roundRect">
            <a:avLst>
              <a:gd name="adj" fmla="val 51515"/>
            </a:avLst>
          </a:prstGeom>
          <a:noFill/>
          <a:ln w="12700" cap="flat" cmpd="sng">
            <a:solidFill>
              <a:srgbClr val="FCFCFC">
                <a:alpha val="34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 rot="-2700000">
            <a:off x="9323403" y="5259403"/>
            <a:ext cx="249521" cy="328303"/>
          </a:xfrm>
          <a:custGeom>
            <a:avLst/>
            <a:gdLst/>
            <a:ahLst/>
            <a:cxnLst/>
            <a:rect l="l" t="t" r="r" b="b"/>
            <a:pathLst>
              <a:path w="249521" h="328303">
                <a:moveTo>
                  <a:pt x="188784" y="60735"/>
                </a:moveTo>
                <a:cubicBezTo>
                  <a:pt x="153425" y="25376"/>
                  <a:pt x="96096" y="25376"/>
                  <a:pt x="60735" y="60735"/>
                </a:cubicBezTo>
                <a:cubicBezTo>
                  <a:pt x="25376" y="96096"/>
                  <a:pt x="25376" y="153425"/>
                  <a:pt x="60735" y="188784"/>
                </a:cubicBezTo>
                <a:cubicBezTo>
                  <a:pt x="96096" y="224143"/>
                  <a:pt x="153425" y="224143"/>
                  <a:pt x="188784" y="188784"/>
                </a:cubicBezTo>
                <a:cubicBezTo>
                  <a:pt x="224143" y="153425"/>
                  <a:pt x="224143" y="96096"/>
                  <a:pt x="188784" y="60735"/>
                </a:cubicBezTo>
                <a:close/>
                <a:moveTo>
                  <a:pt x="205131" y="44388"/>
                </a:moveTo>
                <a:cubicBezTo>
                  <a:pt x="249520" y="88777"/>
                  <a:pt x="249520" y="160744"/>
                  <a:pt x="205131" y="205131"/>
                </a:cubicBezTo>
                <a:cubicBezTo>
                  <a:pt x="188487" y="221777"/>
                  <a:pt x="167962" y="232181"/>
                  <a:pt x="146469" y="236342"/>
                </a:cubicBezTo>
                <a:lnTo>
                  <a:pt x="137091" y="237241"/>
                </a:lnTo>
                <a:lnTo>
                  <a:pt x="137091" y="315971"/>
                </a:lnTo>
                <a:cubicBezTo>
                  <a:pt x="137091" y="322782"/>
                  <a:pt x="131570" y="328302"/>
                  <a:pt x="124759" y="328302"/>
                </a:cubicBezTo>
                <a:lnTo>
                  <a:pt x="124761" y="328301"/>
                </a:lnTo>
                <a:cubicBezTo>
                  <a:pt x="117950" y="328301"/>
                  <a:pt x="112429" y="322780"/>
                  <a:pt x="112429" y="315971"/>
                </a:cubicBezTo>
                <a:lnTo>
                  <a:pt x="112429" y="237241"/>
                </a:lnTo>
                <a:lnTo>
                  <a:pt x="103051" y="236342"/>
                </a:lnTo>
                <a:cubicBezTo>
                  <a:pt x="81558" y="232181"/>
                  <a:pt x="61033" y="221777"/>
                  <a:pt x="44388" y="205131"/>
                </a:cubicBezTo>
                <a:cubicBezTo>
                  <a:pt x="0" y="160744"/>
                  <a:pt x="0" y="88777"/>
                  <a:pt x="44388" y="44388"/>
                </a:cubicBezTo>
                <a:cubicBezTo>
                  <a:pt x="88777" y="0"/>
                  <a:pt x="160744" y="0"/>
                  <a:pt x="205131" y="44388"/>
                </a:cubicBezTo>
                <a:close/>
              </a:path>
            </a:pathLst>
          </a:custGeom>
          <a:solidFill>
            <a:srgbClr val="FDFD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0" name="Connector 10"/>
          <p:cNvCxnSpPr/>
          <p:nvPr/>
        </p:nvCxnSpPr>
        <p:spPr>
          <a:xfrm rot="5191763">
            <a:off x="8991507" y="5410296"/>
            <a:ext cx="4192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CFCFC">
                <a:alpha val="34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743700" y="52705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200" dirty="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恳</a:t>
            </a:r>
            <a:r>
              <a:rPr lang="en-US" sz="1200" b="0" i="0" u="none" strike="noStrike" dirty="0" err="1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请评委</a:t>
            </a:r>
            <a:r>
              <a:rPr lang="zh-CN" altLang="en-US" sz="1200" b="0" i="0" u="none" strike="noStrike" dirty="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们</a:t>
            </a:r>
            <a:r>
              <a:rPr lang="en-US" sz="1200" b="0" i="0" u="none" strike="noStrike" dirty="0" err="1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批评指正</a:t>
            </a:r>
            <a:r>
              <a:rPr lang="en-US" sz="1200" dirty="0">
                <a:solidFill>
                  <a:srgbClr val="FCFCFC"/>
                </a:solidFill>
                <a:latin typeface="微软雅黑"/>
                <a:ea typeface="微软雅黑"/>
                <a:cs typeface="微软雅黑"/>
                <a:sym typeface="微软雅黑"/>
              </a:rPr>
              <a:t>!!</a:t>
            </a:r>
            <a:endParaRPr lang="en-US" sz="1100" dirty="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-1257300" y="0"/>
            <a:ext cx="6832600" cy="7213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5040000">
            <a:off x="546100" y="-1587500"/>
            <a:ext cx="4165600" cy="1029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1238</Words>
  <Application>Microsoft Office PowerPoint</Application>
  <PresentationFormat>宽屏</PresentationFormat>
  <Paragraphs>212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Noto Sans SC</vt:lpstr>
      <vt:lpstr>Songti SC</vt:lpstr>
      <vt:lpstr>等线</vt:lpstr>
      <vt:lpstr>华文仿宋</vt:lpstr>
      <vt:lpstr>微软雅黑</vt:lpstr>
      <vt:lpstr>Arial</vt:lpstr>
      <vt:lpstr>Calibri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qianlangzi</dc:creator>
  <cp:lastModifiedBy>qianlangzi</cp:lastModifiedBy>
  <cp:revision>3</cp:revision>
  <dcterms:modified xsi:type="dcterms:W3CDTF">2026-09-03T03:25:36Z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{"Label":"1","ContentProducer":"001191110102MACQD9K64010000","ProduceID":"7657179881894726835","ReservedCode1":"","ContentPropagator":"","PropagateID":"","ReservedCode2":""}</vt:lpwstr>
  </property>
</Properties>
</file>